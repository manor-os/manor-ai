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769a98d871440a" /><Relationship Type="http://schemas.openxmlformats.org/officeDocument/2006/relationships/extended-properties" Target="/docProps/app.xml" Id="R6e59c18bd2bb49aa" /><Relationship Type="http://schemas.openxmlformats.org/officeDocument/2006/relationships/officeDocument" Target="/ppt/presentation.xml" Id="Rbf4f9b9a07f849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7417cfda284fb3"/>
  </p:sldMasterIdLst>
  <p:notesMasterIdLst>
    <p:notesMasterId xmlns:r="http://schemas.openxmlformats.org/officeDocument/2006/relationships" r:id="Radb903a2f9974091"/>
  </p:notesMasterIdLst>
  <p:sldIdLst>
    <p:sldId xmlns:r="http://schemas.openxmlformats.org/officeDocument/2006/relationships" id="256" r:id="Rf4e7fc56dafb414c"/>
    <p:sldId xmlns:r="http://schemas.openxmlformats.org/officeDocument/2006/relationships" id="257" r:id="Ra65688c8b9e54da7"/>
    <p:sldId xmlns:r="http://schemas.openxmlformats.org/officeDocument/2006/relationships" id="258" r:id="R8dee2cdb0d474142"/>
    <p:sldId xmlns:r="http://schemas.openxmlformats.org/officeDocument/2006/relationships" id="259" r:id="R3e1afba7a49046b5"/>
    <p:sldId xmlns:r="http://schemas.openxmlformats.org/officeDocument/2006/relationships" id="260" r:id="R03c46ff5c04241dc"/>
    <p:sldId xmlns:r="http://schemas.openxmlformats.org/officeDocument/2006/relationships" id="261" r:id="R15f3bc31e7624818"/>
    <p:sldId xmlns:r="http://schemas.openxmlformats.org/officeDocument/2006/relationships" id="262" r:id="Rbd9bc4ecfa0b4312"/>
    <p:sldId xmlns:r="http://schemas.openxmlformats.org/officeDocument/2006/relationships" id="263" r:id="R688b4194b2d84f04"/>
    <p:sldId xmlns:r="http://schemas.openxmlformats.org/officeDocument/2006/relationships" id="264" r:id="R6013e8a398e84cb7"/>
    <p:sldId xmlns:r="http://schemas.openxmlformats.org/officeDocument/2006/relationships" id="265" r:id="R5573ba73626b4a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148278afa548f9" /><Relationship Type="http://schemas.openxmlformats.org/officeDocument/2006/relationships/slideMaster" Target="/ppt/slideMasters/slideMaster1.xml" Id="R927417cfda284fb3" /><Relationship Type="http://schemas.openxmlformats.org/officeDocument/2006/relationships/notesMaster" Target="/ppt/notesMasters/notesMaster1.xml" Id="Radb903a2f9974091" /><Relationship Type="http://schemas.openxmlformats.org/officeDocument/2006/relationships/presProps" Target="/ppt/presProps.xml" Id="Rd64abfa114e94878" /><Relationship Type="http://schemas.openxmlformats.org/officeDocument/2006/relationships/tableStyles" Target="/ppt/tableStyles.xml" Id="R4e034c68bac14308" /><Relationship Type="http://schemas.openxmlformats.org/officeDocument/2006/relationships/slide" Target="/ppt/slides/slide1.xml" Id="Rf4e7fc56dafb414c" /><Relationship Type="http://schemas.openxmlformats.org/officeDocument/2006/relationships/slide" Target="/ppt/slides/slide2.xml" Id="Ra65688c8b9e54da7" /><Relationship Type="http://schemas.openxmlformats.org/officeDocument/2006/relationships/slide" Target="/ppt/slides/slide3.xml" Id="R8dee2cdb0d474142" /><Relationship Type="http://schemas.openxmlformats.org/officeDocument/2006/relationships/slide" Target="/ppt/slides/slide4.xml" Id="R3e1afba7a49046b5" /><Relationship Type="http://schemas.openxmlformats.org/officeDocument/2006/relationships/slide" Target="/ppt/slides/slide5.xml" Id="R03c46ff5c04241dc" /><Relationship Type="http://schemas.openxmlformats.org/officeDocument/2006/relationships/slide" Target="/ppt/slides/slide6.xml" Id="R15f3bc31e7624818" /><Relationship Type="http://schemas.openxmlformats.org/officeDocument/2006/relationships/slide" Target="/ppt/slides/slide7.xml" Id="Rbd9bc4ecfa0b4312" /><Relationship Type="http://schemas.openxmlformats.org/officeDocument/2006/relationships/slide" Target="/ppt/slides/slide8.xml" Id="R688b4194b2d84f04" /><Relationship Type="http://schemas.openxmlformats.org/officeDocument/2006/relationships/slide" Target="/ppt/slides/slide9.xml" Id="R6013e8a398e84cb7" /><Relationship Type="http://schemas.openxmlformats.org/officeDocument/2006/relationships/slide" Target="/ppt/slides/slide10.xml" Id="R5573ba73626b4a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7d1a809b664d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29bec20b334e99" /><Relationship Type="http://schemas.openxmlformats.org/officeDocument/2006/relationships/notesMaster" Target="/ppt/notesMasters/notesMaster1.xml" Id="R947e1ed0f91844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e162652ba44e45" /><Relationship Type="http://schemas.openxmlformats.org/officeDocument/2006/relationships/notesMaster" Target="/ppt/notesMasters/notesMaster1.xml" Id="Re9058978c3c542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fcaad4f8b14c87" /><Relationship Type="http://schemas.openxmlformats.org/officeDocument/2006/relationships/notesMaster" Target="/ppt/notesMasters/notesMaster1.xml" Id="Red2587ffaf5840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76a8c4f9b04e0d" /><Relationship Type="http://schemas.openxmlformats.org/officeDocument/2006/relationships/notesMaster" Target="/ppt/notesMasters/notesMaster1.xml" Id="Rd70afe1d0d2447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8149714d83446f" /><Relationship Type="http://schemas.openxmlformats.org/officeDocument/2006/relationships/notesMaster" Target="/ppt/notesMasters/notesMaster1.xml" Id="Rf6c3d7dc476e43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93414c9aed4257" /><Relationship Type="http://schemas.openxmlformats.org/officeDocument/2006/relationships/notesMaster" Target="/ppt/notesMasters/notesMaster1.xml" Id="R15f9095db32149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bdff9e5d7d4555" /><Relationship Type="http://schemas.openxmlformats.org/officeDocument/2006/relationships/notesMaster" Target="/ppt/notesMasters/notesMaster1.xml" Id="R1ddb09519a1d4d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98e48d7aeb4ec7" /><Relationship Type="http://schemas.openxmlformats.org/officeDocument/2006/relationships/notesMaster" Target="/ppt/notesMasters/notesMaster1.xml" Id="R07901b051a8942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f8a122673a407f" /><Relationship Type="http://schemas.openxmlformats.org/officeDocument/2006/relationships/notesMaster" Target="/ppt/notesMasters/notesMaster1.xml" Id="R2efa92b094d548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1cbde30f614437" /><Relationship Type="http://schemas.openxmlformats.org/officeDocument/2006/relationships/notesMaster" Target="/ppt/notesMasters/notesMaster1.xml" Id="Rf901974f03a64f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CINDER ROAD — Neo-Western Film Pitch (Manor AI)..</a:t>
            </a:r>
          </a:p>
          <a:p xmlns:a="http://schemas.openxmlformats.org/drawingml/2006/main">
            <a:r>
              <a:t>- Sunset protagonist image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CINDER ROAD — Neo-Western Film Pitch (Manor AI)..</a:t>
            </a:r>
          </a:p>
          <a:p xmlns:a="http://schemas.openxmlformats.org/drawingml/2006/main">
            <a:r>
              <a:t>- Character portrait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CINDER ROAD — Neo-Western Film Pitch (Manor AI)..</a:t>
            </a:r>
          </a:p>
          <a:p xmlns:a="http://schemas.openxmlformats.org/drawingml/2006/main">
            <a:r>
              <a:t>- Seated portrait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CINDER ROAD — Neo-Western Film Pitch (Manor AI)..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CINDER ROAD — Neo-Western Film Pitch (Manor AI)..</a:t>
            </a:r>
          </a:p>
          <a:p xmlns:a="http://schemas.openxmlformats.org/drawingml/2006/main">
            <a:r>
              <a:t>- Night-road image reused as a cinematic full-bleed spread.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CINDER ROAD — Neo-Western Film Pitch (Manor AI)..</a:t>
            </a:r>
          </a:p>
          <a:p xmlns:a="http://schemas.openxmlformats.org/drawingml/2006/main">
            <a:r>
              <a:t>- Confrontation image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CINDER ROAD — Neo-Western Film Pitch (Manor AI)..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CINDER ROAD — Neo-Western Film Pitch (Manor AI)..</a:t>
            </a:r>
          </a:p>
          <a:p xmlns:a="http://schemas.openxmlformats.org/drawingml/2006/main">
            <a:r>
              <a:t>- Refinery sunset image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CINDER ROAD — Neo-Western Film Pitch (Manor AI)..</a:t>
            </a:r>
          </a:p>
          <a:p xmlns:a="http://schemas.openxmlformats.org/drawingml/2006/main">
            <a:r>
              <a:t>- Desert-road image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CINDER ROAD — Neo-Western Film Pitch (Manor AI)..</a:t>
            </a:r>
          </a:p>
          <a:p xmlns:a="http://schemas.openxmlformats.org/drawingml/2006/main">
            <a:r>
              <a:t>- Sunset image reused as a closing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0f276b17cc41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23ea34735d48dd" /><Relationship Type="http://schemas.openxmlformats.org/officeDocument/2006/relationships/slideLayout" Target="/ppt/slideLayouts/slideLayout1.xml" Id="Rd67511c456174d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7511c456174d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4f5408c8a480c" /><Relationship Type="http://schemas.openxmlformats.org/officeDocument/2006/relationships/image" Target="/ppt/media/image.png" Id="R6b8e6f7a51ef4e70" /><Relationship Type="http://schemas.openxmlformats.org/officeDocument/2006/relationships/notesSlide" Target="/ppt/notesSlides/notesSlide1.xml" Id="Rc68e9bc68cb04b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7cdcfd4fa4bea" /><Relationship Type="http://schemas.openxmlformats.org/officeDocument/2006/relationships/image" Target="/ppt/media/image2.png" Id="R39bfdc2aafc24f65" /><Relationship Type="http://schemas.openxmlformats.org/officeDocument/2006/relationships/notesSlide" Target="/ppt/notesSlides/notesSlide2.xml" Id="R6ba53b52590940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b5f8601e24f40" /><Relationship Type="http://schemas.openxmlformats.org/officeDocument/2006/relationships/image" Target="/ppt/media/image3.png" Id="R9bb79e7932df46fb" /><Relationship Type="http://schemas.openxmlformats.org/officeDocument/2006/relationships/notesSlide" Target="/ppt/notesSlides/notesSlide3.xml" Id="R9f406ce6ca844d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0e56849fa4786" /><Relationship Type="http://schemas.openxmlformats.org/officeDocument/2006/relationships/notesSlide" Target="/ppt/notesSlides/notesSlide4.xml" Id="R71ee854502804f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29e03a24247c3" /><Relationship Type="http://schemas.openxmlformats.org/officeDocument/2006/relationships/image" Target="/ppt/media/image4.png" Id="R0a620ad4d5374237" /><Relationship Type="http://schemas.openxmlformats.org/officeDocument/2006/relationships/notesSlide" Target="/ppt/notesSlides/notesSlide5.xml" Id="R9902f67b793f45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bbf22d3924cfa" /><Relationship Type="http://schemas.openxmlformats.org/officeDocument/2006/relationships/image" Target="/ppt/media/image5.png" Id="R99007068310a487e" /><Relationship Type="http://schemas.openxmlformats.org/officeDocument/2006/relationships/notesSlide" Target="/ppt/notesSlides/notesSlide6.xml" Id="R9cb5637882b64c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dcf4fab0b45cc" /><Relationship Type="http://schemas.openxmlformats.org/officeDocument/2006/relationships/notesSlide" Target="/ppt/notesSlides/notesSlide7.xml" Id="Rffb678e895e044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3ab2fdb87469a" /><Relationship Type="http://schemas.openxmlformats.org/officeDocument/2006/relationships/image" Target="/ppt/media/image6.png" Id="R9dea9e7048ae48d2" /><Relationship Type="http://schemas.openxmlformats.org/officeDocument/2006/relationships/notesSlide" Target="/ppt/notesSlides/notesSlide8.xml" Id="R4c782a3bb3d44b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d54b43b264864" /><Relationship Type="http://schemas.openxmlformats.org/officeDocument/2006/relationships/image" Target="/ppt/media/image7.png" Id="Rffbeb069f54245cf" /><Relationship Type="http://schemas.openxmlformats.org/officeDocument/2006/relationships/notesSlide" Target="/ppt/notesSlides/notesSlide9.xml" Id="Raf920289bae44d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229abccaf43ff" /><Relationship Type="http://schemas.openxmlformats.org/officeDocument/2006/relationships/image" Target="/ppt/media/image8.png" Id="R2afcef0530d3473c" /><Relationship Type="http://schemas.openxmlformats.org/officeDocument/2006/relationships/notesSlide" Target="/ppt/notesSlides/notesSlide10.xml" Id="R04965dbcee6a4a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e6f7a51ef4e70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AEE14-1CE0-47B0-A434-0C451266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588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2E641-7933-4460-8A49-39602C4E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571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6150" b="1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6150" b="1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CINDER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6150" b="1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6150" b="1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ROAD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FEE02-663E-452C-A4EA-3229B8D5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E9653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E001D-6220-40D8-B676-FF0C4465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 i="0">
                <a:solidFill>
                  <a:srgbClr val="F7F0E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7F0E3"/>
                </a:solidFill>
                <a:latin typeface="Arial"/>
                <a:ea typeface="Arial"/>
                <a:cs typeface="Arial"/>
              </a:rPr>
              <a:t>A NEO-WESTERN ABOUT DEBT, MEMORY, AND THREE NIGHTS OF FIRE.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810F2-9D3E-48A0-83F8-94711F59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CINDER ROAD  /  01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D9505-5F4C-4515-AEFD-665093F6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305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F7F0E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7F0E3"/>
                </a:solidFill>
                <a:latin typeface="Arial"/>
                <a:ea typeface="Arial"/>
                <a:cs typeface="Arial"/>
              </a:rPr>
              <a:t>FICTIONAL FEATURE PITCH</a:t>
            </a:r>
          </a:p>
        </p:txBody>
      </p:sp>
    </p:spTree>
    <p:extLst>
      <p:ext uri="{BB962C8B-B14F-4D97-AF65-F5344CB8AC3E}">
        <p14:creationId xmlns:p14="http://schemas.microsoft.com/office/powerpoint/2010/main" val="19546811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5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fdc2aafc24f65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7A3AC-1880-4A32-A99C-A1F0D488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9608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F6D0E-6D56-43B4-80EB-B1AEEA05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4350" b="1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MARA VALE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B24F9-4E82-4162-ADEF-B2DA782D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0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Former fire investigator.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75" b="0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Current repo driver.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75" b="0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One debt she cannot outrun.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23F1E-E162-4FF4-BAD1-6DF66841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483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965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267AE-8D1F-4C66-AF70-53114FC5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CINDER ROAD  /  02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281F6-1C15-4210-A36A-8BC1F95D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305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F7F0E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7F0E3"/>
                </a:solidFill>
                <a:latin typeface="Arial"/>
                <a:ea typeface="Arial"/>
                <a:cs typeface="Arial"/>
              </a:rPr>
              <a:t>FICTIONAL FEATURE PITCH</a:t>
            </a:r>
          </a:p>
        </p:txBody>
      </p:sp>
    </p:spTree>
    <p:extLst>
      <p:ext uri="{BB962C8B-B14F-4D97-AF65-F5344CB8AC3E}">
        <p14:creationId xmlns:p14="http://schemas.microsoft.com/office/powerpoint/2010/main" val="18857352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79e7932df46fb"/>
          <a:srcRect xmlns:a="http://schemas.openxmlformats.org/drawingml/2006/main" l="3323" t="0" r="33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A5ADB-1DEF-4CC0-A91B-7DF7DF86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E9653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96532"/>
                </a:solidFill>
                <a:latin typeface="Arial"/>
                <a:ea typeface="Arial"/>
                <a:cs typeface="Arial"/>
              </a:rPr>
              <a:t>THE STORY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46919-94CA-4E45-B559-344FF363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561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750" b="1" i="0">
                <a:solidFill>
                  <a:srgbClr val="15110F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15110F"/>
                </a:solidFill>
                <a:latin typeface="Georgia"/>
                <a:ea typeface="Georgia"/>
                <a:cs typeface="Georgia"/>
              </a:rPr>
              <a:t>Every target reveals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750" b="1" i="0">
                <a:solidFill>
                  <a:srgbClr val="15110F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15110F"/>
                </a:solidFill>
                <a:latin typeface="Georgia"/>
                <a:ea typeface="Georgia"/>
                <a:cs typeface="Georgia"/>
              </a:rPr>
              <a:t>a piece of the fire.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54479-B22E-412D-BDE7-D7F8F151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75" b="0" i="0">
                <a:solidFill>
                  <a:srgbClr val="4C423B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4C423B"/>
                </a:solidFill>
                <a:latin typeface="Georgia"/>
                <a:ea typeface="Georgia"/>
                <a:cs typeface="Georgia"/>
              </a:rPr>
              <a:t>Mara is hired to recover three vehicles from the same desert county. Each owner remembers the refinery blaze differently. By the third night, repossession becomes investigation.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65C11-7832-4688-9E21-8CBCC348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E9653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96532"/>
                </a:solidFill>
                <a:latin typeface="Arial"/>
                <a:ea typeface="Arial"/>
                <a:cs typeface="Arial"/>
              </a:rPr>
              <a:t>Debt opens the door. Memory supplies the motive.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4BEF9-C95B-4CE3-A156-634C7AEB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5110F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15110F"/>
                </a:solidFill>
                <a:latin typeface="Georgia"/>
                <a:ea typeface="Georgia"/>
                <a:cs typeface="Georgia"/>
              </a:rPr>
              <a:t>CINDER ROAD  /  03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76A07-CDC0-40FC-BCF6-458AABB1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305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E9653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96532"/>
                </a:solidFill>
                <a:latin typeface="Arial"/>
                <a:ea typeface="Arial"/>
                <a:cs typeface="Arial"/>
              </a:rPr>
              <a:t>FICTIONAL FEATURE PITCH</a:t>
            </a:r>
          </a:p>
        </p:txBody>
      </p:sp>
    </p:spTree>
    <p:extLst>
      <p:ext uri="{BB962C8B-B14F-4D97-AF65-F5344CB8AC3E}">
        <p14:creationId xmlns:p14="http://schemas.microsoft.com/office/powerpoint/2010/main" val="1017084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C33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22DE9A-913B-4340-BB28-17F0A71B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THREE NIGHTS. THREE TARGETS.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662EC-BF97-43AA-A9DA-0F72616B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E9653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96532"/>
                </a:solidFill>
                <a:latin typeface="Arial"/>
                <a:ea typeface="Arial"/>
                <a:cs typeface="Arial"/>
              </a:rPr>
              <a:t>NIGHT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33C09-9F3E-431B-8000-4D417963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D9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95B60-B945-4D55-9F5A-B19828D6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THE PREACHER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4ACC6-C435-44AF-9BF6-D40C5657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8100"/>
            <a:ext cx="3028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D7CEC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D7CEC0"/>
                </a:solidFill>
                <a:latin typeface="Georgia"/>
                <a:ea typeface="Georgia"/>
                <a:cs typeface="Georgia"/>
              </a:rPr>
              <a:t>A pickup with blood in the bed.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1E59F-38B5-4DED-ACEB-AA2757E4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71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E9653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96532"/>
                </a:solidFill>
                <a:latin typeface="Arial"/>
                <a:ea typeface="Arial"/>
                <a:cs typeface="Arial"/>
              </a:rPr>
              <a:t>NIGHT 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DFDB7-EB9F-48D7-B246-3DB30F90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D9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9DBC0-2E78-462B-927D-01C4F2F4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THE WIDOW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1A99D-893C-44E3-9402-0148BD8B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48100"/>
            <a:ext cx="3028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D7CEC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D7CEC0"/>
                </a:solidFill>
                <a:latin typeface="Georgia"/>
                <a:ea typeface="Georgia"/>
                <a:cs typeface="Georgia"/>
              </a:rPr>
              <a:t>A coupe with a taped confession.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1DF2C-B267-48E7-B580-F34ACAFE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71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E9653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96532"/>
                </a:solidFill>
                <a:latin typeface="Arial"/>
                <a:ea typeface="Arial"/>
                <a:cs typeface="Arial"/>
              </a:rPr>
              <a:t>NIGHT 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4A10A-B84E-4532-8524-5A0C26E8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D9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E7C75-0057-4394-85F4-96F7ED93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THE SHERIFF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BA53E-68F4-4E18-A821-330844CE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48100"/>
            <a:ext cx="3028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D7CEC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D7CEC0"/>
                </a:solidFill>
                <a:latin typeface="Georgia"/>
                <a:ea typeface="Georgia"/>
                <a:cs typeface="Georgia"/>
              </a:rPr>
              <a:t>A cruiser that should not exist.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01614-153A-44B2-A137-4ABB5E6B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CINDER ROAD  /  04 / 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19465-1E00-4E7D-87C8-1DC949B8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305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F7F0E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7F0E3"/>
                </a:solidFill>
                <a:latin typeface="Arial"/>
                <a:ea typeface="Arial"/>
                <a:cs typeface="Arial"/>
              </a:rPr>
              <a:t>FICTIONAL FEATURE PITCH</a:t>
            </a:r>
          </a:p>
        </p:txBody>
      </p:sp>
    </p:spTree>
    <p:extLst>
      <p:ext uri="{BB962C8B-B14F-4D97-AF65-F5344CB8AC3E}">
        <p14:creationId xmlns:p14="http://schemas.microsoft.com/office/powerpoint/2010/main" val="5879188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20ad4d5374237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C2727-6B5C-4163-83EA-6D84A4AF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568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94A10-9B14-406A-814F-0BE6C58D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6191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4200" b="1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4200" b="1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THE ROAD KNOWS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4200" b="1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4200" b="1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WHO IS LYING.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23F0A-FFA8-4AC4-B1BB-3E2DA4DE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Headlights cut the story into evidence: dust, chrome, ash, faces.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AA288-D1B6-48C8-A1CB-D90814CF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CINDER ROAD  /  05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6859E-A4E0-4B2F-9A08-FEDC999E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305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F7F0E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7F0E3"/>
                </a:solidFill>
                <a:latin typeface="Arial"/>
                <a:ea typeface="Arial"/>
                <a:cs typeface="Arial"/>
              </a:rPr>
              <a:t>FICTIONAL FEATURE PITCH</a:t>
            </a:r>
          </a:p>
        </p:txBody>
      </p:sp>
    </p:spTree>
    <p:extLst>
      <p:ext uri="{BB962C8B-B14F-4D97-AF65-F5344CB8AC3E}">
        <p14:creationId xmlns:p14="http://schemas.microsoft.com/office/powerpoint/2010/main" val="6191038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07068310a487e"/>
          <a:srcRect xmlns:a="http://schemas.openxmlformats.org/drawingml/2006/main" l="20388" t="0" r="20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ACC40-D141-40BA-8EA9-FEC92C63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64235-A2C5-4FB6-9307-A23EECED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675" b="1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3675" b="1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THE HUNTER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3675" b="1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3675" b="1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WEARS A BADGE.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A54A5-3076-476E-BCB4-F0C4D4EB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3619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Sheriff Danner wants the cars gone, the witnesses quiet, and Mara remembered as unreliable.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D88F9-621B-488D-8160-4EBFE3A0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E9653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E96532"/>
                </a:solidFill>
                <a:latin typeface="Arial"/>
                <a:ea typeface="Arial"/>
                <a:cs typeface="Arial"/>
              </a:rPr>
              <a:t>ANTAGONIST / LOCAL POWER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288D2-D01A-4B4C-A802-E23D088E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CINDER ROAD  /  06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9C754-3FE2-4E5F-9063-FFCFFF4D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305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F7F0E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7F0E3"/>
                </a:solidFill>
                <a:latin typeface="Arial"/>
                <a:ea typeface="Arial"/>
                <a:cs typeface="Arial"/>
              </a:rPr>
              <a:t>FICTIONAL FEATURE PITCH</a:t>
            </a:r>
          </a:p>
        </p:txBody>
      </p:sp>
    </p:spTree>
    <p:extLst>
      <p:ext uri="{BB962C8B-B14F-4D97-AF65-F5344CB8AC3E}">
        <p14:creationId xmlns:p14="http://schemas.microsoft.com/office/powerpoint/2010/main" val="2048484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C816B-5315-482E-8063-E78EA631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15110F"/>
                </a:solidFill>
                <a:latin typeface="Georgia"/>
                <a:ea typeface="Georgia"/>
                <a:cs typeface="Georgia"/>
              </a:defRPr>
            </a:pPr>
            <a:r>
              <a:rPr sz="3675" b="1" i="0">
                <a:solidFill>
                  <a:srgbClr val="15110F"/>
                </a:solidFill>
                <a:latin typeface="Georgia"/>
                <a:ea typeface="Georgia"/>
                <a:cs typeface="Georgia"/>
              </a:rPr>
              <a:t>A WESTERN WITHOUT CLEAN HANDS.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6A8F4-CE52-4D1D-9926-80E608CB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E96532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E965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89583-032F-4B64-84C5-2F4F70D8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66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5110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110F"/>
                </a:solidFill>
                <a:latin typeface="Arial"/>
                <a:ea typeface="Arial"/>
                <a:cs typeface="Arial"/>
              </a:rPr>
              <a:t>DEBT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D077F-0D65-42B1-9708-6EA60ED3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669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4B423C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4B423C"/>
                </a:solidFill>
                <a:latin typeface="Georgia"/>
                <a:ea typeface="Georgia"/>
                <a:cs typeface="Georgia"/>
              </a:rPr>
              <a:t>Every obligation has a body.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AF4AD-932E-4C1F-9ACF-0EB6D165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4315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D9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C2D43-147F-4267-A6D2-B38FC6B8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E96532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E965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FB25F-DAE7-4322-9667-E89833EE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00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5110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110F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60FA4-975E-480B-ADA4-AADEE8B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03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4B423C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4B423C"/>
                </a:solidFill>
                <a:latin typeface="Georgia"/>
                <a:ea typeface="Georgia"/>
                <a:cs typeface="Georgia"/>
              </a:rPr>
              <a:t>Truth changes with ownership.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E0FDE-E9E8-4A3E-8F69-EDCF51BD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766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D9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73436-2BDF-4490-9B9A-E4693F57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E96532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E965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7A65E-DE01-4D07-AE41-41DD2703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33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5110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110F"/>
                </a:solidFill>
                <a:latin typeface="Arial"/>
                <a:ea typeface="Arial"/>
                <a:cs typeface="Arial"/>
              </a:rPr>
              <a:t>FIRE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9A973-2EDB-4B59-9CAC-D0E26184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338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4B423C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4B423C"/>
                </a:solidFill>
                <a:latin typeface="Georgia"/>
                <a:ea typeface="Georgia"/>
                <a:cs typeface="Georgia"/>
              </a:rPr>
              <a:t>The past keeps its own weather.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E7D94-385C-4755-BEF7-1A5B4E50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1005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D9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582DB8-D54E-4756-82F2-D1CFDBF8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70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E96532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E9653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3D6E5F-424F-4A4A-A769-0759DD95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67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5110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110F"/>
                </a:solidFill>
                <a:latin typeface="Arial"/>
                <a:ea typeface="Arial"/>
                <a:cs typeface="Arial"/>
              </a:rPr>
              <a:t>MERCY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FC2ED-AB10-4F71-8E6A-477FF25D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4B423C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4B423C"/>
                </a:solidFill>
                <a:latin typeface="Georgia"/>
                <a:ea typeface="Georgia"/>
                <a:cs typeface="Georgia"/>
              </a:rPr>
              <a:t>Justice arrives late and compromised.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712CE6-FB35-4D30-BB21-FD87453F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435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D9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DDED36-E878-4DB2-B2CB-BEF48145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5110F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15110F"/>
                </a:solidFill>
                <a:latin typeface="Georgia"/>
                <a:ea typeface="Georgia"/>
                <a:cs typeface="Georgia"/>
              </a:rPr>
              <a:t>CINDER ROAD  /  07 /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8AB15C-BEAA-4605-90B3-A5C0474E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305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E9653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96532"/>
                </a:solidFill>
                <a:latin typeface="Arial"/>
                <a:ea typeface="Arial"/>
                <a:cs typeface="Arial"/>
              </a:rPr>
              <a:t>FICTIONAL FEATURE PITCH</a:t>
            </a:r>
          </a:p>
        </p:txBody>
      </p:sp>
    </p:spTree>
    <p:extLst>
      <p:ext uri="{BB962C8B-B14F-4D97-AF65-F5344CB8AC3E}">
        <p14:creationId xmlns:p14="http://schemas.microsoft.com/office/powerpoint/2010/main" val="11676979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a9e7048ae48d2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0227B-C54A-4086-9235-E7E7B30C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2E875-782E-43D9-B2D3-20DAF6A1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1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THE THIRD NIGHT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900" b="1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REACHES THE REFINERY.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17E2F-88B1-4287-9E42-C819C019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E9653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96532"/>
                </a:solidFill>
                <a:latin typeface="Arial"/>
                <a:ea typeface="Arial"/>
                <a:cs typeface="Arial"/>
              </a:rPr>
              <a:t>23:10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99761-30BA-4F0B-8C35-7DEAABB5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765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Gate opens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5334B-B0CD-4C37-AB1C-9CE5D328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E9653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96532"/>
                </a:solidFill>
                <a:latin typeface="Arial"/>
                <a:ea typeface="Arial"/>
                <a:cs typeface="Arial"/>
              </a:rPr>
              <a:t>23:42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E10D9-6195-4B51-BFD5-9F714577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24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Records surface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46704-2227-4CA4-88CA-5AA76559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E9653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96532"/>
                </a:solidFill>
                <a:latin typeface="Arial"/>
                <a:ea typeface="Arial"/>
                <a:cs typeface="Arial"/>
              </a:rPr>
              <a:t>00:16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48240-4416-4648-8F8E-859C754F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719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Fire line breaks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720C6-60A5-4FA5-9736-BC8BDD69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E9653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96532"/>
                </a:solidFill>
                <a:latin typeface="Arial"/>
                <a:ea typeface="Arial"/>
                <a:cs typeface="Arial"/>
              </a:rPr>
              <a:t>00:28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AD7D0-937F-4CE4-ACD8-161AE283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196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Mara chooses witness over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3B221-AA95-4CFE-83DE-E78BAC7D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CINDER ROAD  /  08 / 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E76F9-7340-480B-A23F-595925D8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305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F7F0E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7F0E3"/>
                </a:solidFill>
                <a:latin typeface="Arial"/>
                <a:ea typeface="Arial"/>
                <a:cs typeface="Arial"/>
              </a:rPr>
              <a:t>FICTIONAL FEATURE PITCH</a:t>
            </a:r>
          </a:p>
        </p:txBody>
      </p:sp>
    </p:spTree>
    <p:extLst>
      <p:ext uri="{BB962C8B-B14F-4D97-AF65-F5344CB8AC3E}">
        <p14:creationId xmlns:p14="http://schemas.microsoft.com/office/powerpoint/2010/main" val="2021988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eb069f54245cf"/>
          <a:srcRect xmlns:a="http://schemas.openxmlformats.org/drawingml/2006/main" l="27980" t="0" r="279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0"/>
            <a:ext cx="53721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40B04-A9D5-4790-A850-BDB2F7D7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E9653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96532"/>
                </a:solidFill>
                <a:latin typeface="Arial"/>
                <a:ea typeface="Arial"/>
                <a:cs typeface="Arial"/>
              </a:rPr>
              <a:t>WHY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26EF5-6585-42DB-8E1D-66EC18A4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5429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 i="0">
                <a:solidFill>
                  <a:srgbClr val="15110F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15110F"/>
                </a:solidFill>
                <a:latin typeface="Georgia"/>
                <a:ea typeface="Georgia"/>
                <a:cs typeface="Georgia"/>
              </a:rPr>
              <a:t>Debt is infrastructure.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900" b="1" i="0">
                <a:solidFill>
                  <a:srgbClr val="15110F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15110F"/>
                </a:solidFill>
                <a:latin typeface="Georgia"/>
                <a:ea typeface="Georgia"/>
                <a:cs typeface="Georgia"/>
              </a:rPr>
              <a:t>Truth is local.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900" b="1" i="0">
                <a:solidFill>
                  <a:srgbClr val="15110F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15110F"/>
                </a:solidFill>
                <a:latin typeface="Georgia"/>
                <a:ea typeface="Georgia"/>
                <a:cs typeface="Georgia"/>
              </a:rPr>
              <a:t>Fire is political.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A7792-DB71-4C94-9D7E-1AFE57B6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43400"/>
            <a:ext cx="523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 i="0">
                <a:solidFill>
                  <a:srgbClr val="4B423C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4B423C"/>
                </a:solidFill>
                <a:latin typeface="Georgia"/>
                <a:ea typeface="Georgia"/>
                <a:cs typeface="Georgia"/>
              </a:rPr>
              <a:t>CINDER ROAD uses genre momentum to examine who gets believed when work, land, and public authority share the same owner.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90D10-62A4-4A26-9D09-60DEFB6A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5110F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15110F"/>
                </a:solidFill>
                <a:latin typeface="Georgia"/>
                <a:ea typeface="Georgia"/>
                <a:cs typeface="Georgia"/>
              </a:rPr>
              <a:t>CINDER ROAD  /  09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F5069-5EA5-45A1-9F7A-5B91F5A0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305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E9653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96532"/>
                </a:solidFill>
                <a:latin typeface="Arial"/>
                <a:ea typeface="Arial"/>
                <a:cs typeface="Arial"/>
              </a:rPr>
              <a:t>FICTIONAL FEATURE PITCH</a:t>
            </a:r>
          </a:p>
        </p:txBody>
      </p:sp>
    </p:spTree>
    <p:extLst>
      <p:ext uri="{BB962C8B-B14F-4D97-AF65-F5344CB8AC3E}">
        <p14:creationId xmlns:p14="http://schemas.microsoft.com/office/powerpoint/2010/main" val="9035750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cef0530d3473c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70404-5903-404F-9D69-3F642365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9804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22D2A-6013-454E-8969-29389E9F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5905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0" b="1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5400" b="1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GREENLIGHT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400" b="1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5400" b="1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THE ROAD.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E56EC-C7C2-45DA-81D6-E08FD43F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E9653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EC656-1656-44F4-8A63-37C71464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61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75" b="0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Contained locations. Prestige cast. A visual world built for the big screen.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DD7E3-F7FD-47C9-BC7F-FE129D47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E9653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96532"/>
                </a:solidFill>
                <a:latin typeface="Arial"/>
                <a:ea typeface="Arial"/>
                <a:cs typeface="Arial"/>
              </a:rPr>
              <a:t>CINDER ROAD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14145-C50C-4F22-BF5C-EB11AC23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7F0E3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F7F0E3"/>
                </a:solidFill>
                <a:latin typeface="Georgia"/>
                <a:ea typeface="Georgia"/>
                <a:cs typeface="Georgia"/>
              </a:rPr>
              <a:t>CINDER ROAD  /  10 /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6D9B6-3FD6-42E5-8BB9-64A3A1E7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305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F7F0E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7F0E3"/>
                </a:solidFill>
                <a:latin typeface="Arial"/>
                <a:ea typeface="Arial"/>
                <a:cs typeface="Arial"/>
              </a:rPr>
              <a:t>FICTIONAL FEATURE PITCH</a:t>
            </a:r>
          </a:p>
        </p:txBody>
      </p:sp>
    </p:spTree>
    <p:extLst>
      <p:ext uri="{BB962C8B-B14F-4D97-AF65-F5344CB8AC3E}">
        <p14:creationId xmlns:p14="http://schemas.microsoft.com/office/powerpoint/2010/main" val="17966027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2026-08-11T11:02:07.7680000Z</dcterms:created>
  <dcterms:modified xsi:type="dcterms:W3CDTF">2026-08-11T11:02:07.7680000Z</dcterms:modified>
</coreProperties>
</file>