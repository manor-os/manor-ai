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notesSlides/_rels/notesSlide1.xml.rels><?xml version="1.0" encoding="UTF-8" standalone="yes"?>
<Relationships xmlns="http://schemas.openxmlformats.org/package/2006/relationships"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2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2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2" Type="http://schemas.openxmlformats.org/officeDocument/2006/relationships/slide" Target="../slides/slide12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Agricultural AI runs as a closed-loop farm intelligence system</a:t>
            </a:r>
          </a:p>
          <a:p>
            <a:endParaRPr lang="zh-CN" dirty="0"/>
          </a:p>
          <a:p>
            <a:r>
              <a:rPr lang="zh-CN" dirty="0"/>
              <a:t>Speaker notes: This slide advances the Agricultural AI Operating System architecture story. It is conceptual and uses no external statistics or factual market claims.</a:t>
            </a:r>
          </a:p>
          <a:p>
            <a:endParaRPr lang="zh-CN" dirty="0"/>
          </a:p>
          <a:p>
            <a:r>
              <a:rPr lang="zh-CN" dirty="0"/>
              <a:t>[Sources]</a:t>
            </a:r>
          </a:p>
          <a:p>
            <a:r>
              <a:rPr lang="zh-CN" dirty="0"/>
              <a:t>• Conceptual architecture narrative generated from the user request; no external sources used.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Field reality becomes machine-readable through multi-modal sensing</a:t>
            </a:r>
          </a:p>
          <a:p>
            <a:endParaRPr lang="zh-CN" dirty="0"/>
          </a:p>
          <a:p>
            <a:r>
              <a:rPr lang="zh-CN" dirty="0"/>
              <a:t>Speaker notes: This slide advances the Agricultural AI Operating System architecture story. It is conceptual and uses no external statistics or factual market claims.</a:t>
            </a:r>
          </a:p>
          <a:p>
            <a:endParaRPr lang="zh-CN" dirty="0"/>
          </a:p>
          <a:p>
            <a:r>
              <a:rPr lang="zh-CN" dirty="0"/>
              <a:t>[Sources]</a:t>
            </a:r>
          </a:p>
          <a:p>
            <a:r>
              <a:rPr lang="zh-CN" dirty="0"/>
              <a:t>• Conceptual architecture narrative generated from the user request; no external sources used.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The farm data plane normalizes messy signals before models see them</a:t>
            </a:r>
          </a:p>
          <a:p>
            <a:endParaRPr lang="zh-CN" dirty="0"/>
          </a:p>
          <a:p>
            <a:r>
              <a:rPr lang="zh-CN" dirty="0"/>
              <a:t>Speaker notes: This slide advances the Agricultural AI Operating System architecture story. It is conceptual and uses no external statistics or factual market claims.</a:t>
            </a:r>
          </a:p>
          <a:p>
            <a:endParaRPr lang="zh-CN" dirty="0"/>
          </a:p>
          <a:p>
            <a:r>
              <a:rPr lang="zh-CN" dirty="0"/>
              <a:t>[Sources]</a:t>
            </a:r>
          </a:p>
          <a:p>
            <a:r>
              <a:rPr lang="zh-CN" dirty="0"/>
              <a:t>• Conceptual architecture narrative generated from the user request; no external sources used.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Edge inference protects latency-sensitive decisions in the field</a:t>
            </a:r>
          </a:p>
          <a:p>
            <a:endParaRPr lang="zh-CN" dirty="0"/>
          </a:p>
          <a:p>
            <a:r>
              <a:rPr lang="zh-CN" dirty="0"/>
              <a:t>Speaker notes: This slide advances the Agricultural AI Operating System architecture story. It is conceptual and uses no external statistics or factual market claims.</a:t>
            </a:r>
          </a:p>
          <a:p>
            <a:endParaRPr lang="zh-CN" dirty="0"/>
          </a:p>
          <a:p>
            <a:r>
              <a:rPr lang="zh-CN" dirty="0"/>
              <a:t>[Sources]</a:t>
            </a:r>
          </a:p>
          <a:p>
            <a:r>
              <a:rPr lang="zh-CN" dirty="0"/>
              <a:t>• Conceptual architecture narrative generated from the user request; no external sources used.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Geospatial crop models convert observations into agronomic state</a:t>
            </a:r>
          </a:p>
          <a:p>
            <a:endParaRPr lang="zh-CN" dirty="0"/>
          </a:p>
          <a:p>
            <a:r>
              <a:rPr lang="zh-CN" dirty="0"/>
              <a:t>Speaker notes: This slide advances the Agricultural AI Operating System architecture story. It is conceptual and uses no external statistics or factual market claims.</a:t>
            </a:r>
          </a:p>
          <a:p>
            <a:endParaRPr lang="zh-CN" dirty="0"/>
          </a:p>
          <a:p>
            <a:r>
              <a:rPr lang="zh-CN" dirty="0"/>
              <a:t>[Sources]</a:t>
            </a:r>
          </a:p>
          <a:p>
            <a:r>
              <a:rPr lang="zh-CN" dirty="0"/>
              <a:t>• Conceptual architecture narrative generated from the user request; no external sources used.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The decision engine translates crop state into bounded recommendations</a:t>
            </a:r>
          </a:p>
          <a:p>
            <a:endParaRPr lang="zh-CN" dirty="0"/>
          </a:p>
          <a:p>
            <a:r>
              <a:rPr lang="zh-CN" dirty="0"/>
              <a:t>Speaker notes: This slide advances the Agricultural AI Operating System architecture story. It is conceptual and uses no external statistics or factual market claims.</a:t>
            </a:r>
          </a:p>
          <a:p>
            <a:endParaRPr lang="zh-CN" dirty="0"/>
          </a:p>
          <a:p>
            <a:r>
              <a:rPr lang="zh-CN" dirty="0"/>
              <a:t>[Sources]</a:t>
            </a:r>
          </a:p>
          <a:p>
            <a:r>
              <a:rPr lang="zh-CN" dirty="0"/>
              <a:t>• Conceptual architecture narrative generated from the user request; no external sources used.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Autonomous execution stays inside policy, equipment, and weather constraints</a:t>
            </a:r>
          </a:p>
          <a:p>
            <a:endParaRPr lang="zh-CN" dirty="0"/>
          </a:p>
          <a:p>
            <a:r>
              <a:rPr lang="zh-CN" dirty="0"/>
              <a:t>Speaker notes: This slide advances the Agricultural AI Operating System architecture story. It is conceptual and uses no external statistics or factual market claims.</a:t>
            </a:r>
          </a:p>
          <a:p>
            <a:endParaRPr lang="zh-CN" dirty="0"/>
          </a:p>
          <a:p>
            <a:r>
              <a:rPr lang="zh-CN" dirty="0"/>
              <a:t>[Sources]</a:t>
            </a:r>
          </a:p>
          <a:p>
            <a:r>
              <a:rPr lang="zh-CN" dirty="0"/>
              <a:t>• Conceptual architecture narrative generated from the user request; no external sources used.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Agronomist review turns AI outputs into accountable operating decisions</a:t>
            </a:r>
          </a:p>
          <a:p>
            <a:endParaRPr lang="zh-CN" dirty="0"/>
          </a:p>
          <a:p>
            <a:r>
              <a:rPr lang="zh-CN" dirty="0"/>
              <a:t>Speaker notes: This slide advances the Agricultural AI Operating System architecture story. It is conceptual and uses no external statistics or factual market claims.</a:t>
            </a:r>
          </a:p>
          <a:p>
            <a:endParaRPr lang="zh-CN" dirty="0"/>
          </a:p>
          <a:p>
            <a:r>
              <a:rPr lang="zh-CN" dirty="0"/>
              <a:t>[Sources]</a:t>
            </a:r>
          </a:p>
          <a:p>
            <a:r>
              <a:rPr lang="zh-CN" dirty="0"/>
              <a:t>• Conceptual architecture narrative generated from the user request; no external sources used.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The execution trace makes every recommendation auditable</a:t>
            </a:r>
          </a:p>
          <a:p>
            <a:endParaRPr lang="zh-CN" dirty="0"/>
          </a:p>
          <a:p>
            <a:r>
              <a:rPr lang="zh-CN" dirty="0"/>
              <a:t>Speaker notes: This slide advances the Agricultural AI Operating System architecture story. It is conceptual and uses no external statistics or factual market claims.</a:t>
            </a:r>
          </a:p>
          <a:p>
            <a:endParaRPr lang="zh-CN" dirty="0"/>
          </a:p>
          <a:p>
            <a:r>
              <a:rPr lang="zh-CN" dirty="0"/>
              <a:t>[Sources]</a:t>
            </a:r>
          </a:p>
          <a:p>
            <a:r>
              <a:rPr lang="zh-CN" dirty="0"/>
              <a:t>• Conceptual architecture narrative generated from the user request; no external sources used.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Deployment readiness depends on farms, models, machines, and people</a:t>
            </a:r>
          </a:p>
          <a:p>
            <a:endParaRPr lang="zh-CN" dirty="0"/>
          </a:p>
          <a:p>
            <a:r>
              <a:rPr lang="zh-CN" dirty="0"/>
              <a:t>Speaker notes: This slide advances the Agricultural AI Operating System architecture story. It is conceptual and uses no external statistics or factual market claims.</a:t>
            </a:r>
          </a:p>
          <a:p>
            <a:endParaRPr lang="zh-CN" dirty="0"/>
          </a:p>
          <a:p>
            <a:r>
              <a:rPr lang="zh-CN" dirty="0"/>
              <a:t>[Sources]</a:t>
            </a:r>
          </a:p>
          <a:p>
            <a:r>
              <a:rPr lang="zh-CN" dirty="0"/>
              <a:t>• Conceptual architecture narrative generated from the user request; no external sources used.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Managed rollout starts narrow, monitors drift, then expands</a:t>
            </a:r>
          </a:p>
          <a:p>
            <a:endParaRPr lang="zh-CN" dirty="0"/>
          </a:p>
          <a:p>
            <a:r>
              <a:rPr lang="zh-CN" dirty="0"/>
              <a:t>Speaker notes: This slide advances the Agricultural AI Operating System architecture story. It is conceptual and uses no external statistics or factual market claims.</a:t>
            </a:r>
          </a:p>
          <a:p>
            <a:endParaRPr lang="zh-CN" dirty="0"/>
          </a:p>
          <a:p>
            <a:r>
              <a:rPr lang="zh-CN" dirty="0"/>
              <a:t>[Sources]</a:t>
            </a:r>
          </a:p>
          <a:p>
            <a:r>
              <a:rPr lang="zh-CN" dirty="0"/>
              <a:t>• Conceptual architecture narrative generated from the user request; no external sources used.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Terminal close: farm intelligence loop online</a:t>
            </a:r>
          </a:p>
          <a:p>
            <a:endParaRPr lang="zh-CN" dirty="0"/>
          </a:p>
          <a:p>
            <a:r>
              <a:rPr lang="zh-CN" dirty="0"/>
              <a:t>Speaker notes: This slide advances the Agricultural AI Operating System architecture story. It is conceptual and uses no external statistics or factual market claims.</a:t>
            </a:r>
          </a:p>
          <a:p>
            <a:endParaRPr lang="zh-CN" dirty="0"/>
          </a:p>
          <a:p>
            <a:r>
              <a:rPr lang="zh-CN" dirty="0"/>
              <a:t>[Sources]</a:t>
            </a:r>
          </a:p>
          <a:p>
            <a:r>
              <a:rPr lang="zh-CN" dirty="0"/>
              <a:t>• Conceptual architecture narrative generated from the user request; no external sources used.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2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11F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7524750" y="-1333500"/>
            <a:ext cx="4953000" cy="4953000"/>
          </a:xfrm>
          <a:prstGeom prst="ellipse">
            <a:avLst/>
          </a:prstGeom>
          <a:solidFill>
            <a:srgbClr val="27D8FF">
              <a:alpha val="55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-381000" y="3714750"/>
            <a:ext cx="4191000" cy="4191000"/>
          </a:xfrm>
          <a:prstGeom prst="ellipse">
            <a:avLst/>
          </a:prstGeom>
          <a:solidFill>
            <a:srgbClr val="62E58F">
              <a:alpha val="3500"/>
            </a:srgbClr>
          </a:solidFill>
          <a:ln>
            <a:noFill/>
          </a:ln>
        </p:spPr>
      </p:sp>
      <p:grpSp>
        <p:nvGrpSpPr>
          <p:cNvPr id="71" name="Group 71"/>
          <p:cNvGrpSpPr/>
          <p:nvPr/>
        </p:nvGrpSpPr>
        <p:grpSpPr>
          <a:xfrm>
            <a:off x="0" y="0"/>
            <a:ext cx="12201525" cy="6867525"/>
            <a:chOff x="0" y="0"/>
            <a:chExt cx="12201525" cy="6867525"/>
          </a:xfrm>
        </p:grpSpPr>
        <p:sp>
          <p:nvSpPr>
            <p:cNvPr id="5" name="Line 5"/>
            <p:cNvSpPr/>
            <p:nvPr/>
          </p:nvSpPr>
          <p:spPr>
            <a:xfrm>
              <a:off x="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381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762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1143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152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1905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228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2667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304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3429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3810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4191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4572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4953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533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5715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609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6477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685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24" name="Line 24"/>
            <p:cNvSpPr/>
            <p:nvPr/>
          </p:nvSpPr>
          <p:spPr>
            <a:xfrm>
              <a:off x="7239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7620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26" name="Line 26"/>
            <p:cNvSpPr/>
            <p:nvPr/>
          </p:nvSpPr>
          <p:spPr>
            <a:xfrm>
              <a:off x="8001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27" name="Line 27"/>
            <p:cNvSpPr/>
            <p:nvPr/>
          </p:nvSpPr>
          <p:spPr>
            <a:xfrm>
              <a:off x="8382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28" name="Line 28"/>
            <p:cNvSpPr/>
            <p:nvPr/>
          </p:nvSpPr>
          <p:spPr>
            <a:xfrm>
              <a:off x="8763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29" name="Line 29"/>
            <p:cNvSpPr/>
            <p:nvPr/>
          </p:nvSpPr>
          <p:spPr>
            <a:xfrm>
              <a:off x="914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30" name="Line 30"/>
            <p:cNvSpPr/>
            <p:nvPr/>
          </p:nvSpPr>
          <p:spPr>
            <a:xfrm>
              <a:off x="9525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31" name="Line 31"/>
            <p:cNvSpPr/>
            <p:nvPr/>
          </p:nvSpPr>
          <p:spPr>
            <a:xfrm>
              <a:off x="990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32" name="Line 32"/>
            <p:cNvSpPr/>
            <p:nvPr/>
          </p:nvSpPr>
          <p:spPr>
            <a:xfrm>
              <a:off x="10287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33" name="Line 33"/>
            <p:cNvSpPr/>
            <p:nvPr/>
          </p:nvSpPr>
          <p:spPr>
            <a:xfrm>
              <a:off x="1066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34" name="Line 34"/>
            <p:cNvSpPr/>
            <p:nvPr/>
          </p:nvSpPr>
          <p:spPr>
            <a:xfrm>
              <a:off x="11049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35" name="Line 35"/>
            <p:cNvSpPr/>
            <p:nvPr/>
          </p:nvSpPr>
          <p:spPr>
            <a:xfrm>
              <a:off x="11430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36" name="Line 36"/>
            <p:cNvSpPr/>
            <p:nvPr/>
          </p:nvSpPr>
          <p:spPr>
            <a:xfrm>
              <a:off x="11811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37" name="Line 37"/>
            <p:cNvSpPr/>
            <p:nvPr/>
          </p:nvSpPr>
          <p:spPr>
            <a:xfrm>
              <a:off x="12192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38" name="Line 38"/>
            <p:cNvSpPr/>
            <p:nvPr/>
          </p:nvSpPr>
          <p:spPr>
            <a:xfrm>
              <a:off x="0" y="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39" name="Line 39"/>
            <p:cNvSpPr/>
            <p:nvPr/>
          </p:nvSpPr>
          <p:spPr>
            <a:xfrm>
              <a:off x="0" y="381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40" name="Line 40"/>
            <p:cNvSpPr/>
            <p:nvPr/>
          </p:nvSpPr>
          <p:spPr>
            <a:xfrm>
              <a:off x="0" y="762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41" name="Line 41"/>
            <p:cNvSpPr/>
            <p:nvPr/>
          </p:nvSpPr>
          <p:spPr>
            <a:xfrm>
              <a:off x="0" y="1143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42" name="Line 42"/>
            <p:cNvSpPr/>
            <p:nvPr/>
          </p:nvSpPr>
          <p:spPr>
            <a:xfrm>
              <a:off x="0" y="1524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43" name="Line 43"/>
            <p:cNvSpPr/>
            <p:nvPr/>
          </p:nvSpPr>
          <p:spPr>
            <a:xfrm>
              <a:off x="0" y="1905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44" name="Line 44"/>
            <p:cNvSpPr/>
            <p:nvPr/>
          </p:nvSpPr>
          <p:spPr>
            <a:xfrm>
              <a:off x="0" y="2286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45" name="Line 45"/>
            <p:cNvSpPr/>
            <p:nvPr/>
          </p:nvSpPr>
          <p:spPr>
            <a:xfrm>
              <a:off x="0" y="2667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46" name="Line 46"/>
            <p:cNvSpPr/>
            <p:nvPr/>
          </p:nvSpPr>
          <p:spPr>
            <a:xfrm>
              <a:off x="0" y="3048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47" name="Line 47"/>
            <p:cNvSpPr/>
            <p:nvPr/>
          </p:nvSpPr>
          <p:spPr>
            <a:xfrm>
              <a:off x="0" y="3429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48" name="Line 48"/>
            <p:cNvSpPr/>
            <p:nvPr/>
          </p:nvSpPr>
          <p:spPr>
            <a:xfrm>
              <a:off x="0" y="3810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49" name="Line 49"/>
            <p:cNvSpPr/>
            <p:nvPr/>
          </p:nvSpPr>
          <p:spPr>
            <a:xfrm>
              <a:off x="0" y="4191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50" name="Line 50"/>
            <p:cNvSpPr/>
            <p:nvPr/>
          </p:nvSpPr>
          <p:spPr>
            <a:xfrm>
              <a:off x="0" y="4572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51" name="Line 51"/>
            <p:cNvSpPr/>
            <p:nvPr/>
          </p:nvSpPr>
          <p:spPr>
            <a:xfrm>
              <a:off x="0" y="4953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52" name="Line 52"/>
            <p:cNvSpPr/>
            <p:nvPr/>
          </p:nvSpPr>
          <p:spPr>
            <a:xfrm>
              <a:off x="0" y="5334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53" name="Line 53"/>
            <p:cNvSpPr/>
            <p:nvPr/>
          </p:nvSpPr>
          <p:spPr>
            <a:xfrm>
              <a:off x="0" y="5715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54" name="Line 54"/>
            <p:cNvSpPr/>
            <p:nvPr/>
          </p:nvSpPr>
          <p:spPr>
            <a:xfrm>
              <a:off x="0" y="6096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55" name="Line 55"/>
            <p:cNvSpPr/>
            <p:nvPr/>
          </p:nvSpPr>
          <p:spPr>
            <a:xfrm>
              <a:off x="0" y="6477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56" name="Line 56"/>
            <p:cNvSpPr/>
            <p:nvPr/>
          </p:nvSpPr>
          <p:spPr>
            <a:xfrm>
              <a:off x="0" y="6858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57" name="Line 57"/>
            <p:cNvSpPr/>
            <p:nvPr/>
          </p:nvSpPr>
          <p:spPr>
            <a:xfrm>
              <a:off x="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5715">
              <a:solidFill>
                <a:srgbClr val="27D8FF">
                  <a:alpha val="16000"/>
                </a:srgbClr>
              </a:solidFill>
            </a:ln>
          </p:spPr>
        </p:sp>
        <p:sp>
          <p:nvSpPr>
            <p:cNvPr id="58" name="Line 58"/>
            <p:cNvSpPr/>
            <p:nvPr/>
          </p:nvSpPr>
          <p:spPr>
            <a:xfrm>
              <a:off x="152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5715">
              <a:solidFill>
                <a:srgbClr val="27D8FF">
                  <a:alpha val="16000"/>
                </a:srgbClr>
              </a:solidFill>
            </a:ln>
          </p:spPr>
        </p:sp>
        <p:sp>
          <p:nvSpPr>
            <p:cNvPr id="59" name="Line 59"/>
            <p:cNvSpPr/>
            <p:nvPr/>
          </p:nvSpPr>
          <p:spPr>
            <a:xfrm>
              <a:off x="304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5715">
              <a:solidFill>
                <a:srgbClr val="27D8FF">
                  <a:alpha val="16000"/>
                </a:srgbClr>
              </a:solidFill>
            </a:ln>
          </p:spPr>
        </p:sp>
        <p:sp>
          <p:nvSpPr>
            <p:cNvPr id="60" name="Line 60"/>
            <p:cNvSpPr/>
            <p:nvPr/>
          </p:nvSpPr>
          <p:spPr>
            <a:xfrm>
              <a:off x="4572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5715">
              <a:solidFill>
                <a:srgbClr val="27D8FF">
                  <a:alpha val="16000"/>
                </a:srgbClr>
              </a:solidFill>
            </a:ln>
          </p:spPr>
        </p:sp>
        <p:sp>
          <p:nvSpPr>
            <p:cNvPr id="61" name="Line 61"/>
            <p:cNvSpPr/>
            <p:nvPr/>
          </p:nvSpPr>
          <p:spPr>
            <a:xfrm>
              <a:off x="609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5715">
              <a:solidFill>
                <a:srgbClr val="27D8FF">
                  <a:alpha val="16000"/>
                </a:srgbClr>
              </a:solidFill>
            </a:ln>
          </p:spPr>
        </p:sp>
        <p:sp>
          <p:nvSpPr>
            <p:cNvPr id="62" name="Line 62"/>
            <p:cNvSpPr/>
            <p:nvPr/>
          </p:nvSpPr>
          <p:spPr>
            <a:xfrm>
              <a:off x="7620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5715">
              <a:solidFill>
                <a:srgbClr val="27D8FF">
                  <a:alpha val="16000"/>
                </a:srgbClr>
              </a:solidFill>
            </a:ln>
          </p:spPr>
        </p:sp>
        <p:sp>
          <p:nvSpPr>
            <p:cNvPr id="63" name="Line 63"/>
            <p:cNvSpPr/>
            <p:nvPr/>
          </p:nvSpPr>
          <p:spPr>
            <a:xfrm>
              <a:off x="914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5715">
              <a:solidFill>
                <a:srgbClr val="27D8FF">
                  <a:alpha val="16000"/>
                </a:srgbClr>
              </a:solidFill>
            </a:ln>
          </p:spPr>
        </p:sp>
        <p:sp>
          <p:nvSpPr>
            <p:cNvPr id="64" name="Line 64"/>
            <p:cNvSpPr/>
            <p:nvPr/>
          </p:nvSpPr>
          <p:spPr>
            <a:xfrm>
              <a:off x="1066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5715">
              <a:solidFill>
                <a:srgbClr val="27D8FF">
                  <a:alpha val="16000"/>
                </a:srgbClr>
              </a:solidFill>
            </a:ln>
          </p:spPr>
        </p:sp>
        <p:sp>
          <p:nvSpPr>
            <p:cNvPr id="65" name="Line 65"/>
            <p:cNvSpPr/>
            <p:nvPr/>
          </p:nvSpPr>
          <p:spPr>
            <a:xfrm>
              <a:off x="12192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5715">
              <a:solidFill>
                <a:srgbClr val="27D8FF">
                  <a:alpha val="16000"/>
                </a:srgbClr>
              </a:solidFill>
            </a:ln>
          </p:spPr>
        </p:sp>
        <p:sp>
          <p:nvSpPr>
            <p:cNvPr id="66" name="Line 66"/>
            <p:cNvSpPr/>
            <p:nvPr/>
          </p:nvSpPr>
          <p:spPr>
            <a:xfrm>
              <a:off x="0" y="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5715">
              <a:solidFill>
                <a:srgbClr val="27D8FF">
                  <a:alpha val="16000"/>
                </a:srgbClr>
              </a:solidFill>
            </a:ln>
          </p:spPr>
        </p:sp>
        <p:sp>
          <p:nvSpPr>
            <p:cNvPr id="67" name="Line 67"/>
            <p:cNvSpPr/>
            <p:nvPr/>
          </p:nvSpPr>
          <p:spPr>
            <a:xfrm>
              <a:off x="0" y="1524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5715">
              <a:solidFill>
                <a:srgbClr val="27D8FF">
                  <a:alpha val="16000"/>
                </a:srgbClr>
              </a:solidFill>
            </a:ln>
          </p:spPr>
        </p:sp>
        <p:sp>
          <p:nvSpPr>
            <p:cNvPr id="68" name="Line 68"/>
            <p:cNvSpPr/>
            <p:nvPr/>
          </p:nvSpPr>
          <p:spPr>
            <a:xfrm>
              <a:off x="0" y="3048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5715">
              <a:solidFill>
                <a:srgbClr val="27D8FF">
                  <a:alpha val="16000"/>
                </a:srgbClr>
              </a:solidFill>
            </a:ln>
          </p:spPr>
        </p:sp>
        <p:sp>
          <p:nvSpPr>
            <p:cNvPr id="69" name="Line 69"/>
            <p:cNvSpPr/>
            <p:nvPr/>
          </p:nvSpPr>
          <p:spPr>
            <a:xfrm>
              <a:off x="0" y="4572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5715">
              <a:solidFill>
                <a:srgbClr val="27D8FF">
                  <a:alpha val="16000"/>
                </a:srgbClr>
              </a:solidFill>
            </a:ln>
          </p:spPr>
        </p:sp>
        <p:sp>
          <p:nvSpPr>
            <p:cNvPr id="70" name="Line 70"/>
            <p:cNvSpPr/>
            <p:nvPr/>
          </p:nvSpPr>
          <p:spPr>
            <a:xfrm>
              <a:off x="0" y="6096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5715">
              <a:solidFill>
                <a:srgbClr val="27D8FF">
                  <a:alpha val="16000"/>
                </a:srgbClr>
              </a:solidFill>
            </a:ln>
          </p:spPr>
        </p:sp>
      </p:grpSp>
      <p:sp>
        <p:nvSpPr>
          <p:cNvPr id="72" name="TextBox 72"/>
          <p:cNvSpPr txBox="1"/>
          <p:nvPr/>
        </p:nvSpPr>
        <p:spPr>
          <a:xfrm>
            <a:off x="347662" y="240506"/>
            <a:ext cx="225492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27D8FF">
                    <a:alphaMod val="88000"/>
                  </a:srgbClr>
                </a:solidFill>
                <a:latin typeface="Consolas"/>
                <a:ea typeface="Microsoft YaHei"/>
                <a:cs typeface="Consolas"/>
              </a:rPr>
              <a:t>AGRI_AI_OS // BLUEPRINT::01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10606088" y="240506"/>
            <a:ext cx="71044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8CB5CC"/>
                </a:solidFill>
                <a:latin typeface="Consolas"/>
                <a:ea typeface="Microsoft YaHei"/>
                <a:cs typeface="Consolas"/>
              </a:rPr>
              <a:t>1280×720</a:t>
            </a:r>
          </a:p>
        </p:txBody>
      </p:sp>
      <p:sp>
        <p:nvSpPr>
          <p:cNvPr id="74" name="Line 74"/>
          <p:cNvSpPr/>
          <p:nvPr/>
        </p:nvSpPr>
        <p:spPr>
          <a:xfrm>
            <a:off x="361950" y="495300"/>
            <a:ext cx="11468100" cy="9525"/>
          </a:xfrm>
          <a:custGeom>
            <a:avLst/>
            <a:gdLst/>
            <a:ahLst/>
            <a:cxnLst/>
            <a:rect l="l" t="t" r="r" b="b"/>
            <a:pathLst>
              <a:path w="11468100" h="9525">
                <a:moveTo>
                  <a:pt x="0" y="0"/>
                </a:moveTo>
                <a:lnTo>
                  <a:pt x="11468100" y="0"/>
                </a:lnTo>
              </a:path>
            </a:pathLst>
          </a:custGeom>
          <a:noFill/>
          <a:ln w="9525">
            <a:solidFill>
              <a:srgbClr val="27D8FF">
                <a:alpha val="45000"/>
              </a:srgbClr>
            </a:solidFill>
          </a:ln>
        </p:spPr>
      </p:sp>
      <p:sp>
        <p:nvSpPr>
          <p:cNvPr id="75" name="TextBox 75"/>
          <p:cNvSpPr txBox="1"/>
          <p:nvPr/>
        </p:nvSpPr>
        <p:spPr>
          <a:xfrm>
            <a:off x="521970" y="731520"/>
            <a:ext cx="7532294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EAF7FF"/>
                </a:solidFill>
                <a:latin typeface="Arial"/>
                <a:ea typeface="Microsoft YaHei"/>
                <a:cs typeface="Arial"/>
              </a:rPr>
              <a:t>Agricultural AI runs as a closed-loop farm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521970" y="1112520"/>
            <a:ext cx="3520592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EAF7FF"/>
                </a:solidFill>
                <a:latin typeface="Arial"/>
                <a:ea typeface="Microsoft YaHei"/>
                <a:cs typeface="Arial"/>
              </a:rPr>
              <a:t>intelligence system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554355" y="1511618"/>
            <a:ext cx="886739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8CB5CC"/>
                </a:solidFill>
                <a:latin typeface="Arial"/>
                <a:ea typeface="Microsoft YaHei"/>
                <a:cs typeface="Arial"/>
              </a:rPr>
              <a:t>Field signals, models, decisions, machines, and human review operate as one governed loop.</a:t>
            </a:r>
          </a:p>
        </p:txBody>
      </p:sp>
      <p:sp>
        <p:nvSpPr>
          <p:cNvPr id="78" name="Rectangle 78"/>
          <p:cNvSpPr/>
          <p:nvPr/>
        </p:nvSpPr>
        <p:spPr>
          <a:xfrm>
            <a:off x="876300" y="2152650"/>
            <a:ext cx="10439400" cy="3048000"/>
          </a:xfrm>
          <a:prstGeom prst="roundRect">
            <a:avLst>
              <a:gd name="adj" fmla="val 7500"/>
            </a:avLst>
          </a:prstGeom>
          <a:solidFill>
            <a:srgbClr val="0A1A2D">
              <a:alpha val="92000"/>
            </a:srgbClr>
          </a:solidFill>
          <a:ln w="19050">
            <a:solidFill>
              <a:srgbClr val="27D8FF">
                <a:alpha val="92000"/>
              </a:srgbClr>
            </a:solidFill>
          </a:ln>
        </p:spPr>
      </p:sp>
      <p:sp>
        <p:nvSpPr>
          <p:cNvPr id="79" name="TextBox 79"/>
          <p:cNvSpPr txBox="1"/>
          <p:nvPr/>
        </p:nvSpPr>
        <p:spPr>
          <a:xfrm>
            <a:off x="1168718" y="2390299"/>
            <a:ext cx="329281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27D8FF"/>
                </a:solidFill>
                <a:latin typeface="Consolas"/>
                <a:ea typeface="Microsoft YaHei"/>
                <a:cs typeface="Consolas"/>
              </a:rPr>
              <a:t>SYSTEM_TOPOLOGY // FARM_INTELLIGENCE_LOOP</a:t>
            </a:r>
          </a:p>
        </p:txBody>
      </p:sp>
      <p:sp>
        <p:nvSpPr>
          <p:cNvPr id="80" name="Ellipse 80"/>
          <p:cNvSpPr/>
          <p:nvPr/>
        </p:nvSpPr>
        <p:spPr>
          <a:xfrm>
            <a:off x="2305050" y="2971800"/>
            <a:ext cx="1409700" cy="1409700"/>
          </a:xfrm>
          <a:prstGeom prst="ellipse">
            <a:avLst/>
          </a:prstGeom>
          <a:noFill/>
          <a:ln w="28575">
            <a:solidFill>
              <a:srgbClr val="62E58F"/>
            </a:solidFill>
          </a:ln>
        </p:spPr>
      </p:sp>
      <p:sp>
        <p:nvSpPr>
          <p:cNvPr id="81" name="TextBox 81"/>
          <p:cNvSpPr txBox="1"/>
          <p:nvPr/>
        </p:nvSpPr>
        <p:spPr>
          <a:xfrm>
            <a:off x="2569845" y="3574732"/>
            <a:ext cx="674489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EAF7FF"/>
                </a:solidFill>
                <a:latin typeface="Arial"/>
                <a:ea typeface="Microsoft YaHei"/>
                <a:cs typeface="Arial"/>
              </a:rPr>
              <a:t>FIELD</a:t>
            </a:r>
          </a:p>
        </p:txBody>
      </p:sp>
      <p:sp>
        <p:nvSpPr>
          <p:cNvPr id="82" name="Ellipse 82"/>
          <p:cNvSpPr/>
          <p:nvPr/>
        </p:nvSpPr>
        <p:spPr>
          <a:xfrm>
            <a:off x="5238750" y="2819400"/>
            <a:ext cx="1714500" cy="1714500"/>
          </a:xfrm>
          <a:prstGeom prst="ellipse">
            <a:avLst/>
          </a:prstGeom>
          <a:noFill/>
          <a:ln w="28575">
            <a:solidFill>
              <a:srgbClr val="27D8FF"/>
            </a:solidFill>
          </a:ln>
          <a:effectLst>
            <a:glow rad="28575">
              <a:srgbClr val="000000">
                <a:alpha val="30000"/>
              </a:srgbClr>
            </a:glow>
          </a:effectLst>
        </p:spPr>
      </p:sp>
      <p:sp>
        <p:nvSpPr>
          <p:cNvPr id="83" name="TextBox 83"/>
          <p:cNvSpPr txBox="1"/>
          <p:nvPr/>
        </p:nvSpPr>
        <p:spPr>
          <a:xfrm>
            <a:off x="5598795" y="3460432"/>
            <a:ext cx="661837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EAF7FF"/>
                </a:solidFill>
                <a:latin typeface="Arial"/>
                <a:ea typeface="Microsoft YaHei"/>
                <a:cs typeface="Arial"/>
              </a:rPr>
              <a:t>AI OS</a:t>
            </a:r>
          </a:p>
        </p:txBody>
      </p:sp>
      <p:sp>
        <p:nvSpPr>
          <p:cNvPr id="84" name="TextBox 84"/>
          <p:cNvSpPr txBox="1"/>
          <p:nvPr/>
        </p:nvSpPr>
        <p:spPr>
          <a:xfrm>
            <a:off x="5454015" y="3801428"/>
            <a:ext cx="152185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BE8FF"/>
                </a:solidFill>
                <a:latin typeface="Consolas"/>
                <a:ea typeface="Microsoft YaHei"/>
                <a:cs typeface="Consolas"/>
              </a:rPr>
              <a:t>sense → decide → act</a:t>
            </a:r>
          </a:p>
        </p:txBody>
      </p:sp>
      <p:sp>
        <p:nvSpPr>
          <p:cNvPr id="85" name="Ellipse 85"/>
          <p:cNvSpPr/>
          <p:nvPr/>
        </p:nvSpPr>
        <p:spPr>
          <a:xfrm>
            <a:off x="8477250" y="2971800"/>
            <a:ext cx="1409700" cy="1409700"/>
          </a:xfrm>
          <a:prstGeom prst="ellipse">
            <a:avLst/>
          </a:prstGeom>
          <a:noFill/>
          <a:ln w="28575">
            <a:solidFill>
              <a:srgbClr val="FFB84D"/>
            </a:solidFill>
          </a:ln>
        </p:spPr>
      </p:sp>
      <p:sp>
        <p:nvSpPr>
          <p:cNvPr id="86" name="TextBox 86"/>
          <p:cNvSpPr txBox="1"/>
          <p:nvPr/>
        </p:nvSpPr>
        <p:spPr>
          <a:xfrm>
            <a:off x="8599170" y="3574732"/>
            <a:ext cx="86426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EAF7FF"/>
                </a:solidFill>
                <a:latin typeface="Arial"/>
                <a:ea typeface="Microsoft YaHei"/>
                <a:cs typeface="Arial"/>
              </a:rPr>
              <a:t>ACTION</a:t>
            </a:r>
          </a:p>
        </p:txBody>
      </p:sp>
      <p:sp>
        <p:nvSpPr>
          <p:cNvPr id="87" name="Line 87"/>
          <p:cNvSpPr/>
          <p:nvPr/>
        </p:nvSpPr>
        <p:spPr>
          <a:xfrm>
            <a:off x="3714750" y="3676650"/>
            <a:ext cx="1476375" cy="1"/>
          </a:xfrm>
          <a:prstGeom prst="line">
            <a:avLst/>
          </a:prstGeom>
          <a:noFill/>
          <a:ln w="19050">
            <a:solidFill>
              <a:srgbClr val="27D8FF">
                <a:alpha val="90000"/>
              </a:srgbClr>
            </a:solidFill>
            <a:tailEnd type="triangle" w="lg" len="lg"/>
          </a:ln>
        </p:spPr>
      </p:sp>
      <p:sp>
        <p:nvSpPr>
          <p:cNvPr id="88" name="Line 88"/>
          <p:cNvSpPr/>
          <p:nvPr/>
        </p:nvSpPr>
        <p:spPr>
          <a:xfrm>
            <a:off x="7000875" y="3676650"/>
            <a:ext cx="1476375" cy="1"/>
          </a:xfrm>
          <a:prstGeom prst="line">
            <a:avLst/>
          </a:prstGeom>
          <a:noFill/>
          <a:ln w="19050">
            <a:solidFill>
              <a:srgbClr val="27D8FF">
                <a:alpha val="90000"/>
              </a:srgbClr>
            </a:solidFill>
            <a:tailEnd type="triangle" w="lg" len="lg"/>
          </a:ln>
        </p:spPr>
      </p:sp>
      <p:sp>
        <p:nvSpPr>
          <p:cNvPr id="89" name="Line 89"/>
          <p:cNvSpPr/>
          <p:nvPr/>
        </p:nvSpPr>
        <p:spPr>
          <a:xfrm flipH="1">
            <a:off x="6572250" y="4410075"/>
            <a:ext cx="2286000" cy="561975"/>
          </a:xfrm>
          <a:prstGeom prst="line">
            <a:avLst/>
          </a:prstGeom>
          <a:noFill/>
          <a:ln w="19050">
            <a:solidFill>
              <a:srgbClr val="62E58F">
                <a:alpha val="90000"/>
              </a:srgbClr>
            </a:solidFill>
            <a:tailEnd type="triangle" w="lg" len="lg"/>
          </a:ln>
        </p:spPr>
      </p:sp>
      <p:sp>
        <p:nvSpPr>
          <p:cNvPr id="90" name="Line 90"/>
          <p:cNvSpPr/>
          <p:nvPr/>
        </p:nvSpPr>
        <p:spPr>
          <a:xfrm flipH="1" flipV="1">
            <a:off x="3333750" y="4410075"/>
            <a:ext cx="2286000" cy="561975"/>
          </a:xfrm>
          <a:prstGeom prst="line">
            <a:avLst/>
          </a:prstGeom>
          <a:noFill/>
          <a:ln w="19050">
            <a:solidFill>
              <a:srgbClr val="62E58F">
                <a:alpha val="90000"/>
              </a:srgbClr>
            </a:solidFill>
            <a:tailEnd type="triangle" w="lg" len="lg"/>
          </a:ln>
        </p:spPr>
      </p:sp>
      <p:sp>
        <p:nvSpPr>
          <p:cNvPr id="91" name="TextBox 91"/>
          <p:cNvSpPr txBox="1"/>
          <p:nvPr/>
        </p:nvSpPr>
        <p:spPr>
          <a:xfrm>
            <a:off x="1144905" y="5474018"/>
            <a:ext cx="682671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27D8FF"/>
                </a:solidFill>
                <a:latin typeface="Consolas"/>
                <a:ea typeface="Microsoft YaHei"/>
                <a:cs typeface="Consolas"/>
              </a:rPr>
              <a:t>$ boot agri-ai-os --mode governed-autonomy --scope crop-production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11F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7524750" y="-1333500"/>
            <a:ext cx="4953000" cy="4953000"/>
          </a:xfrm>
          <a:prstGeom prst="ellipse">
            <a:avLst/>
          </a:prstGeom>
          <a:solidFill>
            <a:srgbClr val="27D8FF">
              <a:alpha val="55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-381000" y="3714750"/>
            <a:ext cx="4191000" cy="4191000"/>
          </a:xfrm>
          <a:prstGeom prst="ellipse">
            <a:avLst/>
          </a:prstGeom>
          <a:solidFill>
            <a:srgbClr val="62E58F">
              <a:alpha val="3500"/>
            </a:srgbClr>
          </a:solidFill>
          <a:ln>
            <a:noFill/>
          </a:ln>
        </p:spPr>
      </p:sp>
      <p:grpSp>
        <p:nvGrpSpPr>
          <p:cNvPr id="71" name="Group 71"/>
          <p:cNvGrpSpPr/>
          <p:nvPr/>
        </p:nvGrpSpPr>
        <p:grpSpPr>
          <a:xfrm>
            <a:off x="0" y="0"/>
            <a:ext cx="12201525" cy="6867525"/>
            <a:chOff x="0" y="0"/>
            <a:chExt cx="12201525" cy="6867525"/>
          </a:xfrm>
        </p:grpSpPr>
        <p:sp>
          <p:nvSpPr>
            <p:cNvPr id="5" name="Line 5"/>
            <p:cNvSpPr/>
            <p:nvPr/>
          </p:nvSpPr>
          <p:spPr>
            <a:xfrm>
              <a:off x="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381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762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1143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152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1905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228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2667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304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3429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3810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4191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4572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4953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533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5715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609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6477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685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24" name="Line 24"/>
            <p:cNvSpPr/>
            <p:nvPr/>
          </p:nvSpPr>
          <p:spPr>
            <a:xfrm>
              <a:off x="7239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7620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26" name="Line 26"/>
            <p:cNvSpPr/>
            <p:nvPr/>
          </p:nvSpPr>
          <p:spPr>
            <a:xfrm>
              <a:off x="8001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27" name="Line 27"/>
            <p:cNvSpPr/>
            <p:nvPr/>
          </p:nvSpPr>
          <p:spPr>
            <a:xfrm>
              <a:off x="8382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28" name="Line 28"/>
            <p:cNvSpPr/>
            <p:nvPr/>
          </p:nvSpPr>
          <p:spPr>
            <a:xfrm>
              <a:off x="8763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29" name="Line 29"/>
            <p:cNvSpPr/>
            <p:nvPr/>
          </p:nvSpPr>
          <p:spPr>
            <a:xfrm>
              <a:off x="914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30" name="Line 30"/>
            <p:cNvSpPr/>
            <p:nvPr/>
          </p:nvSpPr>
          <p:spPr>
            <a:xfrm>
              <a:off x="9525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31" name="Line 31"/>
            <p:cNvSpPr/>
            <p:nvPr/>
          </p:nvSpPr>
          <p:spPr>
            <a:xfrm>
              <a:off x="990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32" name="Line 32"/>
            <p:cNvSpPr/>
            <p:nvPr/>
          </p:nvSpPr>
          <p:spPr>
            <a:xfrm>
              <a:off x="10287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33" name="Line 33"/>
            <p:cNvSpPr/>
            <p:nvPr/>
          </p:nvSpPr>
          <p:spPr>
            <a:xfrm>
              <a:off x="1066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34" name="Line 34"/>
            <p:cNvSpPr/>
            <p:nvPr/>
          </p:nvSpPr>
          <p:spPr>
            <a:xfrm>
              <a:off x="11049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35" name="Line 35"/>
            <p:cNvSpPr/>
            <p:nvPr/>
          </p:nvSpPr>
          <p:spPr>
            <a:xfrm>
              <a:off x="11430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36" name="Line 36"/>
            <p:cNvSpPr/>
            <p:nvPr/>
          </p:nvSpPr>
          <p:spPr>
            <a:xfrm>
              <a:off x="11811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37" name="Line 37"/>
            <p:cNvSpPr/>
            <p:nvPr/>
          </p:nvSpPr>
          <p:spPr>
            <a:xfrm>
              <a:off x="12192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38" name="Line 38"/>
            <p:cNvSpPr/>
            <p:nvPr/>
          </p:nvSpPr>
          <p:spPr>
            <a:xfrm>
              <a:off x="0" y="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39" name="Line 39"/>
            <p:cNvSpPr/>
            <p:nvPr/>
          </p:nvSpPr>
          <p:spPr>
            <a:xfrm>
              <a:off x="0" y="381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40" name="Line 40"/>
            <p:cNvSpPr/>
            <p:nvPr/>
          </p:nvSpPr>
          <p:spPr>
            <a:xfrm>
              <a:off x="0" y="762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41" name="Line 41"/>
            <p:cNvSpPr/>
            <p:nvPr/>
          </p:nvSpPr>
          <p:spPr>
            <a:xfrm>
              <a:off x="0" y="1143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42" name="Line 42"/>
            <p:cNvSpPr/>
            <p:nvPr/>
          </p:nvSpPr>
          <p:spPr>
            <a:xfrm>
              <a:off x="0" y="1524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43" name="Line 43"/>
            <p:cNvSpPr/>
            <p:nvPr/>
          </p:nvSpPr>
          <p:spPr>
            <a:xfrm>
              <a:off x="0" y="1905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44" name="Line 44"/>
            <p:cNvSpPr/>
            <p:nvPr/>
          </p:nvSpPr>
          <p:spPr>
            <a:xfrm>
              <a:off x="0" y="2286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45" name="Line 45"/>
            <p:cNvSpPr/>
            <p:nvPr/>
          </p:nvSpPr>
          <p:spPr>
            <a:xfrm>
              <a:off x="0" y="2667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46" name="Line 46"/>
            <p:cNvSpPr/>
            <p:nvPr/>
          </p:nvSpPr>
          <p:spPr>
            <a:xfrm>
              <a:off x="0" y="3048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47" name="Line 47"/>
            <p:cNvSpPr/>
            <p:nvPr/>
          </p:nvSpPr>
          <p:spPr>
            <a:xfrm>
              <a:off x="0" y="3429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48" name="Line 48"/>
            <p:cNvSpPr/>
            <p:nvPr/>
          </p:nvSpPr>
          <p:spPr>
            <a:xfrm>
              <a:off x="0" y="3810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49" name="Line 49"/>
            <p:cNvSpPr/>
            <p:nvPr/>
          </p:nvSpPr>
          <p:spPr>
            <a:xfrm>
              <a:off x="0" y="4191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50" name="Line 50"/>
            <p:cNvSpPr/>
            <p:nvPr/>
          </p:nvSpPr>
          <p:spPr>
            <a:xfrm>
              <a:off x="0" y="4572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51" name="Line 51"/>
            <p:cNvSpPr/>
            <p:nvPr/>
          </p:nvSpPr>
          <p:spPr>
            <a:xfrm>
              <a:off x="0" y="4953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52" name="Line 52"/>
            <p:cNvSpPr/>
            <p:nvPr/>
          </p:nvSpPr>
          <p:spPr>
            <a:xfrm>
              <a:off x="0" y="5334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53" name="Line 53"/>
            <p:cNvSpPr/>
            <p:nvPr/>
          </p:nvSpPr>
          <p:spPr>
            <a:xfrm>
              <a:off x="0" y="5715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54" name="Line 54"/>
            <p:cNvSpPr/>
            <p:nvPr/>
          </p:nvSpPr>
          <p:spPr>
            <a:xfrm>
              <a:off x="0" y="6096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55" name="Line 55"/>
            <p:cNvSpPr/>
            <p:nvPr/>
          </p:nvSpPr>
          <p:spPr>
            <a:xfrm>
              <a:off x="0" y="6477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56" name="Line 56"/>
            <p:cNvSpPr/>
            <p:nvPr/>
          </p:nvSpPr>
          <p:spPr>
            <a:xfrm>
              <a:off x="0" y="6858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57" name="Line 57"/>
            <p:cNvSpPr/>
            <p:nvPr/>
          </p:nvSpPr>
          <p:spPr>
            <a:xfrm>
              <a:off x="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5715">
              <a:solidFill>
                <a:srgbClr val="27D8FF">
                  <a:alpha val="16000"/>
                </a:srgbClr>
              </a:solidFill>
            </a:ln>
          </p:spPr>
        </p:sp>
        <p:sp>
          <p:nvSpPr>
            <p:cNvPr id="58" name="Line 58"/>
            <p:cNvSpPr/>
            <p:nvPr/>
          </p:nvSpPr>
          <p:spPr>
            <a:xfrm>
              <a:off x="152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5715">
              <a:solidFill>
                <a:srgbClr val="27D8FF">
                  <a:alpha val="16000"/>
                </a:srgbClr>
              </a:solidFill>
            </a:ln>
          </p:spPr>
        </p:sp>
        <p:sp>
          <p:nvSpPr>
            <p:cNvPr id="59" name="Line 59"/>
            <p:cNvSpPr/>
            <p:nvPr/>
          </p:nvSpPr>
          <p:spPr>
            <a:xfrm>
              <a:off x="304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5715">
              <a:solidFill>
                <a:srgbClr val="27D8FF">
                  <a:alpha val="16000"/>
                </a:srgbClr>
              </a:solidFill>
            </a:ln>
          </p:spPr>
        </p:sp>
        <p:sp>
          <p:nvSpPr>
            <p:cNvPr id="60" name="Line 60"/>
            <p:cNvSpPr/>
            <p:nvPr/>
          </p:nvSpPr>
          <p:spPr>
            <a:xfrm>
              <a:off x="4572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5715">
              <a:solidFill>
                <a:srgbClr val="27D8FF">
                  <a:alpha val="16000"/>
                </a:srgbClr>
              </a:solidFill>
            </a:ln>
          </p:spPr>
        </p:sp>
        <p:sp>
          <p:nvSpPr>
            <p:cNvPr id="61" name="Line 61"/>
            <p:cNvSpPr/>
            <p:nvPr/>
          </p:nvSpPr>
          <p:spPr>
            <a:xfrm>
              <a:off x="609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5715">
              <a:solidFill>
                <a:srgbClr val="27D8FF">
                  <a:alpha val="16000"/>
                </a:srgbClr>
              </a:solidFill>
            </a:ln>
          </p:spPr>
        </p:sp>
        <p:sp>
          <p:nvSpPr>
            <p:cNvPr id="62" name="Line 62"/>
            <p:cNvSpPr/>
            <p:nvPr/>
          </p:nvSpPr>
          <p:spPr>
            <a:xfrm>
              <a:off x="7620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5715">
              <a:solidFill>
                <a:srgbClr val="27D8FF">
                  <a:alpha val="16000"/>
                </a:srgbClr>
              </a:solidFill>
            </a:ln>
          </p:spPr>
        </p:sp>
        <p:sp>
          <p:nvSpPr>
            <p:cNvPr id="63" name="Line 63"/>
            <p:cNvSpPr/>
            <p:nvPr/>
          </p:nvSpPr>
          <p:spPr>
            <a:xfrm>
              <a:off x="914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5715">
              <a:solidFill>
                <a:srgbClr val="27D8FF">
                  <a:alpha val="16000"/>
                </a:srgbClr>
              </a:solidFill>
            </a:ln>
          </p:spPr>
        </p:sp>
        <p:sp>
          <p:nvSpPr>
            <p:cNvPr id="64" name="Line 64"/>
            <p:cNvSpPr/>
            <p:nvPr/>
          </p:nvSpPr>
          <p:spPr>
            <a:xfrm>
              <a:off x="1066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5715">
              <a:solidFill>
                <a:srgbClr val="27D8FF">
                  <a:alpha val="16000"/>
                </a:srgbClr>
              </a:solidFill>
            </a:ln>
          </p:spPr>
        </p:sp>
        <p:sp>
          <p:nvSpPr>
            <p:cNvPr id="65" name="Line 65"/>
            <p:cNvSpPr/>
            <p:nvPr/>
          </p:nvSpPr>
          <p:spPr>
            <a:xfrm>
              <a:off x="12192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5715">
              <a:solidFill>
                <a:srgbClr val="27D8FF">
                  <a:alpha val="16000"/>
                </a:srgbClr>
              </a:solidFill>
            </a:ln>
          </p:spPr>
        </p:sp>
        <p:sp>
          <p:nvSpPr>
            <p:cNvPr id="66" name="Line 66"/>
            <p:cNvSpPr/>
            <p:nvPr/>
          </p:nvSpPr>
          <p:spPr>
            <a:xfrm>
              <a:off x="0" y="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5715">
              <a:solidFill>
                <a:srgbClr val="27D8FF">
                  <a:alpha val="16000"/>
                </a:srgbClr>
              </a:solidFill>
            </a:ln>
          </p:spPr>
        </p:sp>
        <p:sp>
          <p:nvSpPr>
            <p:cNvPr id="67" name="Line 67"/>
            <p:cNvSpPr/>
            <p:nvPr/>
          </p:nvSpPr>
          <p:spPr>
            <a:xfrm>
              <a:off x="0" y="1524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5715">
              <a:solidFill>
                <a:srgbClr val="27D8FF">
                  <a:alpha val="16000"/>
                </a:srgbClr>
              </a:solidFill>
            </a:ln>
          </p:spPr>
        </p:sp>
        <p:sp>
          <p:nvSpPr>
            <p:cNvPr id="68" name="Line 68"/>
            <p:cNvSpPr/>
            <p:nvPr/>
          </p:nvSpPr>
          <p:spPr>
            <a:xfrm>
              <a:off x="0" y="3048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5715">
              <a:solidFill>
                <a:srgbClr val="27D8FF">
                  <a:alpha val="16000"/>
                </a:srgbClr>
              </a:solidFill>
            </a:ln>
          </p:spPr>
        </p:sp>
        <p:sp>
          <p:nvSpPr>
            <p:cNvPr id="69" name="Line 69"/>
            <p:cNvSpPr/>
            <p:nvPr/>
          </p:nvSpPr>
          <p:spPr>
            <a:xfrm>
              <a:off x="0" y="4572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5715">
              <a:solidFill>
                <a:srgbClr val="27D8FF">
                  <a:alpha val="16000"/>
                </a:srgbClr>
              </a:solidFill>
            </a:ln>
          </p:spPr>
        </p:sp>
        <p:sp>
          <p:nvSpPr>
            <p:cNvPr id="70" name="Line 70"/>
            <p:cNvSpPr/>
            <p:nvPr/>
          </p:nvSpPr>
          <p:spPr>
            <a:xfrm>
              <a:off x="0" y="6096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5715">
              <a:solidFill>
                <a:srgbClr val="27D8FF">
                  <a:alpha val="16000"/>
                </a:srgbClr>
              </a:solidFill>
            </a:ln>
          </p:spPr>
        </p:sp>
      </p:grpSp>
      <p:sp>
        <p:nvSpPr>
          <p:cNvPr id="72" name="TextBox 72"/>
          <p:cNvSpPr txBox="1"/>
          <p:nvPr/>
        </p:nvSpPr>
        <p:spPr>
          <a:xfrm>
            <a:off x="347662" y="240506"/>
            <a:ext cx="229600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27D8FF">
                    <a:alphaMod val="88000"/>
                  </a:srgbClr>
                </a:solidFill>
                <a:latin typeface="Consolas"/>
                <a:ea typeface="Microsoft YaHei"/>
                <a:cs typeface="Consolas"/>
              </a:rPr>
              <a:t>AGRI_AI_OS // BLUEPRINT::02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10606088" y="240506"/>
            <a:ext cx="71044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8CB5CC"/>
                </a:solidFill>
                <a:latin typeface="Consolas"/>
                <a:ea typeface="Microsoft YaHei"/>
                <a:cs typeface="Consolas"/>
              </a:rPr>
              <a:t>1280×720</a:t>
            </a:r>
          </a:p>
        </p:txBody>
      </p:sp>
      <p:sp>
        <p:nvSpPr>
          <p:cNvPr id="74" name="Line 74"/>
          <p:cNvSpPr/>
          <p:nvPr/>
        </p:nvSpPr>
        <p:spPr>
          <a:xfrm>
            <a:off x="361950" y="495300"/>
            <a:ext cx="11468100" cy="9525"/>
          </a:xfrm>
          <a:custGeom>
            <a:avLst/>
            <a:gdLst/>
            <a:ahLst/>
            <a:cxnLst/>
            <a:rect l="l" t="t" r="r" b="b"/>
            <a:pathLst>
              <a:path w="11468100" h="9525">
                <a:moveTo>
                  <a:pt x="0" y="0"/>
                </a:moveTo>
                <a:lnTo>
                  <a:pt x="11468100" y="0"/>
                </a:lnTo>
              </a:path>
            </a:pathLst>
          </a:custGeom>
          <a:noFill/>
          <a:ln w="9525">
            <a:solidFill>
              <a:srgbClr val="27D8FF">
                <a:alpha val="45000"/>
              </a:srgbClr>
            </a:solidFill>
          </a:ln>
        </p:spPr>
      </p:sp>
      <p:sp>
        <p:nvSpPr>
          <p:cNvPr id="75" name="TextBox 75"/>
          <p:cNvSpPr txBox="1"/>
          <p:nvPr/>
        </p:nvSpPr>
        <p:spPr>
          <a:xfrm>
            <a:off x="521970" y="731520"/>
            <a:ext cx="8599627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EAF7FF"/>
                </a:solidFill>
                <a:latin typeface="Arial"/>
                <a:ea typeface="Microsoft YaHei"/>
                <a:cs typeface="Arial"/>
              </a:rPr>
              <a:t>Field reality becomes machine-readable through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521970" y="1112520"/>
            <a:ext cx="3594202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EAF7FF"/>
                </a:solidFill>
                <a:latin typeface="Arial"/>
                <a:ea typeface="Microsoft YaHei"/>
                <a:cs typeface="Arial"/>
              </a:rPr>
              <a:t>multi-modal sensing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554355" y="1511618"/>
            <a:ext cx="1202207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8CB5CC"/>
                </a:solidFill>
                <a:latin typeface="Arial"/>
                <a:ea typeface="Microsoft YaHei"/>
                <a:cs typeface="Arial"/>
              </a:rPr>
              <a:t>Soil probes, weather stations, drone imagery, machinery telemetry, and scouting notes enter a shared observation fabric.</a:t>
            </a:r>
          </a:p>
        </p:txBody>
      </p:sp>
      <p:sp>
        <p:nvSpPr>
          <p:cNvPr id="78" name="Rectangle 78"/>
          <p:cNvSpPr/>
          <p:nvPr/>
        </p:nvSpPr>
        <p:spPr>
          <a:xfrm>
            <a:off x="666750" y="2428875"/>
            <a:ext cx="1952625" cy="1000125"/>
          </a:xfrm>
          <a:prstGeom prst="roundRect">
            <a:avLst>
              <a:gd name="adj" fmla="val 13333"/>
            </a:avLst>
          </a:prstGeom>
          <a:solidFill>
            <a:srgbClr val="0A1A2D">
              <a:alpha val="96000"/>
            </a:srgbClr>
          </a:solidFill>
          <a:ln w="13335">
            <a:solidFill>
              <a:srgbClr val="62E58F">
                <a:alpha val="96000"/>
              </a:srgbClr>
            </a:solidFill>
          </a:ln>
        </p:spPr>
      </p:sp>
      <p:sp>
        <p:nvSpPr>
          <p:cNvPr id="79" name="TextBox 79"/>
          <p:cNvSpPr txBox="1"/>
          <p:nvPr/>
        </p:nvSpPr>
        <p:spPr>
          <a:xfrm>
            <a:off x="819150" y="2562225"/>
            <a:ext cx="125725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EAF7FF"/>
                </a:solidFill>
                <a:latin typeface="Arial"/>
                <a:ea typeface="Microsoft YaHei"/>
                <a:cs typeface="Arial"/>
              </a:rPr>
              <a:t>Soil probes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825818" y="2876074"/>
            <a:ext cx="147011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8CB5CC"/>
                </a:solidFill>
                <a:latin typeface="Consolas"/>
                <a:ea typeface="Microsoft YaHei"/>
                <a:cs typeface="Consolas"/>
              </a:rPr>
              <a:t>moisture • temp • EC</a:t>
            </a:r>
          </a:p>
        </p:txBody>
      </p:sp>
      <p:sp>
        <p:nvSpPr>
          <p:cNvPr id="81" name="Line 81"/>
          <p:cNvSpPr/>
          <p:nvPr/>
        </p:nvSpPr>
        <p:spPr>
          <a:xfrm>
            <a:off x="1638300" y="3429000"/>
            <a:ext cx="4457700" cy="1381125"/>
          </a:xfrm>
          <a:prstGeom prst="line">
            <a:avLst/>
          </a:prstGeom>
          <a:noFill/>
          <a:ln w="19050">
            <a:solidFill>
              <a:srgbClr val="27D8FF">
                <a:alpha val="90000"/>
              </a:srgbClr>
            </a:solidFill>
            <a:tailEnd type="triangle" w="lg" len="lg"/>
          </a:ln>
        </p:spPr>
      </p:sp>
      <p:sp>
        <p:nvSpPr>
          <p:cNvPr id="82" name="Rectangle 82"/>
          <p:cNvSpPr/>
          <p:nvPr/>
        </p:nvSpPr>
        <p:spPr>
          <a:xfrm>
            <a:off x="2933700" y="2428875"/>
            <a:ext cx="1952625" cy="1000125"/>
          </a:xfrm>
          <a:prstGeom prst="roundRect">
            <a:avLst>
              <a:gd name="adj" fmla="val 13333"/>
            </a:avLst>
          </a:prstGeom>
          <a:solidFill>
            <a:srgbClr val="0A1A2D">
              <a:alpha val="96000"/>
            </a:srgbClr>
          </a:solidFill>
          <a:ln w="13335">
            <a:solidFill>
              <a:srgbClr val="27D8FF">
                <a:alpha val="96000"/>
              </a:srgbClr>
            </a:solidFill>
          </a:ln>
        </p:spPr>
      </p:sp>
      <p:sp>
        <p:nvSpPr>
          <p:cNvPr id="83" name="TextBox 83"/>
          <p:cNvSpPr txBox="1"/>
          <p:nvPr/>
        </p:nvSpPr>
        <p:spPr>
          <a:xfrm>
            <a:off x="3086100" y="2562225"/>
            <a:ext cx="199334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EAF7FF"/>
                </a:solidFill>
                <a:latin typeface="Arial"/>
                <a:ea typeface="Microsoft YaHei"/>
                <a:cs typeface="Arial"/>
              </a:rPr>
              <a:t>Weather stations</a:t>
            </a:r>
          </a:p>
        </p:txBody>
      </p:sp>
      <p:sp>
        <p:nvSpPr>
          <p:cNvPr id="84" name="TextBox 84"/>
          <p:cNvSpPr txBox="1"/>
          <p:nvPr/>
        </p:nvSpPr>
        <p:spPr>
          <a:xfrm>
            <a:off x="3092768" y="2876074"/>
            <a:ext cx="124939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8CB5CC"/>
                </a:solidFill>
                <a:latin typeface="Consolas"/>
                <a:ea typeface="Microsoft YaHei"/>
                <a:cs typeface="Consolas"/>
              </a:rPr>
              <a:t>rain • wind • evap</a:t>
            </a:r>
          </a:p>
        </p:txBody>
      </p:sp>
      <p:sp>
        <p:nvSpPr>
          <p:cNvPr id="85" name="Line 85"/>
          <p:cNvSpPr/>
          <p:nvPr/>
        </p:nvSpPr>
        <p:spPr>
          <a:xfrm>
            <a:off x="3905250" y="3429000"/>
            <a:ext cx="2190750" cy="1381125"/>
          </a:xfrm>
          <a:prstGeom prst="line">
            <a:avLst/>
          </a:prstGeom>
          <a:noFill/>
          <a:ln w="19050">
            <a:solidFill>
              <a:srgbClr val="27D8FF">
                <a:alpha val="90000"/>
              </a:srgbClr>
            </a:solidFill>
            <a:tailEnd type="triangle" w="lg" len="lg"/>
          </a:ln>
        </p:spPr>
      </p:sp>
      <p:sp>
        <p:nvSpPr>
          <p:cNvPr id="86" name="Rectangle 86"/>
          <p:cNvSpPr/>
          <p:nvPr/>
        </p:nvSpPr>
        <p:spPr>
          <a:xfrm>
            <a:off x="5200650" y="2428875"/>
            <a:ext cx="1952625" cy="1000125"/>
          </a:xfrm>
          <a:prstGeom prst="roundRect">
            <a:avLst>
              <a:gd name="adj" fmla="val 13333"/>
            </a:avLst>
          </a:prstGeom>
          <a:solidFill>
            <a:srgbClr val="0A1A2D">
              <a:alpha val="96000"/>
            </a:srgbClr>
          </a:solidFill>
          <a:ln w="13335">
            <a:solidFill>
              <a:srgbClr val="FFB84D">
                <a:alpha val="96000"/>
              </a:srgbClr>
            </a:solidFill>
          </a:ln>
        </p:spPr>
      </p:sp>
      <p:sp>
        <p:nvSpPr>
          <p:cNvPr id="87" name="TextBox 87"/>
          <p:cNvSpPr txBox="1"/>
          <p:nvPr/>
        </p:nvSpPr>
        <p:spPr>
          <a:xfrm>
            <a:off x="5353050" y="2562225"/>
            <a:ext cx="1613797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EAF7FF"/>
                </a:solidFill>
                <a:latin typeface="Arial"/>
                <a:ea typeface="Microsoft YaHei"/>
                <a:cs typeface="Arial"/>
              </a:rPr>
              <a:t>Drone imagery</a:t>
            </a:r>
          </a:p>
        </p:txBody>
      </p:sp>
      <p:sp>
        <p:nvSpPr>
          <p:cNvPr id="88" name="TextBox 88"/>
          <p:cNvSpPr txBox="1"/>
          <p:nvPr/>
        </p:nvSpPr>
        <p:spPr>
          <a:xfrm>
            <a:off x="5359718" y="2876074"/>
            <a:ext cx="149147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8CB5CC"/>
                </a:solidFill>
                <a:latin typeface="Consolas"/>
                <a:ea typeface="Microsoft YaHei"/>
                <a:cs typeface="Consolas"/>
              </a:rPr>
              <a:t>NDVI • canopy • stand</a:t>
            </a:r>
          </a:p>
        </p:txBody>
      </p:sp>
      <p:sp>
        <p:nvSpPr>
          <p:cNvPr id="89" name="Line 89"/>
          <p:cNvSpPr/>
          <p:nvPr/>
        </p:nvSpPr>
        <p:spPr>
          <a:xfrm flipH="1">
            <a:off x="6096000" y="3429000"/>
            <a:ext cx="76200" cy="1381125"/>
          </a:xfrm>
          <a:prstGeom prst="line">
            <a:avLst/>
          </a:prstGeom>
          <a:noFill/>
          <a:ln w="19050">
            <a:solidFill>
              <a:srgbClr val="27D8FF">
                <a:alpha val="90000"/>
              </a:srgbClr>
            </a:solidFill>
            <a:tailEnd type="triangle" w="lg" len="lg"/>
          </a:ln>
        </p:spPr>
      </p:sp>
      <p:sp>
        <p:nvSpPr>
          <p:cNvPr id="90" name="Rectangle 90"/>
          <p:cNvSpPr/>
          <p:nvPr/>
        </p:nvSpPr>
        <p:spPr>
          <a:xfrm>
            <a:off x="7467600" y="2428875"/>
            <a:ext cx="1952625" cy="1000125"/>
          </a:xfrm>
          <a:prstGeom prst="roundRect">
            <a:avLst>
              <a:gd name="adj" fmla="val 13333"/>
            </a:avLst>
          </a:prstGeom>
          <a:solidFill>
            <a:srgbClr val="0A1A2D">
              <a:alpha val="96000"/>
            </a:srgbClr>
          </a:solidFill>
          <a:ln w="13335">
            <a:solidFill>
              <a:srgbClr val="FF4FD8">
                <a:alpha val="96000"/>
              </a:srgbClr>
            </a:solidFill>
          </a:ln>
        </p:spPr>
      </p:sp>
      <p:sp>
        <p:nvSpPr>
          <p:cNvPr id="91" name="TextBox 91"/>
          <p:cNvSpPr txBox="1"/>
          <p:nvPr/>
        </p:nvSpPr>
        <p:spPr>
          <a:xfrm>
            <a:off x="7620000" y="2562225"/>
            <a:ext cx="210835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EAF7FF"/>
                </a:solidFill>
                <a:latin typeface="Arial"/>
                <a:ea typeface="Microsoft YaHei"/>
                <a:cs typeface="Arial"/>
              </a:rPr>
              <a:t>Machine telemetry</a:t>
            </a:r>
          </a:p>
        </p:txBody>
      </p:sp>
      <p:sp>
        <p:nvSpPr>
          <p:cNvPr id="92" name="TextBox 92"/>
          <p:cNvSpPr txBox="1"/>
          <p:nvPr/>
        </p:nvSpPr>
        <p:spPr>
          <a:xfrm>
            <a:off x="7626668" y="2876074"/>
            <a:ext cx="133483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8CB5CC"/>
                </a:solidFill>
                <a:latin typeface="Consolas"/>
                <a:ea typeface="Microsoft YaHei"/>
                <a:cs typeface="Consolas"/>
              </a:rPr>
              <a:t>speed • fuel • path</a:t>
            </a:r>
          </a:p>
        </p:txBody>
      </p:sp>
      <p:sp>
        <p:nvSpPr>
          <p:cNvPr id="93" name="Line 93"/>
          <p:cNvSpPr/>
          <p:nvPr/>
        </p:nvSpPr>
        <p:spPr>
          <a:xfrm flipH="1">
            <a:off x="6096000" y="3429000"/>
            <a:ext cx="2343150" cy="1381125"/>
          </a:xfrm>
          <a:prstGeom prst="line">
            <a:avLst/>
          </a:prstGeom>
          <a:noFill/>
          <a:ln w="19050">
            <a:solidFill>
              <a:srgbClr val="27D8FF">
                <a:alpha val="90000"/>
              </a:srgbClr>
            </a:solidFill>
            <a:tailEnd type="triangle" w="lg" len="lg"/>
          </a:ln>
        </p:spPr>
      </p:sp>
      <p:sp>
        <p:nvSpPr>
          <p:cNvPr id="94" name="Rectangle 94"/>
          <p:cNvSpPr/>
          <p:nvPr/>
        </p:nvSpPr>
        <p:spPr>
          <a:xfrm>
            <a:off x="9734550" y="2428875"/>
            <a:ext cx="1952625" cy="1000125"/>
          </a:xfrm>
          <a:prstGeom prst="roundRect">
            <a:avLst>
              <a:gd name="adj" fmla="val 13333"/>
            </a:avLst>
          </a:prstGeom>
          <a:solidFill>
            <a:srgbClr val="0A1A2D">
              <a:alpha val="96000"/>
            </a:srgbClr>
          </a:solidFill>
          <a:ln w="13335">
            <a:solidFill>
              <a:srgbClr val="7BE8FF">
                <a:alpha val="96000"/>
              </a:srgbClr>
            </a:solidFill>
          </a:ln>
        </p:spPr>
      </p:sp>
      <p:sp>
        <p:nvSpPr>
          <p:cNvPr id="95" name="TextBox 95"/>
          <p:cNvSpPr txBox="1"/>
          <p:nvPr/>
        </p:nvSpPr>
        <p:spPr>
          <a:xfrm>
            <a:off x="9886950" y="2562225"/>
            <a:ext cx="1372267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EAF7FF"/>
                </a:solidFill>
                <a:latin typeface="Arial"/>
                <a:ea typeface="Microsoft YaHei"/>
                <a:cs typeface="Arial"/>
              </a:rPr>
              <a:t>Scout notes</a:t>
            </a:r>
          </a:p>
        </p:txBody>
      </p:sp>
      <p:sp>
        <p:nvSpPr>
          <p:cNvPr id="96" name="TextBox 96"/>
          <p:cNvSpPr txBox="1"/>
          <p:nvPr/>
        </p:nvSpPr>
        <p:spPr>
          <a:xfrm>
            <a:off x="9893618" y="2876074"/>
            <a:ext cx="166235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8CB5CC"/>
                </a:solidFill>
                <a:latin typeface="Consolas"/>
                <a:ea typeface="Microsoft YaHei"/>
                <a:cs typeface="Consolas"/>
              </a:rPr>
              <a:t>pests • weeds • damage</a:t>
            </a:r>
          </a:p>
        </p:txBody>
      </p:sp>
      <p:sp>
        <p:nvSpPr>
          <p:cNvPr id="97" name="Line 97"/>
          <p:cNvSpPr/>
          <p:nvPr/>
        </p:nvSpPr>
        <p:spPr>
          <a:xfrm flipH="1">
            <a:off x="6096000" y="3429000"/>
            <a:ext cx="4610100" cy="1381125"/>
          </a:xfrm>
          <a:prstGeom prst="line">
            <a:avLst/>
          </a:prstGeom>
          <a:noFill/>
          <a:ln w="19050">
            <a:solidFill>
              <a:srgbClr val="27D8FF">
                <a:alpha val="90000"/>
              </a:srgbClr>
            </a:solidFill>
            <a:tailEnd type="triangle" w="lg" len="lg"/>
          </a:ln>
        </p:spPr>
      </p:sp>
      <p:sp>
        <p:nvSpPr>
          <p:cNvPr id="98" name="Rectangle 98"/>
          <p:cNvSpPr/>
          <p:nvPr/>
        </p:nvSpPr>
        <p:spPr>
          <a:xfrm>
            <a:off x="3905250" y="4781550"/>
            <a:ext cx="4381500" cy="819150"/>
          </a:xfrm>
          <a:prstGeom prst="roundRect">
            <a:avLst>
              <a:gd name="adj" fmla="val 20930"/>
            </a:avLst>
          </a:prstGeom>
          <a:solidFill>
            <a:srgbClr val="0D2238"/>
          </a:solidFill>
          <a:ln w="19050">
            <a:solidFill>
              <a:srgbClr val="27D8FF"/>
            </a:solidFill>
          </a:ln>
        </p:spPr>
      </p:sp>
      <p:sp>
        <p:nvSpPr>
          <p:cNvPr id="99" name="TextBox 99"/>
          <p:cNvSpPr txBox="1"/>
          <p:nvPr/>
        </p:nvSpPr>
        <p:spPr>
          <a:xfrm>
            <a:off x="4530090" y="5044440"/>
            <a:ext cx="2626643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EAF7FF"/>
                </a:solidFill>
                <a:latin typeface="Arial"/>
                <a:ea typeface="Microsoft YaHei"/>
                <a:cs typeface="Arial"/>
              </a:rPr>
              <a:t>Observation Fabric</a:t>
            </a:r>
          </a:p>
        </p:txBody>
      </p:sp>
      <p:sp>
        <p:nvSpPr>
          <p:cNvPr id="100" name="TextBox 100"/>
          <p:cNvSpPr txBox="1"/>
          <p:nvPr/>
        </p:nvSpPr>
        <p:spPr>
          <a:xfrm>
            <a:off x="4797742" y="5400199"/>
            <a:ext cx="230314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27D8FF"/>
                </a:solidFill>
                <a:latin typeface="Consolas"/>
                <a:ea typeface="Microsoft YaHei"/>
                <a:cs typeface="Consolas"/>
              </a:rPr>
              <a:t>timestamp + plot_id + confidence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11F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7524750" y="-1333500"/>
            <a:ext cx="4953000" cy="4953000"/>
          </a:xfrm>
          <a:prstGeom prst="ellipse">
            <a:avLst/>
          </a:prstGeom>
          <a:solidFill>
            <a:srgbClr val="27D8FF">
              <a:alpha val="55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-381000" y="3714750"/>
            <a:ext cx="4191000" cy="4191000"/>
          </a:xfrm>
          <a:prstGeom prst="ellipse">
            <a:avLst/>
          </a:prstGeom>
          <a:solidFill>
            <a:srgbClr val="62E58F">
              <a:alpha val="3500"/>
            </a:srgbClr>
          </a:solidFill>
          <a:ln>
            <a:noFill/>
          </a:ln>
        </p:spPr>
      </p:sp>
      <p:grpSp>
        <p:nvGrpSpPr>
          <p:cNvPr id="71" name="Group 71"/>
          <p:cNvGrpSpPr/>
          <p:nvPr/>
        </p:nvGrpSpPr>
        <p:grpSpPr>
          <a:xfrm>
            <a:off x="0" y="0"/>
            <a:ext cx="12201525" cy="6867525"/>
            <a:chOff x="0" y="0"/>
            <a:chExt cx="12201525" cy="6867525"/>
          </a:xfrm>
        </p:grpSpPr>
        <p:sp>
          <p:nvSpPr>
            <p:cNvPr id="5" name="Line 5"/>
            <p:cNvSpPr/>
            <p:nvPr/>
          </p:nvSpPr>
          <p:spPr>
            <a:xfrm>
              <a:off x="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381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762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1143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152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1905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228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2667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304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3429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3810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4191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4572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4953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533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5715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609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6477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685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24" name="Line 24"/>
            <p:cNvSpPr/>
            <p:nvPr/>
          </p:nvSpPr>
          <p:spPr>
            <a:xfrm>
              <a:off x="7239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7620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26" name="Line 26"/>
            <p:cNvSpPr/>
            <p:nvPr/>
          </p:nvSpPr>
          <p:spPr>
            <a:xfrm>
              <a:off x="8001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27" name="Line 27"/>
            <p:cNvSpPr/>
            <p:nvPr/>
          </p:nvSpPr>
          <p:spPr>
            <a:xfrm>
              <a:off x="8382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28" name="Line 28"/>
            <p:cNvSpPr/>
            <p:nvPr/>
          </p:nvSpPr>
          <p:spPr>
            <a:xfrm>
              <a:off x="8763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29" name="Line 29"/>
            <p:cNvSpPr/>
            <p:nvPr/>
          </p:nvSpPr>
          <p:spPr>
            <a:xfrm>
              <a:off x="914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30" name="Line 30"/>
            <p:cNvSpPr/>
            <p:nvPr/>
          </p:nvSpPr>
          <p:spPr>
            <a:xfrm>
              <a:off x="9525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31" name="Line 31"/>
            <p:cNvSpPr/>
            <p:nvPr/>
          </p:nvSpPr>
          <p:spPr>
            <a:xfrm>
              <a:off x="990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32" name="Line 32"/>
            <p:cNvSpPr/>
            <p:nvPr/>
          </p:nvSpPr>
          <p:spPr>
            <a:xfrm>
              <a:off x="10287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33" name="Line 33"/>
            <p:cNvSpPr/>
            <p:nvPr/>
          </p:nvSpPr>
          <p:spPr>
            <a:xfrm>
              <a:off x="1066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34" name="Line 34"/>
            <p:cNvSpPr/>
            <p:nvPr/>
          </p:nvSpPr>
          <p:spPr>
            <a:xfrm>
              <a:off x="11049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35" name="Line 35"/>
            <p:cNvSpPr/>
            <p:nvPr/>
          </p:nvSpPr>
          <p:spPr>
            <a:xfrm>
              <a:off x="11430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36" name="Line 36"/>
            <p:cNvSpPr/>
            <p:nvPr/>
          </p:nvSpPr>
          <p:spPr>
            <a:xfrm>
              <a:off x="11811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37" name="Line 37"/>
            <p:cNvSpPr/>
            <p:nvPr/>
          </p:nvSpPr>
          <p:spPr>
            <a:xfrm>
              <a:off x="12192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38" name="Line 38"/>
            <p:cNvSpPr/>
            <p:nvPr/>
          </p:nvSpPr>
          <p:spPr>
            <a:xfrm>
              <a:off x="0" y="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39" name="Line 39"/>
            <p:cNvSpPr/>
            <p:nvPr/>
          </p:nvSpPr>
          <p:spPr>
            <a:xfrm>
              <a:off x="0" y="381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40" name="Line 40"/>
            <p:cNvSpPr/>
            <p:nvPr/>
          </p:nvSpPr>
          <p:spPr>
            <a:xfrm>
              <a:off x="0" y="762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41" name="Line 41"/>
            <p:cNvSpPr/>
            <p:nvPr/>
          </p:nvSpPr>
          <p:spPr>
            <a:xfrm>
              <a:off x="0" y="1143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42" name="Line 42"/>
            <p:cNvSpPr/>
            <p:nvPr/>
          </p:nvSpPr>
          <p:spPr>
            <a:xfrm>
              <a:off x="0" y="1524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43" name="Line 43"/>
            <p:cNvSpPr/>
            <p:nvPr/>
          </p:nvSpPr>
          <p:spPr>
            <a:xfrm>
              <a:off x="0" y="1905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44" name="Line 44"/>
            <p:cNvSpPr/>
            <p:nvPr/>
          </p:nvSpPr>
          <p:spPr>
            <a:xfrm>
              <a:off x="0" y="2286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45" name="Line 45"/>
            <p:cNvSpPr/>
            <p:nvPr/>
          </p:nvSpPr>
          <p:spPr>
            <a:xfrm>
              <a:off x="0" y="2667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46" name="Line 46"/>
            <p:cNvSpPr/>
            <p:nvPr/>
          </p:nvSpPr>
          <p:spPr>
            <a:xfrm>
              <a:off x="0" y="3048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47" name="Line 47"/>
            <p:cNvSpPr/>
            <p:nvPr/>
          </p:nvSpPr>
          <p:spPr>
            <a:xfrm>
              <a:off x="0" y="3429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48" name="Line 48"/>
            <p:cNvSpPr/>
            <p:nvPr/>
          </p:nvSpPr>
          <p:spPr>
            <a:xfrm>
              <a:off x="0" y="3810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49" name="Line 49"/>
            <p:cNvSpPr/>
            <p:nvPr/>
          </p:nvSpPr>
          <p:spPr>
            <a:xfrm>
              <a:off x="0" y="4191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50" name="Line 50"/>
            <p:cNvSpPr/>
            <p:nvPr/>
          </p:nvSpPr>
          <p:spPr>
            <a:xfrm>
              <a:off x="0" y="4572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51" name="Line 51"/>
            <p:cNvSpPr/>
            <p:nvPr/>
          </p:nvSpPr>
          <p:spPr>
            <a:xfrm>
              <a:off x="0" y="4953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52" name="Line 52"/>
            <p:cNvSpPr/>
            <p:nvPr/>
          </p:nvSpPr>
          <p:spPr>
            <a:xfrm>
              <a:off x="0" y="5334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53" name="Line 53"/>
            <p:cNvSpPr/>
            <p:nvPr/>
          </p:nvSpPr>
          <p:spPr>
            <a:xfrm>
              <a:off x="0" y="5715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54" name="Line 54"/>
            <p:cNvSpPr/>
            <p:nvPr/>
          </p:nvSpPr>
          <p:spPr>
            <a:xfrm>
              <a:off x="0" y="6096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55" name="Line 55"/>
            <p:cNvSpPr/>
            <p:nvPr/>
          </p:nvSpPr>
          <p:spPr>
            <a:xfrm>
              <a:off x="0" y="6477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56" name="Line 56"/>
            <p:cNvSpPr/>
            <p:nvPr/>
          </p:nvSpPr>
          <p:spPr>
            <a:xfrm>
              <a:off x="0" y="6858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57" name="Line 57"/>
            <p:cNvSpPr/>
            <p:nvPr/>
          </p:nvSpPr>
          <p:spPr>
            <a:xfrm>
              <a:off x="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5715">
              <a:solidFill>
                <a:srgbClr val="27D8FF">
                  <a:alpha val="16000"/>
                </a:srgbClr>
              </a:solidFill>
            </a:ln>
          </p:spPr>
        </p:sp>
        <p:sp>
          <p:nvSpPr>
            <p:cNvPr id="58" name="Line 58"/>
            <p:cNvSpPr/>
            <p:nvPr/>
          </p:nvSpPr>
          <p:spPr>
            <a:xfrm>
              <a:off x="152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5715">
              <a:solidFill>
                <a:srgbClr val="27D8FF">
                  <a:alpha val="16000"/>
                </a:srgbClr>
              </a:solidFill>
            </a:ln>
          </p:spPr>
        </p:sp>
        <p:sp>
          <p:nvSpPr>
            <p:cNvPr id="59" name="Line 59"/>
            <p:cNvSpPr/>
            <p:nvPr/>
          </p:nvSpPr>
          <p:spPr>
            <a:xfrm>
              <a:off x="304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5715">
              <a:solidFill>
                <a:srgbClr val="27D8FF">
                  <a:alpha val="16000"/>
                </a:srgbClr>
              </a:solidFill>
            </a:ln>
          </p:spPr>
        </p:sp>
        <p:sp>
          <p:nvSpPr>
            <p:cNvPr id="60" name="Line 60"/>
            <p:cNvSpPr/>
            <p:nvPr/>
          </p:nvSpPr>
          <p:spPr>
            <a:xfrm>
              <a:off x="4572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5715">
              <a:solidFill>
                <a:srgbClr val="27D8FF">
                  <a:alpha val="16000"/>
                </a:srgbClr>
              </a:solidFill>
            </a:ln>
          </p:spPr>
        </p:sp>
        <p:sp>
          <p:nvSpPr>
            <p:cNvPr id="61" name="Line 61"/>
            <p:cNvSpPr/>
            <p:nvPr/>
          </p:nvSpPr>
          <p:spPr>
            <a:xfrm>
              <a:off x="609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5715">
              <a:solidFill>
                <a:srgbClr val="27D8FF">
                  <a:alpha val="16000"/>
                </a:srgbClr>
              </a:solidFill>
            </a:ln>
          </p:spPr>
        </p:sp>
        <p:sp>
          <p:nvSpPr>
            <p:cNvPr id="62" name="Line 62"/>
            <p:cNvSpPr/>
            <p:nvPr/>
          </p:nvSpPr>
          <p:spPr>
            <a:xfrm>
              <a:off x="7620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5715">
              <a:solidFill>
                <a:srgbClr val="27D8FF">
                  <a:alpha val="16000"/>
                </a:srgbClr>
              </a:solidFill>
            </a:ln>
          </p:spPr>
        </p:sp>
        <p:sp>
          <p:nvSpPr>
            <p:cNvPr id="63" name="Line 63"/>
            <p:cNvSpPr/>
            <p:nvPr/>
          </p:nvSpPr>
          <p:spPr>
            <a:xfrm>
              <a:off x="914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5715">
              <a:solidFill>
                <a:srgbClr val="27D8FF">
                  <a:alpha val="16000"/>
                </a:srgbClr>
              </a:solidFill>
            </a:ln>
          </p:spPr>
        </p:sp>
        <p:sp>
          <p:nvSpPr>
            <p:cNvPr id="64" name="Line 64"/>
            <p:cNvSpPr/>
            <p:nvPr/>
          </p:nvSpPr>
          <p:spPr>
            <a:xfrm>
              <a:off x="1066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5715">
              <a:solidFill>
                <a:srgbClr val="27D8FF">
                  <a:alpha val="16000"/>
                </a:srgbClr>
              </a:solidFill>
            </a:ln>
          </p:spPr>
        </p:sp>
        <p:sp>
          <p:nvSpPr>
            <p:cNvPr id="65" name="Line 65"/>
            <p:cNvSpPr/>
            <p:nvPr/>
          </p:nvSpPr>
          <p:spPr>
            <a:xfrm>
              <a:off x="12192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5715">
              <a:solidFill>
                <a:srgbClr val="27D8FF">
                  <a:alpha val="16000"/>
                </a:srgbClr>
              </a:solidFill>
            </a:ln>
          </p:spPr>
        </p:sp>
        <p:sp>
          <p:nvSpPr>
            <p:cNvPr id="66" name="Line 66"/>
            <p:cNvSpPr/>
            <p:nvPr/>
          </p:nvSpPr>
          <p:spPr>
            <a:xfrm>
              <a:off x="0" y="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5715">
              <a:solidFill>
                <a:srgbClr val="27D8FF">
                  <a:alpha val="16000"/>
                </a:srgbClr>
              </a:solidFill>
            </a:ln>
          </p:spPr>
        </p:sp>
        <p:sp>
          <p:nvSpPr>
            <p:cNvPr id="67" name="Line 67"/>
            <p:cNvSpPr/>
            <p:nvPr/>
          </p:nvSpPr>
          <p:spPr>
            <a:xfrm>
              <a:off x="0" y="1524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5715">
              <a:solidFill>
                <a:srgbClr val="27D8FF">
                  <a:alpha val="16000"/>
                </a:srgbClr>
              </a:solidFill>
            </a:ln>
          </p:spPr>
        </p:sp>
        <p:sp>
          <p:nvSpPr>
            <p:cNvPr id="68" name="Line 68"/>
            <p:cNvSpPr/>
            <p:nvPr/>
          </p:nvSpPr>
          <p:spPr>
            <a:xfrm>
              <a:off x="0" y="3048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5715">
              <a:solidFill>
                <a:srgbClr val="27D8FF">
                  <a:alpha val="16000"/>
                </a:srgbClr>
              </a:solidFill>
            </a:ln>
          </p:spPr>
        </p:sp>
        <p:sp>
          <p:nvSpPr>
            <p:cNvPr id="69" name="Line 69"/>
            <p:cNvSpPr/>
            <p:nvPr/>
          </p:nvSpPr>
          <p:spPr>
            <a:xfrm>
              <a:off x="0" y="4572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5715">
              <a:solidFill>
                <a:srgbClr val="27D8FF">
                  <a:alpha val="16000"/>
                </a:srgbClr>
              </a:solidFill>
            </a:ln>
          </p:spPr>
        </p:sp>
        <p:sp>
          <p:nvSpPr>
            <p:cNvPr id="70" name="Line 70"/>
            <p:cNvSpPr/>
            <p:nvPr/>
          </p:nvSpPr>
          <p:spPr>
            <a:xfrm>
              <a:off x="0" y="6096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5715">
              <a:solidFill>
                <a:srgbClr val="27D8FF">
                  <a:alpha val="16000"/>
                </a:srgbClr>
              </a:solidFill>
            </a:ln>
          </p:spPr>
        </p:sp>
      </p:grpSp>
      <p:sp>
        <p:nvSpPr>
          <p:cNvPr id="72" name="TextBox 72"/>
          <p:cNvSpPr txBox="1"/>
          <p:nvPr/>
        </p:nvSpPr>
        <p:spPr>
          <a:xfrm>
            <a:off x="347662" y="240506"/>
            <a:ext cx="229600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27D8FF">
                    <a:alphaMod val="88000"/>
                  </a:srgbClr>
                </a:solidFill>
                <a:latin typeface="Consolas"/>
                <a:ea typeface="Microsoft YaHei"/>
                <a:cs typeface="Consolas"/>
              </a:rPr>
              <a:t>AGRI_AI_OS // BLUEPRINT::03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10606088" y="240506"/>
            <a:ext cx="71044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8CB5CC"/>
                </a:solidFill>
                <a:latin typeface="Consolas"/>
                <a:ea typeface="Microsoft YaHei"/>
                <a:cs typeface="Consolas"/>
              </a:rPr>
              <a:t>1280×720</a:t>
            </a:r>
          </a:p>
        </p:txBody>
      </p:sp>
      <p:sp>
        <p:nvSpPr>
          <p:cNvPr id="74" name="Line 74"/>
          <p:cNvSpPr/>
          <p:nvPr/>
        </p:nvSpPr>
        <p:spPr>
          <a:xfrm>
            <a:off x="361950" y="495300"/>
            <a:ext cx="11468100" cy="9525"/>
          </a:xfrm>
          <a:custGeom>
            <a:avLst/>
            <a:gdLst/>
            <a:ahLst/>
            <a:cxnLst/>
            <a:rect l="l" t="t" r="r" b="b"/>
            <a:pathLst>
              <a:path w="11468100" h="9525">
                <a:moveTo>
                  <a:pt x="0" y="0"/>
                </a:moveTo>
                <a:lnTo>
                  <a:pt x="11468100" y="0"/>
                </a:lnTo>
              </a:path>
            </a:pathLst>
          </a:custGeom>
          <a:noFill/>
          <a:ln w="9525">
            <a:solidFill>
              <a:srgbClr val="27D8FF">
                <a:alpha val="45000"/>
              </a:srgbClr>
            </a:solidFill>
          </a:ln>
        </p:spPr>
      </p:sp>
      <p:sp>
        <p:nvSpPr>
          <p:cNvPr id="75" name="TextBox 75"/>
          <p:cNvSpPr txBox="1"/>
          <p:nvPr/>
        </p:nvSpPr>
        <p:spPr>
          <a:xfrm>
            <a:off x="521970" y="731520"/>
            <a:ext cx="9501340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EAF7FF"/>
                </a:solidFill>
                <a:latin typeface="Arial"/>
                <a:ea typeface="Microsoft YaHei"/>
                <a:cs typeface="Arial"/>
              </a:rPr>
              <a:t>The farm data plane normalizes messy signals before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521970" y="1112520"/>
            <a:ext cx="2968523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EAF7FF"/>
                </a:solidFill>
                <a:latin typeface="Arial"/>
                <a:ea typeface="Microsoft YaHei"/>
                <a:cs typeface="Arial"/>
              </a:rPr>
              <a:t>models see them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554355" y="1511618"/>
            <a:ext cx="916314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8CB5CC"/>
                </a:solidFill>
                <a:latin typeface="Arial"/>
                <a:ea typeface="Microsoft YaHei"/>
                <a:cs typeface="Arial"/>
              </a:rPr>
              <a:t>A lakehouse and event bus clean, align, and label farm data across plots, time, and equipment.</a:t>
            </a:r>
          </a:p>
        </p:txBody>
      </p:sp>
      <p:sp>
        <p:nvSpPr>
          <p:cNvPr id="78" name="Rectangle 78"/>
          <p:cNvSpPr/>
          <p:nvPr/>
        </p:nvSpPr>
        <p:spPr>
          <a:xfrm>
            <a:off x="2857500" y="2238375"/>
            <a:ext cx="6477000" cy="609600"/>
          </a:xfrm>
          <a:prstGeom prst="roundRect">
            <a:avLst>
              <a:gd name="adj" fmla="val 21875"/>
            </a:avLst>
          </a:prstGeom>
          <a:solidFill>
            <a:srgbClr val="0A1A2D">
              <a:alpha val="96000"/>
            </a:srgbClr>
          </a:solidFill>
          <a:ln w="13335">
            <a:solidFill>
              <a:srgbClr val="62E58F">
                <a:alpha val="96000"/>
              </a:srgbClr>
            </a:solidFill>
          </a:ln>
        </p:spPr>
      </p:sp>
      <p:sp>
        <p:nvSpPr>
          <p:cNvPr id="79" name="TextBox 79"/>
          <p:cNvSpPr txBox="1"/>
          <p:nvPr/>
        </p:nvSpPr>
        <p:spPr>
          <a:xfrm>
            <a:off x="3009900" y="2371725"/>
            <a:ext cx="136076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EAF7FF"/>
                </a:solidFill>
                <a:latin typeface="Arial"/>
                <a:ea typeface="Microsoft YaHei"/>
                <a:cs typeface="Arial"/>
              </a:rPr>
              <a:t>RAW LANDING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3016568" y="2685574"/>
            <a:ext cx="215362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8CB5CC"/>
                </a:solidFill>
                <a:latin typeface="Consolas"/>
                <a:ea typeface="Microsoft YaHei"/>
                <a:cs typeface="Consolas"/>
              </a:rPr>
              <a:t>sensor packets / images / logs</a:t>
            </a:r>
          </a:p>
        </p:txBody>
      </p:sp>
      <p:sp>
        <p:nvSpPr>
          <p:cNvPr id="81" name="Line 81"/>
          <p:cNvSpPr/>
          <p:nvPr/>
        </p:nvSpPr>
        <p:spPr>
          <a:xfrm>
            <a:off x="6096000" y="2847975"/>
            <a:ext cx="1" cy="219075"/>
          </a:xfrm>
          <a:prstGeom prst="line">
            <a:avLst/>
          </a:prstGeom>
          <a:noFill/>
          <a:ln w="19050">
            <a:solidFill>
              <a:srgbClr val="27D8FF">
                <a:alpha val="90000"/>
              </a:srgbClr>
            </a:solidFill>
            <a:tailEnd type="triangle" w="lg" len="lg"/>
          </a:ln>
        </p:spPr>
      </p:sp>
      <p:sp>
        <p:nvSpPr>
          <p:cNvPr id="82" name="Rectangle 82"/>
          <p:cNvSpPr/>
          <p:nvPr/>
        </p:nvSpPr>
        <p:spPr>
          <a:xfrm>
            <a:off x="2857500" y="3114675"/>
            <a:ext cx="6477000" cy="609600"/>
          </a:xfrm>
          <a:prstGeom prst="roundRect">
            <a:avLst>
              <a:gd name="adj" fmla="val 21875"/>
            </a:avLst>
          </a:prstGeom>
          <a:solidFill>
            <a:srgbClr val="0A1A2D">
              <a:alpha val="96000"/>
            </a:srgbClr>
          </a:solidFill>
          <a:ln w="13335">
            <a:solidFill>
              <a:srgbClr val="27D8FF">
                <a:alpha val="96000"/>
              </a:srgbClr>
            </a:solidFill>
          </a:ln>
        </p:spPr>
      </p:sp>
      <p:sp>
        <p:nvSpPr>
          <p:cNvPr id="83" name="TextBox 83"/>
          <p:cNvSpPr txBox="1"/>
          <p:nvPr/>
        </p:nvSpPr>
        <p:spPr>
          <a:xfrm>
            <a:off x="3009900" y="3248025"/>
            <a:ext cx="148728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EAF7FF"/>
                </a:solidFill>
                <a:latin typeface="Arial"/>
                <a:ea typeface="Microsoft YaHei"/>
                <a:cs typeface="Arial"/>
              </a:rPr>
              <a:t>QUALITY GATE</a:t>
            </a:r>
          </a:p>
        </p:txBody>
      </p:sp>
      <p:sp>
        <p:nvSpPr>
          <p:cNvPr id="84" name="TextBox 84"/>
          <p:cNvSpPr txBox="1"/>
          <p:nvPr/>
        </p:nvSpPr>
        <p:spPr>
          <a:xfrm>
            <a:off x="3016568" y="3561874"/>
            <a:ext cx="201122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8CB5CC"/>
                </a:solidFill>
                <a:latin typeface="Consolas"/>
                <a:ea typeface="Microsoft YaHei"/>
                <a:cs typeface="Consolas"/>
              </a:rPr>
              <a:t>dedupe / validate / calibrate</a:t>
            </a:r>
          </a:p>
        </p:txBody>
      </p:sp>
      <p:sp>
        <p:nvSpPr>
          <p:cNvPr id="85" name="Line 85"/>
          <p:cNvSpPr/>
          <p:nvPr/>
        </p:nvSpPr>
        <p:spPr>
          <a:xfrm>
            <a:off x="6096000" y="3724275"/>
            <a:ext cx="1" cy="219075"/>
          </a:xfrm>
          <a:prstGeom prst="line">
            <a:avLst/>
          </a:prstGeom>
          <a:noFill/>
          <a:ln w="19050">
            <a:solidFill>
              <a:srgbClr val="27D8FF">
                <a:alpha val="90000"/>
              </a:srgbClr>
            </a:solidFill>
            <a:tailEnd type="triangle" w="lg" len="lg"/>
          </a:ln>
        </p:spPr>
      </p:sp>
      <p:sp>
        <p:nvSpPr>
          <p:cNvPr id="86" name="Rectangle 86"/>
          <p:cNvSpPr/>
          <p:nvPr/>
        </p:nvSpPr>
        <p:spPr>
          <a:xfrm>
            <a:off x="2857500" y="3990975"/>
            <a:ext cx="6477000" cy="609600"/>
          </a:xfrm>
          <a:prstGeom prst="roundRect">
            <a:avLst>
              <a:gd name="adj" fmla="val 21875"/>
            </a:avLst>
          </a:prstGeom>
          <a:solidFill>
            <a:srgbClr val="0A1A2D">
              <a:alpha val="96000"/>
            </a:srgbClr>
          </a:solidFill>
          <a:ln w="13335">
            <a:solidFill>
              <a:srgbClr val="62E58F">
                <a:alpha val="96000"/>
              </a:srgbClr>
            </a:solidFill>
          </a:ln>
        </p:spPr>
      </p:sp>
      <p:sp>
        <p:nvSpPr>
          <p:cNvPr id="87" name="TextBox 87"/>
          <p:cNvSpPr txBox="1"/>
          <p:nvPr/>
        </p:nvSpPr>
        <p:spPr>
          <a:xfrm>
            <a:off x="3009900" y="4124325"/>
            <a:ext cx="2338387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EAF7FF"/>
                </a:solidFill>
                <a:latin typeface="Arial"/>
                <a:ea typeface="Microsoft YaHei"/>
                <a:cs typeface="Arial"/>
              </a:rPr>
              <a:t>GEO-TEMPORAL ALIGN</a:t>
            </a:r>
          </a:p>
        </p:txBody>
      </p:sp>
      <p:sp>
        <p:nvSpPr>
          <p:cNvPr id="88" name="TextBox 88"/>
          <p:cNvSpPr txBox="1"/>
          <p:nvPr/>
        </p:nvSpPr>
        <p:spPr>
          <a:xfrm>
            <a:off x="3016568" y="4438174"/>
            <a:ext cx="249538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8CB5CC"/>
                </a:solidFill>
                <a:latin typeface="Consolas"/>
                <a:ea typeface="Microsoft YaHei"/>
                <a:cs typeface="Consolas"/>
              </a:rPr>
              <a:t>plot boundary / timestamp / season</a:t>
            </a:r>
          </a:p>
        </p:txBody>
      </p:sp>
      <p:sp>
        <p:nvSpPr>
          <p:cNvPr id="89" name="Line 89"/>
          <p:cNvSpPr/>
          <p:nvPr/>
        </p:nvSpPr>
        <p:spPr>
          <a:xfrm>
            <a:off x="6096000" y="4600575"/>
            <a:ext cx="1" cy="219075"/>
          </a:xfrm>
          <a:prstGeom prst="line">
            <a:avLst/>
          </a:prstGeom>
          <a:noFill/>
          <a:ln w="19050">
            <a:solidFill>
              <a:srgbClr val="27D8FF">
                <a:alpha val="90000"/>
              </a:srgbClr>
            </a:solidFill>
            <a:tailEnd type="triangle" w="lg" len="lg"/>
          </a:ln>
        </p:spPr>
      </p:sp>
      <p:sp>
        <p:nvSpPr>
          <p:cNvPr id="90" name="Rectangle 90"/>
          <p:cNvSpPr/>
          <p:nvPr/>
        </p:nvSpPr>
        <p:spPr>
          <a:xfrm>
            <a:off x="2857500" y="4867275"/>
            <a:ext cx="6477000" cy="609600"/>
          </a:xfrm>
          <a:prstGeom prst="roundRect">
            <a:avLst>
              <a:gd name="adj" fmla="val 21875"/>
            </a:avLst>
          </a:prstGeom>
          <a:solidFill>
            <a:srgbClr val="0A1A2D">
              <a:alpha val="96000"/>
            </a:srgbClr>
          </a:solidFill>
          <a:ln w="13335">
            <a:solidFill>
              <a:srgbClr val="27D8FF">
                <a:alpha val="96000"/>
              </a:srgbClr>
            </a:solidFill>
          </a:ln>
        </p:spPr>
      </p:sp>
      <p:sp>
        <p:nvSpPr>
          <p:cNvPr id="91" name="TextBox 91"/>
          <p:cNvSpPr txBox="1"/>
          <p:nvPr/>
        </p:nvSpPr>
        <p:spPr>
          <a:xfrm>
            <a:off x="3009900" y="5000625"/>
            <a:ext cx="167130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EAF7FF"/>
                </a:solidFill>
                <a:latin typeface="Arial"/>
                <a:ea typeface="Microsoft YaHei"/>
                <a:cs typeface="Arial"/>
              </a:rPr>
              <a:t>FEATURE STORE</a:t>
            </a:r>
          </a:p>
        </p:txBody>
      </p:sp>
      <p:sp>
        <p:nvSpPr>
          <p:cNvPr id="92" name="TextBox 92"/>
          <p:cNvSpPr txBox="1"/>
          <p:nvPr/>
        </p:nvSpPr>
        <p:spPr>
          <a:xfrm>
            <a:off x="3016568" y="5314474"/>
            <a:ext cx="228890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8CB5CC"/>
                </a:solidFill>
                <a:latin typeface="Consolas"/>
                <a:ea typeface="Microsoft YaHei"/>
                <a:cs typeface="Consolas"/>
              </a:rPr>
              <a:t>model-ready agronomic features</a:t>
            </a:r>
          </a:p>
        </p:txBody>
      </p:sp>
      <p:sp>
        <p:nvSpPr>
          <p:cNvPr id="93" name="TextBox 93"/>
          <p:cNvSpPr txBox="1"/>
          <p:nvPr/>
        </p:nvSpPr>
        <p:spPr>
          <a:xfrm>
            <a:off x="1111568" y="2514124"/>
            <a:ext cx="69403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27D8FF"/>
                </a:solidFill>
                <a:latin typeface="Consolas"/>
                <a:ea typeface="Microsoft YaHei"/>
                <a:cs typeface="Consolas"/>
              </a:rPr>
              <a:t>EVENT BUS</a:t>
            </a:r>
          </a:p>
        </p:txBody>
      </p:sp>
      <p:sp>
        <p:nvSpPr>
          <p:cNvPr id="94" name="TextBox 94"/>
          <p:cNvSpPr txBox="1"/>
          <p:nvPr/>
        </p:nvSpPr>
        <p:spPr>
          <a:xfrm>
            <a:off x="9845992" y="2514124"/>
            <a:ext cx="111411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27D8FF"/>
                </a:solidFill>
                <a:latin typeface="Consolas"/>
                <a:ea typeface="Microsoft YaHei"/>
                <a:cs typeface="Consolas"/>
              </a:rPr>
              <a:t>DATA CONTRACTS</a:t>
            </a:r>
          </a:p>
        </p:txBody>
      </p:sp>
      <p:sp>
        <p:nvSpPr>
          <p:cNvPr id="95" name="Line 95"/>
          <p:cNvSpPr/>
          <p:nvPr/>
        </p:nvSpPr>
        <p:spPr>
          <a:xfrm>
            <a:off x="1714500" y="25431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9525">
            <a:solidFill>
              <a:srgbClr val="27D8FF"/>
            </a:solidFill>
            <a:custDash>
              <a:ds d="600000" sp="600000"/>
            </a:custDash>
          </a:ln>
        </p:spPr>
      </p:sp>
      <p:sp>
        <p:nvSpPr>
          <p:cNvPr id="96" name="Line 96"/>
          <p:cNvSpPr/>
          <p:nvPr/>
        </p:nvSpPr>
        <p:spPr>
          <a:xfrm>
            <a:off x="9334500" y="25431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9525">
            <a:solidFill>
              <a:srgbClr val="62E58F"/>
            </a:solidFill>
            <a:custDash>
              <a:ds d="600000" sp="600000"/>
            </a:custDash>
          </a:ln>
        </p:spPr>
      </p:sp>
      <p:sp>
        <p:nvSpPr>
          <p:cNvPr id="97" name="Line 97"/>
          <p:cNvSpPr/>
          <p:nvPr/>
        </p:nvSpPr>
        <p:spPr>
          <a:xfrm>
            <a:off x="1714500" y="34194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9525">
            <a:solidFill>
              <a:srgbClr val="27D8FF"/>
            </a:solidFill>
            <a:custDash>
              <a:ds d="600000" sp="600000"/>
            </a:custDash>
          </a:ln>
        </p:spPr>
      </p:sp>
      <p:sp>
        <p:nvSpPr>
          <p:cNvPr id="98" name="Line 98"/>
          <p:cNvSpPr/>
          <p:nvPr/>
        </p:nvSpPr>
        <p:spPr>
          <a:xfrm>
            <a:off x="9334500" y="34194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9525">
            <a:solidFill>
              <a:srgbClr val="62E58F"/>
            </a:solidFill>
            <a:custDash>
              <a:ds d="600000" sp="600000"/>
            </a:custDash>
          </a:ln>
        </p:spPr>
      </p:sp>
      <p:sp>
        <p:nvSpPr>
          <p:cNvPr id="99" name="Line 99"/>
          <p:cNvSpPr/>
          <p:nvPr/>
        </p:nvSpPr>
        <p:spPr>
          <a:xfrm>
            <a:off x="1714500" y="42957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9525">
            <a:solidFill>
              <a:srgbClr val="27D8FF"/>
            </a:solidFill>
            <a:custDash>
              <a:ds d="600000" sp="600000"/>
            </a:custDash>
          </a:ln>
        </p:spPr>
      </p:sp>
      <p:sp>
        <p:nvSpPr>
          <p:cNvPr id="100" name="Line 100"/>
          <p:cNvSpPr/>
          <p:nvPr/>
        </p:nvSpPr>
        <p:spPr>
          <a:xfrm>
            <a:off x="9334500" y="42957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9525">
            <a:solidFill>
              <a:srgbClr val="62E58F"/>
            </a:solidFill>
            <a:custDash>
              <a:ds d="600000" sp="600000"/>
            </a:custDash>
          </a:ln>
        </p:spPr>
      </p:sp>
      <p:sp>
        <p:nvSpPr>
          <p:cNvPr id="101" name="Line 101"/>
          <p:cNvSpPr/>
          <p:nvPr/>
        </p:nvSpPr>
        <p:spPr>
          <a:xfrm>
            <a:off x="1714500" y="51720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9525">
            <a:solidFill>
              <a:srgbClr val="27D8FF"/>
            </a:solidFill>
            <a:custDash>
              <a:ds d="600000" sp="600000"/>
            </a:custDash>
          </a:ln>
        </p:spPr>
      </p:sp>
      <p:sp>
        <p:nvSpPr>
          <p:cNvPr id="102" name="Line 102"/>
          <p:cNvSpPr/>
          <p:nvPr/>
        </p:nvSpPr>
        <p:spPr>
          <a:xfrm>
            <a:off x="9334500" y="5172075"/>
            <a:ext cx="1143000" cy="9525"/>
          </a:xfrm>
          <a:custGeom>
            <a:avLst/>
            <a:gdLst/>
            <a:ahLst/>
            <a:cxnLst/>
            <a:rect l="l" t="t" r="r" b="b"/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/>
          <a:ln w="9525">
            <a:solidFill>
              <a:srgbClr val="62E58F"/>
            </a:solidFill>
            <a:custDash>
              <a:ds d="600000" sp="600000"/>
            </a:custDash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11F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7524750" y="-1333500"/>
            <a:ext cx="4953000" cy="4953000"/>
          </a:xfrm>
          <a:prstGeom prst="ellipse">
            <a:avLst/>
          </a:prstGeom>
          <a:solidFill>
            <a:srgbClr val="27D8FF">
              <a:alpha val="55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-381000" y="3714750"/>
            <a:ext cx="4191000" cy="4191000"/>
          </a:xfrm>
          <a:prstGeom prst="ellipse">
            <a:avLst/>
          </a:prstGeom>
          <a:solidFill>
            <a:srgbClr val="62E58F">
              <a:alpha val="3500"/>
            </a:srgbClr>
          </a:solidFill>
          <a:ln>
            <a:noFill/>
          </a:ln>
        </p:spPr>
      </p:sp>
      <p:grpSp>
        <p:nvGrpSpPr>
          <p:cNvPr id="71" name="Group 71"/>
          <p:cNvGrpSpPr/>
          <p:nvPr/>
        </p:nvGrpSpPr>
        <p:grpSpPr>
          <a:xfrm>
            <a:off x="0" y="0"/>
            <a:ext cx="12201525" cy="6867525"/>
            <a:chOff x="0" y="0"/>
            <a:chExt cx="12201525" cy="6867525"/>
          </a:xfrm>
        </p:grpSpPr>
        <p:sp>
          <p:nvSpPr>
            <p:cNvPr id="5" name="Line 5"/>
            <p:cNvSpPr/>
            <p:nvPr/>
          </p:nvSpPr>
          <p:spPr>
            <a:xfrm>
              <a:off x="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381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762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1143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152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1905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228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2667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304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3429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3810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4191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4572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4953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533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5715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609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6477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685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24" name="Line 24"/>
            <p:cNvSpPr/>
            <p:nvPr/>
          </p:nvSpPr>
          <p:spPr>
            <a:xfrm>
              <a:off x="7239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7620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26" name="Line 26"/>
            <p:cNvSpPr/>
            <p:nvPr/>
          </p:nvSpPr>
          <p:spPr>
            <a:xfrm>
              <a:off x="8001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27" name="Line 27"/>
            <p:cNvSpPr/>
            <p:nvPr/>
          </p:nvSpPr>
          <p:spPr>
            <a:xfrm>
              <a:off x="8382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28" name="Line 28"/>
            <p:cNvSpPr/>
            <p:nvPr/>
          </p:nvSpPr>
          <p:spPr>
            <a:xfrm>
              <a:off x="8763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29" name="Line 29"/>
            <p:cNvSpPr/>
            <p:nvPr/>
          </p:nvSpPr>
          <p:spPr>
            <a:xfrm>
              <a:off x="914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30" name="Line 30"/>
            <p:cNvSpPr/>
            <p:nvPr/>
          </p:nvSpPr>
          <p:spPr>
            <a:xfrm>
              <a:off x="9525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31" name="Line 31"/>
            <p:cNvSpPr/>
            <p:nvPr/>
          </p:nvSpPr>
          <p:spPr>
            <a:xfrm>
              <a:off x="990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32" name="Line 32"/>
            <p:cNvSpPr/>
            <p:nvPr/>
          </p:nvSpPr>
          <p:spPr>
            <a:xfrm>
              <a:off x="10287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33" name="Line 33"/>
            <p:cNvSpPr/>
            <p:nvPr/>
          </p:nvSpPr>
          <p:spPr>
            <a:xfrm>
              <a:off x="1066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34" name="Line 34"/>
            <p:cNvSpPr/>
            <p:nvPr/>
          </p:nvSpPr>
          <p:spPr>
            <a:xfrm>
              <a:off x="11049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35" name="Line 35"/>
            <p:cNvSpPr/>
            <p:nvPr/>
          </p:nvSpPr>
          <p:spPr>
            <a:xfrm>
              <a:off x="11430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36" name="Line 36"/>
            <p:cNvSpPr/>
            <p:nvPr/>
          </p:nvSpPr>
          <p:spPr>
            <a:xfrm>
              <a:off x="11811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37" name="Line 37"/>
            <p:cNvSpPr/>
            <p:nvPr/>
          </p:nvSpPr>
          <p:spPr>
            <a:xfrm>
              <a:off x="12192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38" name="Line 38"/>
            <p:cNvSpPr/>
            <p:nvPr/>
          </p:nvSpPr>
          <p:spPr>
            <a:xfrm>
              <a:off x="0" y="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39" name="Line 39"/>
            <p:cNvSpPr/>
            <p:nvPr/>
          </p:nvSpPr>
          <p:spPr>
            <a:xfrm>
              <a:off x="0" y="381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40" name="Line 40"/>
            <p:cNvSpPr/>
            <p:nvPr/>
          </p:nvSpPr>
          <p:spPr>
            <a:xfrm>
              <a:off x="0" y="762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41" name="Line 41"/>
            <p:cNvSpPr/>
            <p:nvPr/>
          </p:nvSpPr>
          <p:spPr>
            <a:xfrm>
              <a:off x="0" y="1143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42" name="Line 42"/>
            <p:cNvSpPr/>
            <p:nvPr/>
          </p:nvSpPr>
          <p:spPr>
            <a:xfrm>
              <a:off x="0" y="1524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43" name="Line 43"/>
            <p:cNvSpPr/>
            <p:nvPr/>
          </p:nvSpPr>
          <p:spPr>
            <a:xfrm>
              <a:off x="0" y="1905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44" name="Line 44"/>
            <p:cNvSpPr/>
            <p:nvPr/>
          </p:nvSpPr>
          <p:spPr>
            <a:xfrm>
              <a:off x="0" y="2286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45" name="Line 45"/>
            <p:cNvSpPr/>
            <p:nvPr/>
          </p:nvSpPr>
          <p:spPr>
            <a:xfrm>
              <a:off x="0" y="2667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46" name="Line 46"/>
            <p:cNvSpPr/>
            <p:nvPr/>
          </p:nvSpPr>
          <p:spPr>
            <a:xfrm>
              <a:off x="0" y="3048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47" name="Line 47"/>
            <p:cNvSpPr/>
            <p:nvPr/>
          </p:nvSpPr>
          <p:spPr>
            <a:xfrm>
              <a:off x="0" y="3429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48" name="Line 48"/>
            <p:cNvSpPr/>
            <p:nvPr/>
          </p:nvSpPr>
          <p:spPr>
            <a:xfrm>
              <a:off x="0" y="3810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49" name="Line 49"/>
            <p:cNvSpPr/>
            <p:nvPr/>
          </p:nvSpPr>
          <p:spPr>
            <a:xfrm>
              <a:off x="0" y="4191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50" name="Line 50"/>
            <p:cNvSpPr/>
            <p:nvPr/>
          </p:nvSpPr>
          <p:spPr>
            <a:xfrm>
              <a:off x="0" y="4572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51" name="Line 51"/>
            <p:cNvSpPr/>
            <p:nvPr/>
          </p:nvSpPr>
          <p:spPr>
            <a:xfrm>
              <a:off x="0" y="4953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52" name="Line 52"/>
            <p:cNvSpPr/>
            <p:nvPr/>
          </p:nvSpPr>
          <p:spPr>
            <a:xfrm>
              <a:off x="0" y="5334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53" name="Line 53"/>
            <p:cNvSpPr/>
            <p:nvPr/>
          </p:nvSpPr>
          <p:spPr>
            <a:xfrm>
              <a:off x="0" y="5715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54" name="Line 54"/>
            <p:cNvSpPr/>
            <p:nvPr/>
          </p:nvSpPr>
          <p:spPr>
            <a:xfrm>
              <a:off x="0" y="6096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55" name="Line 55"/>
            <p:cNvSpPr/>
            <p:nvPr/>
          </p:nvSpPr>
          <p:spPr>
            <a:xfrm>
              <a:off x="0" y="6477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56" name="Line 56"/>
            <p:cNvSpPr/>
            <p:nvPr/>
          </p:nvSpPr>
          <p:spPr>
            <a:xfrm>
              <a:off x="0" y="6858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57" name="Line 57"/>
            <p:cNvSpPr/>
            <p:nvPr/>
          </p:nvSpPr>
          <p:spPr>
            <a:xfrm>
              <a:off x="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5715">
              <a:solidFill>
                <a:srgbClr val="27D8FF">
                  <a:alpha val="16000"/>
                </a:srgbClr>
              </a:solidFill>
            </a:ln>
          </p:spPr>
        </p:sp>
        <p:sp>
          <p:nvSpPr>
            <p:cNvPr id="58" name="Line 58"/>
            <p:cNvSpPr/>
            <p:nvPr/>
          </p:nvSpPr>
          <p:spPr>
            <a:xfrm>
              <a:off x="152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5715">
              <a:solidFill>
                <a:srgbClr val="27D8FF">
                  <a:alpha val="16000"/>
                </a:srgbClr>
              </a:solidFill>
            </a:ln>
          </p:spPr>
        </p:sp>
        <p:sp>
          <p:nvSpPr>
            <p:cNvPr id="59" name="Line 59"/>
            <p:cNvSpPr/>
            <p:nvPr/>
          </p:nvSpPr>
          <p:spPr>
            <a:xfrm>
              <a:off x="304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5715">
              <a:solidFill>
                <a:srgbClr val="27D8FF">
                  <a:alpha val="16000"/>
                </a:srgbClr>
              </a:solidFill>
            </a:ln>
          </p:spPr>
        </p:sp>
        <p:sp>
          <p:nvSpPr>
            <p:cNvPr id="60" name="Line 60"/>
            <p:cNvSpPr/>
            <p:nvPr/>
          </p:nvSpPr>
          <p:spPr>
            <a:xfrm>
              <a:off x="4572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5715">
              <a:solidFill>
                <a:srgbClr val="27D8FF">
                  <a:alpha val="16000"/>
                </a:srgbClr>
              </a:solidFill>
            </a:ln>
          </p:spPr>
        </p:sp>
        <p:sp>
          <p:nvSpPr>
            <p:cNvPr id="61" name="Line 61"/>
            <p:cNvSpPr/>
            <p:nvPr/>
          </p:nvSpPr>
          <p:spPr>
            <a:xfrm>
              <a:off x="609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5715">
              <a:solidFill>
                <a:srgbClr val="27D8FF">
                  <a:alpha val="16000"/>
                </a:srgbClr>
              </a:solidFill>
            </a:ln>
          </p:spPr>
        </p:sp>
        <p:sp>
          <p:nvSpPr>
            <p:cNvPr id="62" name="Line 62"/>
            <p:cNvSpPr/>
            <p:nvPr/>
          </p:nvSpPr>
          <p:spPr>
            <a:xfrm>
              <a:off x="7620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5715">
              <a:solidFill>
                <a:srgbClr val="27D8FF">
                  <a:alpha val="16000"/>
                </a:srgbClr>
              </a:solidFill>
            </a:ln>
          </p:spPr>
        </p:sp>
        <p:sp>
          <p:nvSpPr>
            <p:cNvPr id="63" name="Line 63"/>
            <p:cNvSpPr/>
            <p:nvPr/>
          </p:nvSpPr>
          <p:spPr>
            <a:xfrm>
              <a:off x="914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5715">
              <a:solidFill>
                <a:srgbClr val="27D8FF">
                  <a:alpha val="16000"/>
                </a:srgbClr>
              </a:solidFill>
            </a:ln>
          </p:spPr>
        </p:sp>
        <p:sp>
          <p:nvSpPr>
            <p:cNvPr id="64" name="Line 64"/>
            <p:cNvSpPr/>
            <p:nvPr/>
          </p:nvSpPr>
          <p:spPr>
            <a:xfrm>
              <a:off x="1066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5715">
              <a:solidFill>
                <a:srgbClr val="27D8FF">
                  <a:alpha val="16000"/>
                </a:srgbClr>
              </a:solidFill>
            </a:ln>
          </p:spPr>
        </p:sp>
        <p:sp>
          <p:nvSpPr>
            <p:cNvPr id="65" name="Line 65"/>
            <p:cNvSpPr/>
            <p:nvPr/>
          </p:nvSpPr>
          <p:spPr>
            <a:xfrm>
              <a:off x="12192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5715">
              <a:solidFill>
                <a:srgbClr val="27D8FF">
                  <a:alpha val="16000"/>
                </a:srgbClr>
              </a:solidFill>
            </a:ln>
          </p:spPr>
        </p:sp>
        <p:sp>
          <p:nvSpPr>
            <p:cNvPr id="66" name="Line 66"/>
            <p:cNvSpPr/>
            <p:nvPr/>
          </p:nvSpPr>
          <p:spPr>
            <a:xfrm>
              <a:off x="0" y="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5715">
              <a:solidFill>
                <a:srgbClr val="27D8FF">
                  <a:alpha val="16000"/>
                </a:srgbClr>
              </a:solidFill>
            </a:ln>
          </p:spPr>
        </p:sp>
        <p:sp>
          <p:nvSpPr>
            <p:cNvPr id="67" name="Line 67"/>
            <p:cNvSpPr/>
            <p:nvPr/>
          </p:nvSpPr>
          <p:spPr>
            <a:xfrm>
              <a:off x="0" y="1524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5715">
              <a:solidFill>
                <a:srgbClr val="27D8FF">
                  <a:alpha val="16000"/>
                </a:srgbClr>
              </a:solidFill>
            </a:ln>
          </p:spPr>
        </p:sp>
        <p:sp>
          <p:nvSpPr>
            <p:cNvPr id="68" name="Line 68"/>
            <p:cNvSpPr/>
            <p:nvPr/>
          </p:nvSpPr>
          <p:spPr>
            <a:xfrm>
              <a:off x="0" y="3048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5715">
              <a:solidFill>
                <a:srgbClr val="27D8FF">
                  <a:alpha val="16000"/>
                </a:srgbClr>
              </a:solidFill>
            </a:ln>
          </p:spPr>
        </p:sp>
        <p:sp>
          <p:nvSpPr>
            <p:cNvPr id="69" name="Line 69"/>
            <p:cNvSpPr/>
            <p:nvPr/>
          </p:nvSpPr>
          <p:spPr>
            <a:xfrm>
              <a:off x="0" y="4572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5715">
              <a:solidFill>
                <a:srgbClr val="27D8FF">
                  <a:alpha val="16000"/>
                </a:srgbClr>
              </a:solidFill>
            </a:ln>
          </p:spPr>
        </p:sp>
        <p:sp>
          <p:nvSpPr>
            <p:cNvPr id="70" name="Line 70"/>
            <p:cNvSpPr/>
            <p:nvPr/>
          </p:nvSpPr>
          <p:spPr>
            <a:xfrm>
              <a:off x="0" y="6096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5715">
              <a:solidFill>
                <a:srgbClr val="27D8FF">
                  <a:alpha val="16000"/>
                </a:srgbClr>
              </a:solidFill>
            </a:ln>
          </p:spPr>
        </p:sp>
      </p:grpSp>
      <p:sp>
        <p:nvSpPr>
          <p:cNvPr id="72" name="TextBox 72"/>
          <p:cNvSpPr txBox="1"/>
          <p:nvPr/>
        </p:nvSpPr>
        <p:spPr>
          <a:xfrm>
            <a:off x="347662" y="240506"/>
            <a:ext cx="229600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27D8FF">
                    <a:alphaMod val="88000"/>
                  </a:srgbClr>
                </a:solidFill>
                <a:latin typeface="Consolas"/>
                <a:ea typeface="Microsoft YaHei"/>
                <a:cs typeface="Consolas"/>
              </a:rPr>
              <a:t>AGRI_AI_OS // BLUEPRINT::04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10606088" y="240506"/>
            <a:ext cx="71044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8CB5CC"/>
                </a:solidFill>
                <a:latin typeface="Consolas"/>
                <a:ea typeface="Microsoft YaHei"/>
                <a:cs typeface="Consolas"/>
              </a:rPr>
              <a:t>1280×720</a:t>
            </a:r>
          </a:p>
        </p:txBody>
      </p:sp>
      <p:sp>
        <p:nvSpPr>
          <p:cNvPr id="74" name="Line 74"/>
          <p:cNvSpPr/>
          <p:nvPr/>
        </p:nvSpPr>
        <p:spPr>
          <a:xfrm>
            <a:off x="361950" y="495300"/>
            <a:ext cx="11468100" cy="9525"/>
          </a:xfrm>
          <a:custGeom>
            <a:avLst/>
            <a:gdLst/>
            <a:ahLst/>
            <a:cxnLst/>
            <a:rect l="l" t="t" r="r" b="b"/>
            <a:pathLst>
              <a:path w="11468100" h="9525">
                <a:moveTo>
                  <a:pt x="0" y="0"/>
                </a:moveTo>
                <a:lnTo>
                  <a:pt x="11468100" y="0"/>
                </a:lnTo>
              </a:path>
            </a:pathLst>
          </a:custGeom>
          <a:noFill/>
          <a:ln w="9525">
            <a:solidFill>
              <a:srgbClr val="27D8FF">
                <a:alpha val="45000"/>
              </a:srgbClr>
            </a:solidFill>
          </a:ln>
        </p:spPr>
      </p:sp>
      <p:sp>
        <p:nvSpPr>
          <p:cNvPr id="75" name="TextBox 75"/>
          <p:cNvSpPr txBox="1"/>
          <p:nvPr/>
        </p:nvSpPr>
        <p:spPr>
          <a:xfrm>
            <a:off x="521970" y="731520"/>
            <a:ext cx="9887788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EAF7FF"/>
                </a:solidFill>
                <a:latin typeface="Arial"/>
                <a:ea typeface="Microsoft YaHei"/>
                <a:cs typeface="Arial"/>
              </a:rPr>
              <a:t>Edge inference protects latency-sensitive decisions in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521970" y="1112520"/>
            <a:ext cx="1606753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EAF7FF"/>
                </a:solidFill>
                <a:latin typeface="Arial"/>
                <a:ea typeface="Microsoft YaHei"/>
                <a:cs typeface="Arial"/>
              </a:rPr>
              <a:t>the field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554355" y="1511618"/>
            <a:ext cx="1201221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8CB5CC"/>
                </a:solidFill>
                <a:latin typeface="Arial"/>
                <a:ea typeface="Microsoft YaHei"/>
                <a:cs typeface="Arial"/>
              </a:rPr>
              <a:t>On-equipment and gateway models act locally when connectivity, latency, or safety makes cloud-only inference too brittle.</a:t>
            </a:r>
          </a:p>
        </p:txBody>
      </p:sp>
      <p:sp>
        <p:nvSpPr>
          <p:cNvPr id="78" name="Rectangle 78"/>
          <p:cNvSpPr/>
          <p:nvPr/>
        </p:nvSpPr>
        <p:spPr>
          <a:xfrm>
            <a:off x="857250" y="2428875"/>
            <a:ext cx="2667000" cy="1047750"/>
          </a:xfrm>
          <a:prstGeom prst="roundRect">
            <a:avLst>
              <a:gd name="adj" fmla="val 12727"/>
            </a:avLst>
          </a:prstGeom>
          <a:solidFill>
            <a:srgbClr val="0A1A2D">
              <a:alpha val="96000"/>
            </a:srgbClr>
          </a:solidFill>
          <a:ln w="13335">
            <a:solidFill>
              <a:srgbClr val="27D8FF">
                <a:alpha val="96000"/>
              </a:srgbClr>
            </a:solidFill>
          </a:ln>
        </p:spPr>
      </p:sp>
      <p:sp>
        <p:nvSpPr>
          <p:cNvPr id="79" name="TextBox 79"/>
          <p:cNvSpPr txBox="1"/>
          <p:nvPr/>
        </p:nvSpPr>
        <p:spPr>
          <a:xfrm>
            <a:off x="1009650" y="2562225"/>
            <a:ext cx="154478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EAF7FF"/>
                </a:solidFill>
                <a:latin typeface="Arial"/>
                <a:ea typeface="Microsoft YaHei"/>
                <a:cs typeface="Arial"/>
              </a:rPr>
              <a:t>Gateway Node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1016318" y="2876074"/>
            <a:ext cx="169083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8CB5CC"/>
                </a:solidFill>
                <a:latin typeface="Consolas"/>
                <a:ea typeface="Microsoft YaHei"/>
                <a:cs typeface="Consolas"/>
              </a:rPr>
              <a:t>field cache • sync queue</a:t>
            </a:r>
          </a:p>
        </p:txBody>
      </p:sp>
      <p:sp>
        <p:nvSpPr>
          <p:cNvPr id="81" name="Rectangle 81"/>
          <p:cNvSpPr/>
          <p:nvPr/>
        </p:nvSpPr>
        <p:spPr>
          <a:xfrm>
            <a:off x="4762500" y="2190750"/>
            <a:ext cx="2667000" cy="1285875"/>
          </a:xfrm>
          <a:prstGeom prst="roundRect">
            <a:avLst>
              <a:gd name="adj" fmla="val 10370"/>
            </a:avLst>
          </a:prstGeom>
          <a:solidFill>
            <a:srgbClr val="0A1A2D">
              <a:alpha val="96000"/>
            </a:srgbClr>
          </a:solidFill>
          <a:ln w="13335">
            <a:solidFill>
              <a:srgbClr val="62E58F">
                <a:alpha val="96000"/>
              </a:srgbClr>
            </a:solidFill>
          </a:ln>
        </p:spPr>
      </p:sp>
      <p:sp>
        <p:nvSpPr>
          <p:cNvPr id="82" name="TextBox 82"/>
          <p:cNvSpPr txBox="1"/>
          <p:nvPr/>
        </p:nvSpPr>
        <p:spPr>
          <a:xfrm>
            <a:off x="4914900" y="2324100"/>
            <a:ext cx="1694307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EAF7FF"/>
                </a:solidFill>
                <a:latin typeface="Arial"/>
                <a:ea typeface="Microsoft YaHei"/>
                <a:cs typeface="Arial"/>
              </a:rPr>
              <a:t>Edge Inference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4921568" y="2637949"/>
            <a:ext cx="228890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8CB5CC"/>
                </a:solidFill>
                <a:latin typeface="Consolas"/>
                <a:ea typeface="Microsoft YaHei"/>
                <a:cs typeface="Consolas"/>
              </a:rPr>
              <a:t>weed row • spray gate • anomaly</a:t>
            </a:r>
          </a:p>
        </p:txBody>
      </p:sp>
      <p:sp>
        <p:nvSpPr>
          <p:cNvPr id="84" name="Rectangle 84"/>
          <p:cNvSpPr/>
          <p:nvPr/>
        </p:nvSpPr>
        <p:spPr>
          <a:xfrm>
            <a:off x="8667750" y="2428875"/>
            <a:ext cx="2667000" cy="1047750"/>
          </a:xfrm>
          <a:prstGeom prst="roundRect">
            <a:avLst>
              <a:gd name="adj" fmla="val 12727"/>
            </a:avLst>
          </a:prstGeom>
          <a:solidFill>
            <a:srgbClr val="0A1A2D">
              <a:alpha val="96000"/>
            </a:srgbClr>
          </a:solidFill>
          <a:ln w="13335">
            <a:solidFill>
              <a:srgbClr val="FFB84D">
                <a:alpha val="96000"/>
              </a:srgbClr>
            </a:solidFill>
          </a:ln>
        </p:spPr>
      </p:sp>
      <p:sp>
        <p:nvSpPr>
          <p:cNvPr id="85" name="TextBox 85"/>
          <p:cNvSpPr txBox="1"/>
          <p:nvPr/>
        </p:nvSpPr>
        <p:spPr>
          <a:xfrm>
            <a:off x="8820150" y="2562225"/>
            <a:ext cx="213136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EAF7FF"/>
                </a:solidFill>
                <a:latin typeface="Arial"/>
                <a:ea typeface="Microsoft YaHei"/>
                <a:cs typeface="Arial"/>
              </a:rPr>
              <a:t>Machine Controller</a:t>
            </a:r>
          </a:p>
        </p:txBody>
      </p:sp>
      <p:sp>
        <p:nvSpPr>
          <p:cNvPr id="86" name="TextBox 86"/>
          <p:cNvSpPr txBox="1"/>
          <p:nvPr/>
        </p:nvSpPr>
        <p:spPr>
          <a:xfrm>
            <a:off x="8826818" y="2876074"/>
            <a:ext cx="190442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8CB5CC"/>
                </a:solidFill>
                <a:latin typeface="Consolas"/>
                <a:ea typeface="Microsoft YaHei"/>
                <a:cs typeface="Consolas"/>
              </a:rPr>
              <a:t>rate command • stop signal</a:t>
            </a:r>
          </a:p>
        </p:txBody>
      </p:sp>
      <p:sp>
        <p:nvSpPr>
          <p:cNvPr id="87" name="Line 87"/>
          <p:cNvSpPr/>
          <p:nvPr/>
        </p:nvSpPr>
        <p:spPr>
          <a:xfrm flipV="1">
            <a:off x="3524250" y="2857500"/>
            <a:ext cx="1238250" cy="95250"/>
          </a:xfrm>
          <a:prstGeom prst="line">
            <a:avLst/>
          </a:prstGeom>
          <a:noFill/>
          <a:ln w="19050">
            <a:solidFill>
              <a:srgbClr val="27D8FF">
                <a:alpha val="90000"/>
              </a:srgbClr>
            </a:solidFill>
            <a:tailEnd type="triangle" w="lg" len="lg"/>
          </a:ln>
        </p:spPr>
      </p:sp>
      <p:sp>
        <p:nvSpPr>
          <p:cNvPr id="88" name="Line 88"/>
          <p:cNvSpPr/>
          <p:nvPr/>
        </p:nvSpPr>
        <p:spPr>
          <a:xfrm>
            <a:off x="7429500" y="2857500"/>
            <a:ext cx="1238250" cy="95250"/>
          </a:xfrm>
          <a:prstGeom prst="line">
            <a:avLst/>
          </a:prstGeom>
          <a:noFill/>
          <a:ln w="19050">
            <a:solidFill>
              <a:srgbClr val="27D8FF">
                <a:alpha val="90000"/>
              </a:srgbClr>
            </a:solidFill>
            <a:tailEnd type="triangle" w="lg" len="lg"/>
          </a:ln>
        </p:spPr>
      </p:sp>
      <p:sp>
        <p:nvSpPr>
          <p:cNvPr id="89" name="Rectangle 89"/>
          <p:cNvSpPr/>
          <p:nvPr/>
        </p:nvSpPr>
        <p:spPr>
          <a:xfrm>
            <a:off x="2571750" y="4429125"/>
            <a:ext cx="7048500" cy="857250"/>
          </a:xfrm>
          <a:prstGeom prst="roundRect">
            <a:avLst>
              <a:gd name="adj" fmla="val 15556"/>
            </a:avLst>
          </a:prstGeom>
          <a:solidFill>
            <a:srgbClr val="0D2238"/>
          </a:solidFill>
          <a:ln w="14288">
            <a:solidFill>
              <a:srgbClr val="27D8FF"/>
            </a:solidFill>
          </a:ln>
        </p:spPr>
      </p:sp>
      <p:sp>
        <p:nvSpPr>
          <p:cNvPr id="90" name="TextBox 90"/>
          <p:cNvSpPr txBox="1"/>
          <p:nvPr/>
        </p:nvSpPr>
        <p:spPr>
          <a:xfrm>
            <a:off x="2935605" y="4664392"/>
            <a:ext cx="704359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7BE8FF"/>
                </a:solidFill>
                <a:latin typeface="Consolas"/>
                <a:ea typeface="Microsoft YaHei"/>
                <a:cs typeface="Consolas"/>
              </a:rPr>
              <a:t>IF cloud_link == degraded OR latency_budget &lt; 300ms THEN run local policy</a:t>
            </a:r>
          </a:p>
        </p:txBody>
      </p:sp>
      <p:sp>
        <p:nvSpPr>
          <p:cNvPr id="91" name="TextBox 91"/>
          <p:cNvSpPr txBox="1"/>
          <p:nvPr/>
        </p:nvSpPr>
        <p:spPr>
          <a:xfrm>
            <a:off x="2935605" y="4950142"/>
            <a:ext cx="563384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8CB5CC"/>
                </a:solidFill>
                <a:latin typeface="Consolas"/>
                <a:ea typeface="Microsoft YaHei"/>
                <a:cs typeface="Consolas"/>
              </a:rPr>
              <a:t>ELSE sync features + decision trace to cloud control plane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11F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7524750" y="-1333500"/>
            <a:ext cx="4953000" cy="4953000"/>
          </a:xfrm>
          <a:prstGeom prst="ellipse">
            <a:avLst/>
          </a:prstGeom>
          <a:solidFill>
            <a:srgbClr val="27D8FF">
              <a:alpha val="55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-381000" y="3714750"/>
            <a:ext cx="4191000" cy="4191000"/>
          </a:xfrm>
          <a:prstGeom prst="ellipse">
            <a:avLst/>
          </a:prstGeom>
          <a:solidFill>
            <a:srgbClr val="62E58F">
              <a:alpha val="3500"/>
            </a:srgbClr>
          </a:solidFill>
          <a:ln>
            <a:noFill/>
          </a:ln>
        </p:spPr>
      </p:sp>
      <p:grpSp>
        <p:nvGrpSpPr>
          <p:cNvPr id="71" name="Group 71"/>
          <p:cNvGrpSpPr/>
          <p:nvPr/>
        </p:nvGrpSpPr>
        <p:grpSpPr>
          <a:xfrm>
            <a:off x="0" y="0"/>
            <a:ext cx="12201525" cy="6867525"/>
            <a:chOff x="0" y="0"/>
            <a:chExt cx="12201525" cy="6867525"/>
          </a:xfrm>
        </p:grpSpPr>
        <p:sp>
          <p:nvSpPr>
            <p:cNvPr id="5" name="Line 5"/>
            <p:cNvSpPr/>
            <p:nvPr/>
          </p:nvSpPr>
          <p:spPr>
            <a:xfrm>
              <a:off x="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381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762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1143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152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1905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228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2667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304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3429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3810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4191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4572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4953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533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5715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609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6477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685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24" name="Line 24"/>
            <p:cNvSpPr/>
            <p:nvPr/>
          </p:nvSpPr>
          <p:spPr>
            <a:xfrm>
              <a:off x="7239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7620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26" name="Line 26"/>
            <p:cNvSpPr/>
            <p:nvPr/>
          </p:nvSpPr>
          <p:spPr>
            <a:xfrm>
              <a:off x="8001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27" name="Line 27"/>
            <p:cNvSpPr/>
            <p:nvPr/>
          </p:nvSpPr>
          <p:spPr>
            <a:xfrm>
              <a:off x="8382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28" name="Line 28"/>
            <p:cNvSpPr/>
            <p:nvPr/>
          </p:nvSpPr>
          <p:spPr>
            <a:xfrm>
              <a:off x="8763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29" name="Line 29"/>
            <p:cNvSpPr/>
            <p:nvPr/>
          </p:nvSpPr>
          <p:spPr>
            <a:xfrm>
              <a:off x="914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30" name="Line 30"/>
            <p:cNvSpPr/>
            <p:nvPr/>
          </p:nvSpPr>
          <p:spPr>
            <a:xfrm>
              <a:off x="9525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31" name="Line 31"/>
            <p:cNvSpPr/>
            <p:nvPr/>
          </p:nvSpPr>
          <p:spPr>
            <a:xfrm>
              <a:off x="990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32" name="Line 32"/>
            <p:cNvSpPr/>
            <p:nvPr/>
          </p:nvSpPr>
          <p:spPr>
            <a:xfrm>
              <a:off x="10287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33" name="Line 33"/>
            <p:cNvSpPr/>
            <p:nvPr/>
          </p:nvSpPr>
          <p:spPr>
            <a:xfrm>
              <a:off x="1066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34" name="Line 34"/>
            <p:cNvSpPr/>
            <p:nvPr/>
          </p:nvSpPr>
          <p:spPr>
            <a:xfrm>
              <a:off x="11049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35" name="Line 35"/>
            <p:cNvSpPr/>
            <p:nvPr/>
          </p:nvSpPr>
          <p:spPr>
            <a:xfrm>
              <a:off x="11430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36" name="Line 36"/>
            <p:cNvSpPr/>
            <p:nvPr/>
          </p:nvSpPr>
          <p:spPr>
            <a:xfrm>
              <a:off x="11811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37" name="Line 37"/>
            <p:cNvSpPr/>
            <p:nvPr/>
          </p:nvSpPr>
          <p:spPr>
            <a:xfrm>
              <a:off x="12192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38" name="Line 38"/>
            <p:cNvSpPr/>
            <p:nvPr/>
          </p:nvSpPr>
          <p:spPr>
            <a:xfrm>
              <a:off x="0" y="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39" name="Line 39"/>
            <p:cNvSpPr/>
            <p:nvPr/>
          </p:nvSpPr>
          <p:spPr>
            <a:xfrm>
              <a:off x="0" y="381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40" name="Line 40"/>
            <p:cNvSpPr/>
            <p:nvPr/>
          </p:nvSpPr>
          <p:spPr>
            <a:xfrm>
              <a:off x="0" y="762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41" name="Line 41"/>
            <p:cNvSpPr/>
            <p:nvPr/>
          </p:nvSpPr>
          <p:spPr>
            <a:xfrm>
              <a:off x="0" y="1143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42" name="Line 42"/>
            <p:cNvSpPr/>
            <p:nvPr/>
          </p:nvSpPr>
          <p:spPr>
            <a:xfrm>
              <a:off x="0" y="1524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43" name="Line 43"/>
            <p:cNvSpPr/>
            <p:nvPr/>
          </p:nvSpPr>
          <p:spPr>
            <a:xfrm>
              <a:off x="0" y="1905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44" name="Line 44"/>
            <p:cNvSpPr/>
            <p:nvPr/>
          </p:nvSpPr>
          <p:spPr>
            <a:xfrm>
              <a:off x="0" y="2286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45" name="Line 45"/>
            <p:cNvSpPr/>
            <p:nvPr/>
          </p:nvSpPr>
          <p:spPr>
            <a:xfrm>
              <a:off x="0" y="2667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46" name="Line 46"/>
            <p:cNvSpPr/>
            <p:nvPr/>
          </p:nvSpPr>
          <p:spPr>
            <a:xfrm>
              <a:off x="0" y="3048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47" name="Line 47"/>
            <p:cNvSpPr/>
            <p:nvPr/>
          </p:nvSpPr>
          <p:spPr>
            <a:xfrm>
              <a:off x="0" y="3429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48" name="Line 48"/>
            <p:cNvSpPr/>
            <p:nvPr/>
          </p:nvSpPr>
          <p:spPr>
            <a:xfrm>
              <a:off x="0" y="3810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49" name="Line 49"/>
            <p:cNvSpPr/>
            <p:nvPr/>
          </p:nvSpPr>
          <p:spPr>
            <a:xfrm>
              <a:off x="0" y="4191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50" name="Line 50"/>
            <p:cNvSpPr/>
            <p:nvPr/>
          </p:nvSpPr>
          <p:spPr>
            <a:xfrm>
              <a:off x="0" y="4572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51" name="Line 51"/>
            <p:cNvSpPr/>
            <p:nvPr/>
          </p:nvSpPr>
          <p:spPr>
            <a:xfrm>
              <a:off x="0" y="4953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52" name="Line 52"/>
            <p:cNvSpPr/>
            <p:nvPr/>
          </p:nvSpPr>
          <p:spPr>
            <a:xfrm>
              <a:off x="0" y="5334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53" name="Line 53"/>
            <p:cNvSpPr/>
            <p:nvPr/>
          </p:nvSpPr>
          <p:spPr>
            <a:xfrm>
              <a:off x="0" y="5715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54" name="Line 54"/>
            <p:cNvSpPr/>
            <p:nvPr/>
          </p:nvSpPr>
          <p:spPr>
            <a:xfrm>
              <a:off x="0" y="6096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55" name="Line 55"/>
            <p:cNvSpPr/>
            <p:nvPr/>
          </p:nvSpPr>
          <p:spPr>
            <a:xfrm>
              <a:off x="0" y="6477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56" name="Line 56"/>
            <p:cNvSpPr/>
            <p:nvPr/>
          </p:nvSpPr>
          <p:spPr>
            <a:xfrm>
              <a:off x="0" y="6858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57" name="Line 57"/>
            <p:cNvSpPr/>
            <p:nvPr/>
          </p:nvSpPr>
          <p:spPr>
            <a:xfrm>
              <a:off x="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5715">
              <a:solidFill>
                <a:srgbClr val="27D8FF">
                  <a:alpha val="16000"/>
                </a:srgbClr>
              </a:solidFill>
            </a:ln>
          </p:spPr>
        </p:sp>
        <p:sp>
          <p:nvSpPr>
            <p:cNvPr id="58" name="Line 58"/>
            <p:cNvSpPr/>
            <p:nvPr/>
          </p:nvSpPr>
          <p:spPr>
            <a:xfrm>
              <a:off x="152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5715">
              <a:solidFill>
                <a:srgbClr val="27D8FF">
                  <a:alpha val="16000"/>
                </a:srgbClr>
              </a:solidFill>
            </a:ln>
          </p:spPr>
        </p:sp>
        <p:sp>
          <p:nvSpPr>
            <p:cNvPr id="59" name="Line 59"/>
            <p:cNvSpPr/>
            <p:nvPr/>
          </p:nvSpPr>
          <p:spPr>
            <a:xfrm>
              <a:off x="304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5715">
              <a:solidFill>
                <a:srgbClr val="27D8FF">
                  <a:alpha val="16000"/>
                </a:srgbClr>
              </a:solidFill>
            </a:ln>
          </p:spPr>
        </p:sp>
        <p:sp>
          <p:nvSpPr>
            <p:cNvPr id="60" name="Line 60"/>
            <p:cNvSpPr/>
            <p:nvPr/>
          </p:nvSpPr>
          <p:spPr>
            <a:xfrm>
              <a:off x="4572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5715">
              <a:solidFill>
                <a:srgbClr val="27D8FF">
                  <a:alpha val="16000"/>
                </a:srgbClr>
              </a:solidFill>
            </a:ln>
          </p:spPr>
        </p:sp>
        <p:sp>
          <p:nvSpPr>
            <p:cNvPr id="61" name="Line 61"/>
            <p:cNvSpPr/>
            <p:nvPr/>
          </p:nvSpPr>
          <p:spPr>
            <a:xfrm>
              <a:off x="609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5715">
              <a:solidFill>
                <a:srgbClr val="27D8FF">
                  <a:alpha val="16000"/>
                </a:srgbClr>
              </a:solidFill>
            </a:ln>
          </p:spPr>
        </p:sp>
        <p:sp>
          <p:nvSpPr>
            <p:cNvPr id="62" name="Line 62"/>
            <p:cNvSpPr/>
            <p:nvPr/>
          </p:nvSpPr>
          <p:spPr>
            <a:xfrm>
              <a:off x="7620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5715">
              <a:solidFill>
                <a:srgbClr val="27D8FF">
                  <a:alpha val="16000"/>
                </a:srgbClr>
              </a:solidFill>
            </a:ln>
          </p:spPr>
        </p:sp>
        <p:sp>
          <p:nvSpPr>
            <p:cNvPr id="63" name="Line 63"/>
            <p:cNvSpPr/>
            <p:nvPr/>
          </p:nvSpPr>
          <p:spPr>
            <a:xfrm>
              <a:off x="914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5715">
              <a:solidFill>
                <a:srgbClr val="27D8FF">
                  <a:alpha val="16000"/>
                </a:srgbClr>
              </a:solidFill>
            </a:ln>
          </p:spPr>
        </p:sp>
        <p:sp>
          <p:nvSpPr>
            <p:cNvPr id="64" name="Line 64"/>
            <p:cNvSpPr/>
            <p:nvPr/>
          </p:nvSpPr>
          <p:spPr>
            <a:xfrm>
              <a:off x="1066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5715">
              <a:solidFill>
                <a:srgbClr val="27D8FF">
                  <a:alpha val="16000"/>
                </a:srgbClr>
              </a:solidFill>
            </a:ln>
          </p:spPr>
        </p:sp>
        <p:sp>
          <p:nvSpPr>
            <p:cNvPr id="65" name="Line 65"/>
            <p:cNvSpPr/>
            <p:nvPr/>
          </p:nvSpPr>
          <p:spPr>
            <a:xfrm>
              <a:off x="12192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5715">
              <a:solidFill>
                <a:srgbClr val="27D8FF">
                  <a:alpha val="16000"/>
                </a:srgbClr>
              </a:solidFill>
            </a:ln>
          </p:spPr>
        </p:sp>
        <p:sp>
          <p:nvSpPr>
            <p:cNvPr id="66" name="Line 66"/>
            <p:cNvSpPr/>
            <p:nvPr/>
          </p:nvSpPr>
          <p:spPr>
            <a:xfrm>
              <a:off x="0" y="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5715">
              <a:solidFill>
                <a:srgbClr val="27D8FF">
                  <a:alpha val="16000"/>
                </a:srgbClr>
              </a:solidFill>
            </a:ln>
          </p:spPr>
        </p:sp>
        <p:sp>
          <p:nvSpPr>
            <p:cNvPr id="67" name="Line 67"/>
            <p:cNvSpPr/>
            <p:nvPr/>
          </p:nvSpPr>
          <p:spPr>
            <a:xfrm>
              <a:off x="0" y="1524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5715">
              <a:solidFill>
                <a:srgbClr val="27D8FF">
                  <a:alpha val="16000"/>
                </a:srgbClr>
              </a:solidFill>
            </a:ln>
          </p:spPr>
        </p:sp>
        <p:sp>
          <p:nvSpPr>
            <p:cNvPr id="68" name="Line 68"/>
            <p:cNvSpPr/>
            <p:nvPr/>
          </p:nvSpPr>
          <p:spPr>
            <a:xfrm>
              <a:off x="0" y="3048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5715">
              <a:solidFill>
                <a:srgbClr val="27D8FF">
                  <a:alpha val="16000"/>
                </a:srgbClr>
              </a:solidFill>
            </a:ln>
          </p:spPr>
        </p:sp>
        <p:sp>
          <p:nvSpPr>
            <p:cNvPr id="69" name="Line 69"/>
            <p:cNvSpPr/>
            <p:nvPr/>
          </p:nvSpPr>
          <p:spPr>
            <a:xfrm>
              <a:off x="0" y="4572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5715">
              <a:solidFill>
                <a:srgbClr val="27D8FF">
                  <a:alpha val="16000"/>
                </a:srgbClr>
              </a:solidFill>
            </a:ln>
          </p:spPr>
        </p:sp>
        <p:sp>
          <p:nvSpPr>
            <p:cNvPr id="70" name="Line 70"/>
            <p:cNvSpPr/>
            <p:nvPr/>
          </p:nvSpPr>
          <p:spPr>
            <a:xfrm>
              <a:off x="0" y="6096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5715">
              <a:solidFill>
                <a:srgbClr val="27D8FF">
                  <a:alpha val="16000"/>
                </a:srgbClr>
              </a:solidFill>
            </a:ln>
          </p:spPr>
        </p:sp>
      </p:grpSp>
      <p:sp>
        <p:nvSpPr>
          <p:cNvPr id="72" name="TextBox 72"/>
          <p:cNvSpPr txBox="1"/>
          <p:nvPr/>
        </p:nvSpPr>
        <p:spPr>
          <a:xfrm>
            <a:off x="347662" y="240506"/>
            <a:ext cx="229600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27D8FF">
                    <a:alphaMod val="88000"/>
                  </a:srgbClr>
                </a:solidFill>
                <a:latin typeface="Consolas"/>
                <a:ea typeface="Microsoft YaHei"/>
                <a:cs typeface="Consolas"/>
              </a:rPr>
              <a:t>AGRI_AI_OS // BLUEPRINT::05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10606088" y="240506"/>
            <a:ext cx="71044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8CB5CC"/>
                </a:solidFill>
                <a:latin typeface="Consolas"/>
                <a:ea typeface="Microsoft YaHei"/>
                <a:cs typeface="Consolas"/>
              </a:rPr>
              <a:t>1280×720</a:t>
            </a:r>
          </a:p>
        </p:txBody>
      </p:sp>
      <p:sp>
        <p:nvSpPr>
          <p:cNvPr id="74" name="Line 74"/>
          <p:cNvSpPr/>
          <p:nvPr/>
        </p:nvSpPr>
        <p:spPr>
          <a:xfrm>
            <a:off x="361950" y="495300"/>
            <a:ext cx="11468100" cy="9525"/>
          </a:xfrm>
          <a:custGeom>
            <a:avLst/>
            <a:gdLst/>
            <a:ahLst/>
            <a:cxnLst/>
            <a:rect l="l" t="t" r="r" b="b"/>
            <a:pathLst>
              <a:path w="11468100" h="9525">
                <a:moveTo>
                  <a:pt x="0" y="0"/>
                </a:moveTo>
                <a:lnTo>
                  <a:pt x="11468100" y="0"/>
                </a:lnTo>
              </a:path>
            </a:pathLst>
          </a:custGeom>
          <a:noFill/>
          <a:ln w="9525">
            <a:solidFill>
              <a:srgbClr val="27D8FF">
                <a:alpha val="45000"/>
              </a:srgbClr>
            </a:solidFill>
          </a:ln>
        </p:spPr>
      </p:sp>
      <p:sp>
        <p:nvSpPr>
          <p:cNvPr id="75" name="TextBox 75"/>
          <p:cNvSpPr txBox="1"/>
          <p:nvPr/>
        </p:nvSpPr>
        <p:spPr>
          <a:xfrm>
            <a:off x="521970" y="731520"/>
            <a:ext cx="8930869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EAF7FF"/>
                </a:solidFill>
                <a:latin typeface="Arial"/>
                <a:ea typeface="Microsoft YaHei"/>
                <a:cs typeface="Arial"/>
              </a:rPr>
              <a:t>Geospatial crop models convert observations into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521970" y="1112520"/>
            <a:ext cx="2986926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EAF7FF"/>
                </a:solidFill>
                <a:latin typeface="Arial"/>
                <a:ea typeface="Microsoft YaHei"/>
                <a:cs typeface="Arial"/>
              </a:rPr>
              <a:t>agronomic state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554355" y="1511618"/>
            <a:ext cx="1183476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8CB5CC"/>
                </a:solidFill>
                <a:latin typeface="Arial"/>
                <a:ea typeface="Microsoft YaHei"/>
                <a:cs typeface="Arial"/>
              </a:rPr>
              <a:t>Spatial models transform raw observations into crop vigor, stress, disease risk, water deficit, and yield outlook layers.</a:t>
            </a:r>
          </a:p>
        </p:txBody>
      </p:sp>
      <p:sp>
        <p:nvSpPr>
          <p:cNvPr id="78" name="Rectangle 78"/>
          <p:cNvSpPr/>
          <p:nvPr/>
        </p:nvSpPr>
        <p:spPr>
          <a:xfrm>
            <a:off x="885825" y="2190750"/>
            <a:ext cx="4953000" cy="3333750"/>
          </a:xfrm>
          <a:prstGeom prst="roundRect">
            <a:avLst>
              <a:gd name="adj" fmla="val 5143"/>
            </a:avLst>
          </a:prstGeom>
          <a:solidFill>
            <a:srgbClr val="0A1A2D"/>
          </a:solidFill>
          <a:ln w="9525">
            <a:solidFill>
              <a:srgbClr val="27D8FF"/>
            </a:solidFill>
          </a:ln>
        </p:spPr>
      </p:sp>
      <p:sp>
        <p:nvSpPr>
          <p:cNvPr id="79" name="TextBox 79"/>
          <p:cNvSpPr txBox="1"/>
          <p:nvPr/>
        </p:nvSpPr>
        <p:spPr>
          <a:xfrm>
            <a:off x="1129665" y="2420302"/>
            <a:ext cx="241130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7D8FF"/>
                </a:solidFill>
                <a:latin typeface="Consolas"/>
                <a:ea typeface="Microsoft YaHei"/>
                <a:cs typeface="Consolas"/>
              </a:rPr>
              <a:t>PLOT_MAP // 38.42N : BLOCK_07</a:t>
            </a:r>
          </a:p>
        </p:txBody>
      </p:sp>
      <p:sp>
        <p:nvSpPr>
          <p:cNvPr id="80" name="Rectangle 80"/>
          <p:cNvSpPr/>
          <p:nvPr/>
        </p:nvSpPr>
        <p:spPr>
          <a:xfrm>
            <a:off x="1238250" y="2857500"/>
            <a:ext cx="476250" cy="323850"/>
          </a:xfrm>
          <a:prstGeom prst="roundRect">
            <a:avLst>
              <a:gd name="adj" fmla="val 17647"/>
            </a:avLst>
          </a:prstGeom>
          <a:solidFill>
            <a:srgbClr val="62E58F">
              <a:alpha val="35000"/>
            </a:srgbClr>
          </a:solidFill>
          <a:ln w="9525">
            <a:solidFill>
              <a:srgbClr val="62E58F">
                <a:alpha val="35000"/>
              </a:srgbClr>
            </a:solidFill>
          </a:ln>
        </p:spPr>
      </p:sp>
      <p:sp>
        <p:nvSpPr>
          <p:cNvPr id="81" name="Rectangle 81"/>
          <p:cNvSpPr/>
          <p:nvPr/>
        </p:nvSpPr>
        <p:spPr>
          <a:xfrm>
            <a:off x="1828800" y="2857500"/>
            <a:ext cx="476250" cy="323850"/>
          </a:xfrm>
          <a:prstGeom prst="roundRect">
            <a:avLst>
              <a:gd name="adj" fmla="val 17647"/>
            </a:avLst>
          </a:prstGeom>
          <a:solidFill>
            <a:srgbClr val="27D8FF">
              <a:alpha val="43000"/>
            </a:srgbClr>
          </a:solidFill>
          <a:ln w="9525">
            <a:solidFill>
              <a:srgbClr val="27D8FF">
                <a:alpha val="43000"/>
              </a:srgbClr>
            </a:solidFill>
          </a:ln>
        </p:spPr>
      </p:sp>
      <p:sp>
        <p:nvSpPr>
          <p:cNvPr id="82" name="Rectangle 82"/>
          <p:cNvSpPr/>
          <p:nvPr/>
        </p:nvSpPr>
        <p:spPr>
          <a:xfrm>
            <a:off x="2419350" y="2857500"/>
            <a:ext cx="476250" cy="323850"/>
          </a:xfrm>
          <a:prstGeom prst="roundRect">
            <a:avLst>
              <a:gd name="adj" fmla="val 17647"/>
            </a:avLst>
          </a:prstGeom>
          <a:solidFill>
            <a:srgbClr val="FFB84D">
              <a:alpha val="51000"/>
            </a:srgbClr>
          </a:solidFill>
          <a:ln w="9525">
            <a:solidFill>
              <a:srgbClr val="FFB84D">
                <a:alpha val="51000"/>
              </a:srgbClr>
            </a:solidFill>
          </a:ln>
        </p:spPr>
      </p:sp>
      <p:sp>
        <p:nvSpPr>
          <p:cNvPr id="83" name="Rectangle 83"/>
          <p:cNvSpPr/>
          <p:nvPr/>
        </p:nvSpPr>
        <p:spPr>
          <a:xfrm>
            <a:off x="3009900" y="2857500"/>
            <a:ext cx="476250" cy="323850"/>
          </a:xfrm>
          <a:prstGeom prst="roundRect">
            <a:avLst>
              <a:gd name="adj" fmla="val 17647"/>
            </a:avLst>
          </a:prstGeom>
          <a:solidFill>
            <a:srgbClr val="41687D">
              <a:alpha val="35000"/>
            </a:srgbClr>
          </a:solidFill>
          <a:ln w="9525">
            <a:solidFill>
              <a:srgbClr val="41687D">
                <a:alpha val="35000"/>
              </a:srgbClr>
            </a:solidFill>
          </a:ln>
        </p:spPr>
      </p:sp>
      <p:sp>
        <p:nvSpPr>
          <p:cNvPr id="84" name="Rectangle 84"/>
          <p:cNvSpPr/>
          <p:nvPr/>
        </p:nvSpPr>
        <p:spPr>
          <a:xfrm>
            <a:off x="3600450" y="2857500"/>
            <a:ext cx="476250" cy="323850"/>
          </a:xfrm>
          <a:prstGeom prst="roundRect">
            <a:avLst>
              <a:gd name="adj" fmla="val 17647"/>
            </a:avLst>
          </a:prstGeom>
          <a:solidFill>
            <a:srgbClr val="62E58F">
              <a:alpha val="43000"/>
            </a:srgbClr>
          </a:solidFill>
          <a:ln w="9525">
            <a:solidFill>
              <a:srgbClr val="62E58F">
                <a:alpha val="43000"/>
              </a:srgbClr>
            </a:solidFill>
          </a:ln>
        </p:spPr>
      </p:sp>
      <p:sp>
        <p:nvSpPr>
          <p:cNvPr id="85" name="Rectangle 85"/>
          <p:cNvSpPr/>
          <p:nvPr/>
        </p:nvSpPr>
        <p:spPr>
          <a:xfrm>
            <a:off x="4191000" y="2857500"/>
            <a:ext cx="476250" cy="323850"/>
          </a:xfrm>
          <a:prstGeom prst="roundRect">
            <a:avLst>
              <a:gd name="adj" fmla="val 17647"/>
            </a:avLst>
          </a:prstGeom>
          <a:solidFill>
            <a:srgbClr val="27D8FF">
              <a:alpha val="51000"/>
            </a:srgbClr>
          </a:solidFill>
          <a:ln w="9525">
            <a:solidFill>
              <a:srgbClr val="27D8FF">
                <a:alpha val="51000"/>
              </a:srgbClr>
            </a:solidFill>
          </a:ln>
        </p:spPr>
      </p:sp>
      <p:sp>
        <p:nvSpPr>
          <p:cNvPr id="86" name="Rectangle 86"/>
          <p:cNvSpPr/>
          <p:nvPr/>
        </p:nvSpPr>
        <p:spPr>
          <a:xfrm>
            <a:off x="4781550" y="2857500"/>
            <a:ext cx="476250" cy="323850"/>
          </a:xfrm>
          <a:prstGeom prst="roundRect">
            <a:avLst>
              <a:gd name="adj" fmla="val 17647"/>
            </a:avLst>
          </a:prstGeom>
          <a:solidFill>
            <a:srgbClr val="FFB84D">
              <a:alpha val="35000"/>
            </a:srgbClr>
          </a:solidFill>
          <a:ln w="9525">
            <a:solidFill>
              <a:srgbClr val="FFB84D">
                <a:alpha val="35000"/>
              </a:srgbClr>
            </a:solidFill>
          </a:ln>
        </p:spPr>
      </p:sp>
      <p:sp>
        <p:nvSpPr>
          <p:cNvPr id="87" name="Rectangle 87"/>
          <p:cNvSpPr/>
          <p:nvPr/>
        </p:nvSpPr>
        <p:spPr>
          <a:xfrm>
            <a:off x="1238250" y="3286125"/>
            <a:ext cx="476250" cy="323850"/>
          </a:xfrm>
          <a:prstGeom prst="roundRect">
            <a:avLst>
              <a:gd name="adj" fmla="val 17647"/>
            </a:avLst>
          </a:prstGeom>
          <a:solidFill>
            <a:srgbClr val="27D8FF">
              <a:alpha val="43000"/>
            </a:srgbClr>
          </a:solidFill>
          <a:ln w="9525">
            <a:solidFill>
              <a:srgbClr val="27D8FF">
                <a:alpha val="43000"/>
              </a:srgbClr>
            </a:solidFill>
          </a:ln>
        </p:spPr>
      </p:sp>
      <p:sp>
        <p:nvSpPr>
          <p:cNvPr id="88" name="Rectangle 88"/>
          <p:cNvSpPr/>
          <p:nvPr/>
        </p:nvSpPr>
        <p:spPr>
          <a:xfrm>
            <a:off x="1828800" y="3286125"/>
            <a:ext cx="476250" cy="323850"/>
          </a:xfrm>
          <a:prstGeom prst="roundRect">
            <a:avLst>
              <a:gd name="adj" fmla="val 17647"/>
            </a:avLst>
          </a:prstGeom>
          <a:solidFill>
            <a:srgbClr val="FFB84D">
              <a:alpha val="51000"/>
            </a:srgbClr>
          </a:solidFill>
          <a:ln w="9525">
            <a:solidFill>
              <a:srgbClr val="FFB84D">
                <a:alpha val="51000"/>
              </a:srgbClr>
            </a:solidFill>
          </a:ln>
        </p:spPr>
      </p:sp>
      <p:sp>
        <p:nvSpPr>
          <p:cNvPr id="89" name="Rectangle 89"/>
          <p:cNvSpPr/>
          <p:nvPr/>
        </p:nvSpPr>
        <p:spPr>
          <a:xfrm>
            <a:off x="2419350" y="3286125"/>
            <a:ext cx="476250" cy="323850"/>
          </a:xfrm>
          <a:prstGeom prst="roundRect">
            <a:avLst>
              <a:gd name="adj" fmla="val 17647"/>
            </a:avLst>
          </a:prstGeom>
          <a:solidFill>
            <a:srgbClr val="41687D">
              <a:alpha val="35000"/>
            </a:srgbClr>
          </a:solidFill>
          <a:ln w="9525">
            <a:solidFill>
              <a:srgbClr val="41687D">
                <a:alpha val="35000"/>
              </a:srgbClr>
            </a:solidFill>
          </a:ln>
        </p:spPr>
      </p:sp>
      <p:sp>
        <p:nvSpPr>
          <p:cNvPr id="90" name="Rectangle 90"/>
          <p:cNvSpPr/>
          <p:nvPr/>
        </p:nvSpPr>
        <p:spPr>
          <a:xfrm>
            <a:off x="3009900" y="3286125"/>
            <a:ext cx="476250" cy="323850"/>
          </a:xfrm>
          <a:prstGeom prst="roundRect">
            <a:avLst>
              <a:gd name="adj" fmla="val 17647"/>
            </a:avLst>
          </a:prstGeom>
          <a:solidFill>
            <a:srgbClr val="62E58F">
              <a:alpha val="43000"/>
            </a:srgbClr>
          </a:solidFill>
          <a:ln w="9525">
            <a:solidFill>
              <a:srgbClr val="62E58F">
                <a:alpha val="43000"/>
              </a:srgbClr>
            </a:solidFill>
          </a:ln>
        </p:spPr>
      </p:sp>
      <p:sp>
        <p:nvSpPr>
          <p:cNvPr id="91" name="Rectangle 91"/>
          <p:cNvSpPr/>
          <p:nvPr/>
        </p:nvSpPr>
        <p:spPr>
          <a:xfrm>
            <a:off x="3600450" y="3286125"/>
            <a:ext cx="476250" cy="323850"/>
          </a:xfrm>
          <a:prstGeom prst="roundRect">
            <a:avLst>
              <a:gd name="adj" fmla="val 17647"/>
            </a:avLst>
          </a:prstGeom>
          <a:solidFill>
            <a:srgbClr val="27D8FF">
              <a:alpha val="51000"/>
            </a:srgbClr>
          </a:solidFill>
          <a:ln w="9525">
            <a:solidFill>
              <a:srgbClr val="27D8FF">
                <a:alpha val="51000"/>
              </a:srgbClr>
            </a:solidFill>
          </a:ln>
        </p:spPr>
      </p:sp>
      <p:sp>
        <p:nvSpPr>
          <p:cNvPr id="92" name="Rectangle 92"/>
          <p:cNvSpPr/>
          <p:nvPr/>
        </p:nvSpPr>
        <p:spPr>
          <a:xfrm>
            <a:off x="4191000" y="3286125"/>
            <a:ext cx="476250" cy="323850"/>
          </a:xfrm>
          <a:prstGeom prst="roundRect">
            <a:avLst>
              <a:gd name="adj" fmla="val 17647"/>
            </a:avLst>
          </a:prstGeom>
          <a:solidFill>
            <a:srgbClr val="FFB84D">
              <a:alpha val="35000"/>
            </a:srgbClr>
          </a:solidFill>
          <a:ln w="9525">
            <a:solidFill>
              <a:srgbClr val="FFB84D">
                <a:alpha val="35000"/>
              </a:srgbClr>
            </a:solidFill>
          </a:ln>
        </p:spPr>
      </p:sp>
      <p:sp>
        <p:nvSpPr>
          <p:cNvPr id="93" name="Rectangle 93"/>
          <p:cNvSpPr/>
          <p:nvPr/>
        </p:nvSpPr>
        <p:spPr>
          <a:xfrm>
            <a:off x="4781550" y="3286125"/>
            <a:ext cx="476250" cy="323850"/>
          </a:xfrm>
          <a:prstGeom prst="roundRect">
            <a:avLst>
              <a:gd name="adj" fmla="val 17647"/>
            </a:avLst>
          </a:prstGeom>
          <a:solidFill>
            <a:srgbClr val="41687D">
              <a:alpha val="43000"/>
            </a:srgbClr>
          </a:solidFill>
          <a:ln w="9525">
            <a:solidFill>
              <a:srgbClr val="41687D">
                <a:alpha val="43000"/>
              </a:srgbClr>
            </a:solidFill>
          </a:ln>
        </p:spPr>
      </p:sp>
      <p:sp>
        <p:nvSpPr>
          <p:cNvPr id="94" name="Rectangle 94"/>
          <p:cNvSpPr/>
          <p:nvPr/>
        </p:nvSpPr>
        <p:spPr>
          <a:xfrm>
            <a:off x="1238250" y="3714750"/>
            <a:ext cx="476250" cy="323850"/>
          </a:xfrm>
          <a:prstGeom prst="roundRect">
            <a:avLst>
              <a:gd name="adj" fmla="val 17647"/>
            </a:avLst>
          </a:prstGeom>
          <a:solidFill>
            <a:srgbClr val="FFB84D">
              <a:alpha val="51000"/>
            </a:srgbClr>
          </a:solidFill>
          <a:ln w="9525">
            <a:solidFill>
              <a:srgbClr val="FFB84D">
                <a:alpha val="51000"/>
              </a:srgbClr>
            </a:solidFill>
          </a:ln>
        </p:spPr>
      </p:sp>
      <p:sp>
        <p:nvSpPr>
          <p:cNvPr id="95" name="Rectangle 95"/>
          <p:cNvSpPr/>
          <p:nvPr/>
        </p:nvSpPr>
        <p:spPr>
          <a:xfrm>
            <a:off x="1828800" y="3714750"/>
            <a:ext cx="476250" cy="323850"/>
          </a:xfrm>
          <a:prstGeom prst="roundRect">
            <a:avLst>
              <a:gd name="adj" fmla="val 17647"/>
            </a:avLst>
          </a:prstGeom>
          <a:solidFill>
            <a:srgbClr val="41687D">
              <a:alpha val="35000"/>
            </a:srgbClr>
          </a:solidFill>
          <a:ln w="9525">
            <a:solidFill>
              <a:srgbClr val="41687D">
                <a:alpha val="35000"/>
              </a:srgbClr>
            </a:solidFill>
          </a:ln>
        </p:spPr>
      </p:sp>
      <p:sp>
        <p:nvSpPr>
          <p:cNvPr id="96" name="Rectangle 96"/>
          <p:cNvSpPr/>
          <p:nvPr/>
        </p:nvSpPr>
        <p:spPr>
          <a:xfrm>
            <a:off x="2419350" y="3714750"/>
            <a:ext cx="476250" cy="323850"/>
          </a:xfrm>
          <a:prstGeom prst="roundRect">
            <a:avLst>
              <a:gd name="adj" fmla="val 17647"/>
            </a:avLst>
          </a:prstGeom>
          <a:solidFill>
            <a:srgbClr val="62E58F">
              <a:alpha val="43000"/>
            </a:srgbClr>
          </a:solidFill>
          <a:ln w="9525">
            <a:solidFill>
              <a:srgbClr val="62E58F">
                <a:alpha val="43000"/>
              </a:srgbClr>
            </a:solidFill>
          </a:ln>
        </p:spPr>
      </p:sp>
      <p:sp>
        <p:nvSpPr>
          <p:cNvPr id="97" name="Rectangle 97"/>
          <p:cNvSpPr/>
          <p:nvPr/>
        </p:nvSpPr>
        <p:spPr>
          <a:xfrm>
            <a:off x="3009900" y="3714750"/>
            <a:ext cx="476250" cy="323850"/>
          </a:xfrm>
          <a:prstGeom prst="roundRect">
            <a:avLst>
              <a:gd name="adj" fmla="val 17647"/>
            </a:avLst>
          </a:prstGeom>
          <a:solidFill>
            <a:srgbClr val="27D8FF">
              <a:alpha val="51000"/>
            </a:srgbClr>
          </a:solidFill>
          <a:ln w="9525">
            <a:solidFill>
              <a:srgbClr val="27D8FF">
                <a:alpha val="51000"/>
              </a:srgbClr>
            </a:solidFill>
          </a:ln>
        </p:spPr>
      </p:sp>
      <p:sp>
        <p:nvSpPr>
          <p:cNvPr id="98" name="Rectangle 98"/>
          <p:cNvSpPr/>
          <p:nvPr/>
        </p:nvSpPr>
        <p:spPr>
          <a:xfrm>
            <a:off x="3600450" y="3714750"/>
            <a:ext cx="476250" cy="323850"/>
          </a:xfrm>
          <a:prstGeom prst="roundRect">
            <a:avLst>
              <a:gd name="adj" fmla="val 17647"/>
            </a:avLst>
          </a:prstGeom>
          <a:solidFill>
            <a:srgbClr val="FFB84D">
              <a:alpha val="35000"/>
            </a:srgbClr>
          </a:solidFill>
          <a:ln w="9525">
            <a:solidFill>
              <a:srgbClr val="FFB84D">
                <a:alpha val="35000"/>
              </a:srgbClr>
            </a:solidFill>
          </a:ln>
        </p:spPr>
      </p:sp>
      <p:sp>
        <p:nvSpPr>
          <p:cNvPr id="99" name="Rectangle 99"/>
          <p:cNvSpPr/>
          <p:nvPr/>
        </p:nvSpPr>
        <p:spPr>
          <a:xfrm>
            <a:off x="4191000" y="3714750"/>
            <a:ext cx="476250" cy="323850"/>
          </a:xfrm>
          <a:prstGeom prst="roundRect">
            <a:avLst>
              <a:gd name="adj" fmla="val 17647"/>
            </a:avLst>
          </a:prstGeom>
          <a:solidFill>
            <a:srgbClr val="41687D">
              <a:alpha val="43000"/>
            </a:srgbClr>
          </a:solidFill>
          <a:ln w="9525">
            <a:solidFill>
              <a:srgbClr val="41687D">
                <a:alpha val="43000"/>
              </a:srgbClr>
            </a:solidFill>
          </a:ln>
        </p:spPr>
      </p:sp>
      <p:sp>
        <p:nvSpPr>
          <p:cNvPr id="100" name="Rectangle 100"/>
          <p:cNvSpPr/>
          <p:nvPr/>
        </p:nvSpPr>
        <p:spPr>
          <a:xfrm>
            <a:off x="4781550" y="3714750"/>
            <a:ext cx="476250" cy="323850"/>
          </a:xfrm>
          <a:prstGeom prst="roundRect">
            <a:avLst>
              <a:gd name="adj" fmla="val 17647"/>
            </a:avLst>
          </a:prstGeom>
          <a:solidFill>
            <a:srgbClr val="62E58F">
              <a:alpha val="51000"/>
            </a:srgbClr>
          </a:solidFill>
          <a:ln w="9525">
            <a:solidFill>
              <a:srgbClr val="62E58F">
                <a:alpha val="51000"/>
              </a:srgbClr>
            </a:solidFill>
          </a:ln>
        </p:spPr>
      </p:sp>
      <p:sp>
        <p:nvSpPr>
          <p:cNvPr id="101" name="Rectangle 101"/>
          <p:cNvSpPr/>
          <p:nvPr/>
        </p:nvSpPr>
        <p:spPr>
          <a:xfrm>
            <a:off x="1238250" y="4143375"/>
            <a:ext cx="476250" cy="323850"/>
          </a:xfrm>
          <a:prstGeom prst="roundRect">
            <a:avLst>
              <a:gd name="adj" fmla="val 17647"/>
            </a:avLst>
          </a:prstGeom>
          <a:solidFill>
            <a:srgbClr val="41687D">
              <a:alpha val="35000"/>
            </a:srgbClr>
          </a:solidFill>
          <a:ln w="9525">
            <a:solidFill>
              <a:srgbClr val="41687D">
                <a:alpha val="35000"/>
              </a:srgbClr>
            </a:solidFill>
          </a:ln>
        </p:spPr>
      </p:sp>
      <p:sp>
        <p:nvSpPr>
          <p:cNvPr id="102" name="Rectangle 102"/>
          <p:cNvSpPr/>
          <p:nvPr/>
        </p:nvSpPr>
        <p:spPr>
          <a:xfrm>
            <a:off x="1828800" y="4143375"/>
            <a:ext cx="476250" cy="323850"/>
          </a:xfrm>
          <a:prstGeom prst="roundRect">
            <a:avLst>
              <a:gd name="adj" fmla="val 17647"/>
            </a:avLst>
          </a:prstGeom>
          <a:solidFill>
            <a:srgbClr val="62E58F">
              <a:alpha val="43000"/>
            </a:srgbClr>
          </a:solidFill>
          <a:ln w="9525">
            <a:solidFill>
              <a:srgbClr val="62E58F">
                <a:alpha val="43000"/>
              </a:srgbClr>
            </a:solidFill>
          </a:ln>
        </p:spPr>
      </p:sp>
      <p:sp>
        <p:nvSpPr>
          <p:cNvPr id="103" name="Rectangle 103"/>
          <p:cNvSpPr/>
          <p:nvPr/>
        </p:nvSpPr>
        <p:spPr>
          <a:xfrm>
            <a:off x="2419350" y="4143375"/>
            <a:ext cx="476250" cy="323850"/>
          </a:xfrm>
          <a:prstGeom prst="roundRect">
            <a:avLst>
              <a:gd name="adj" fmla="val 17647"/>
            </a:avLst>
          </a:prstGeom>
          <a:solidFill>
            <a:srgbClr val="27D8FF">
              <a:alpha val="51000"/>
            </a:srgbClr>
          </a:solidFill>
          <a:ln w="9525">
            <a:solidFill>
              <a:srgbClr val="27D8FF">
                <a:alpha val="51000"/>
              </a:srgbClr>
            </a:solidFill>
          </a:ln>
        </p:spPr>
      </p:sp>
      <p:sp>
        <p:nvSpPr>
          <p:cNvPr id="104" name="Rectangle 104"/>
          <p:cNvSpPr/>
          <p:nvPr/>
        </p:nvSpPr>
        <p:spPr>
          <a:xfrm>
            <a:off x="3009900" y="4143375"/>
            <a:ext cx="476250" cy="323850"/>
          </a:xfrm>
          <a:prstGeom prst="roundRect">
            <a:avLst>
              <a:gd name="adj" fmla="val 17647"/>
            </a:avLst>
          </a:prstGeom>
          <a:solidFill>
            <a:srgbClr val="FFB84D">
              <a:alpha val="35000"/>
            </a:srgbClr>
          </a:solidFill>
          <a:ln w="9525">
            <a:solidFill>
              <a:srgbClr val="FFB84D">
                <a:alpha val="35000"/>
              </a:srgbClr>
            </a:solidFill>
          </a:ln>
        </p:spPr>
      </p:sp>
      <p:sp>
        <p:nvSpPr>
          <p:cNvPr id="105" name="Rectangle 105"/>
          <p:cNvSpPr/>
          <p:nvPr/>
        </p:nvSpPr>
        <p:spPr>
          <a:xfrm>
            <a:off x="3600450" y="4143375"/>
            <a:ext cx="476250" cy="323850"/>
          </a:xfrm>
          <a:prstGeom prst="roundRect">
            <a:avLst>
              <a:gd name="adj" fmla="val 17647"/>
            </a:avLst>
          </a:prstGeom>
          <a:solidFill>
            <a:srgbClr val="41687D">
              <a:alpha val="43000"/>
            </a:srgbClr>
          </a:solidFill>
          <a:ln w="9525">
            <a:solidFill>
              <a:srgbClr val="41687D">
                <a:alpha val="43000"/>
              </a:srgbClr>
            </a:solidFill>
          </a:ln>
        </p:spPr>
      </p:sp>
      <p:sp>
        <p:nvSpPr>
          <p:cNvPr id="106" name="Rectangle 106"/>
          <p:cNvSpPr/>
          <p:nvPr/>
        </p:nvSpPr>
        <p:spPr>
          <a:xfrm>
            <a:off x="4191000" y="4143375"/>
            <a:ext cx="476250" cy="323850"/>
          </a:xfrm>
          <a:prstGeom prst="roundRect">
            <a:avLst>
              <a:gd name="adj" fmla="val 17647"/>
            </a:avLst>
          </a:prstGeom>
          <a:solidFill>
            <a:srgbClr val="62E58F">
              <a:alpha val="51000"/>
            </a:srgbClr>
          </a:solidFill>
          <a:ln w="9525">
            <a:solidFill>
              <a:srgbClr val="62E58F">
                <a:alpha val="51000"/>
              </a:srgbClr>
            </a:solidFill>
          </a:ln>
        </p:spPr>
      </p:sp>
      <p:sp>
        <p:nvSpPr>
          <p:cNvPr id="107" name="Rectangle 107"/>
          <p:cNvSpPr/>
          <p:nvPr/>
        </p:nvSpPr>
        <p:spPr>
          <a:xfrm>
            <a:off x="4781550" y="4143375"/>
            <a:ext cx="476250" cy="323850"/>
          </a:xfrm>
          <a:prstGeom prst="roundRect">
            <a:avLst>
              <a:gd name="adj" fmla="val 17647"/>
            </a:avLst>
          </a:prstGeom>
          <a:solidFill>
            <a:srgbClr val="27D8FF">
              <a:alpha val="35000"/>
            </a:srgbClr>
          </a:solidFill>
          <a:ln w="9525">
            <a:solidFill>
              <a:srgbClr val="27D8FF">
                <a:alpha val="35000"/>
              </a:srgbClr>
            </a:solidFill>
          </a:ln>
        </p:spPr>
      </p:sp>
      <p:sp>
        <p:nvSpPr>
          <p:cNvPr id="108" name="Rectangle 108"/>
          <p:cNvSpPr/>
          <p:nvPr/>
        </p:nvSpPr>
        <p:spPr>
          <a:xfrm>
            <a:off x="1238250" y="4572000"/>
            <a:ext cx="476250" cy="323850"/>
          </a:xfrm>
          <a:prstGeom prst="roundRect">
            <a:avLst>
              <a:gd name="adj" fmla="val 17647"/>
            </a:avLst>
          </a:prstGeom>
          <a:solidFill>
            <a:srgbClr val="62E58F">
              <a:alpha val="43000"/>
            </a:srgbClr>
          </a:solidFill>
          <a:ln w="9525">
            <a:solidFill>
              <a:srgbClr val="62E58F">
                <a:alpha val="43000"/>
              </a:srgbClr>
            </a:solidFill>
          </a:ln>
        </p:spPr>
      </p:sp>
      <p:sp>
        <p:nvSpPr>
          <p:cNvPr id="109" name="Rectangle 109"/>
          <p:cNvSpPr/>
          <p:nvPr/>
        </p:nvSpPr>
        <p:spPr>
          <a:xfrm>
            <a:off x="1828800" y="4572000"/>
            <a:ext cx="476250" cy="323850"/>
          </a:xfrm>
          <a:prstGeom prst="roundRect">
            <a:avLst>
              <a:gd name="adj" fmla="val 17647"/>
            </a:avLst>
          </a:prstGeom>
          <a:solidFill>
            <a:srgbClr val="27D8FF">
              <a:alpha val="51000"/>
            </a:srgbClr>
          </a:solidFill>
          <a:ln w="9525">
            <a:solidFill>
              <a:srgbClr val="27D8FF">
                <a:alpha val="51000"/>
              </a:srgbClr>
            </a:solidFill>
          </a:ln>
        </p:spPr>
      </p:sp>
      <p:sp>
        <p:nvSpPr>
          <p:cNvPr id="110" name="Rectangle 110"/>
          <p:cNvSpPr/>
          <p:nvPr/>
        </p:nvSpPr>
        <p:spPr>
          <a:xfrm>
            <a:off x="2419350" y="4572000"/>
            <a:ext cx="476250" cy="323850"/>
          </a:xfrm>
          <a:prstGeom prst="roundRect">
            <a:avLst>
              <a:gd name="adj" fmla="val 17647"/>
            </a:avLst>
          </a:prstGeom>
          <a:solidFill>
            <a:srgbClr val="FFB84D">
              <a:alpha val="35000"/>
            </a:srgbClr>
          </a:solidFill>
          <a:ln w="9525">
            <a:solidFill>
              <a:srgbClr val="FFB84D">
                <a:alpha val="35000"/>
              </a:srgbClr>
            </a:solidFill>
          </a:ln>
        </p:spPr>
      </p:sp>
      <p:sp>
        <p:nvSpPr>
          <p:cNvPr id="111" name="Rectangle 111"/>
          <p:cNvSpPr/>
          <p:nvPr/>
        </p:nvSpPr>
        <p:spPr>
          <a:xfrm>
            <a:off x="3009900" y="4572000"/>
            <a:ext cx="476250" cy="323850"/>
          </a:xfrm>
          <a:prstGeom prst="roundRect">
            <a:avLst>
              <a:gd name="adj" fmla="val 17647"/>
            </a:avLst>
          </a:prstGeom>
          <a:solidFill>
            <a:srgbClr val="41687D">
              <a:alpha val="43000"/>
            </a:srgbClr>
          </a:solidFill>
          <a:ln w="9525">
            <a:solidFill>
              <a:srgbClr val="41687D">
                <a:alpha val="43000"/>
              </a:srgbClr>
            </a:solidFill>
          </a:ln>
        </p:spPr>
      </p:sp>
      <p:sp>
        <p:nvSpPr>
          <p:cNvPr id="112" name="Rectangle 112"/>
          <p:cNvSpPr/>
          <p:nvPr/>
        </p:nvSpPr>
        <p:spPr>
          <a:xfrm>
            <a:off x="3600450" y="4572000"/>
            <a:ext cx="476250" cy="323850"/>
          </a:xfrm>
          <a:prstGeom prst="roundRect">
            <a:avLst>
              <a:gd name="adj" fmla="val 17647"/>
            </a:avLst>
          </a:prstGeom>
          <a:solidFill>
            <a:srgbClr val="62E58F">
              <a:alpha val="51000"/>
            </a:srgbClr>
          </a:solidFill>
          <a:ln w="9525">
            <a:solidFill>
              <a:srgbClr val="62E58F">
                <a:alpha val="51000"/>
              </a:srgbClr>
            </a:solidFill>
          </a:ln>
        </p:spPr>
      </p:sp>
      <p:sp>
        <p:nvSpPr>
          <p:cNvPr id="113" name="Rectangle 113"/>
          <p:cNvSpPr/>
          <p:nvPr/>
        </p:nvSpPr>
        <p:spPr>
          <a:xfrm>
            <a:off x="4191000" y="4572000"/>
            <a:ext cx="476250" cy="323850"/>
          </a:xfrm>
          <a:prstGeom prst="roundRect">
            <a:avLst>
              <a:gd name="adj" fmla="val 17647"/>
            </a:avLst>
          </a:prstGeom>
          <a:solidFill>
            <a:srgbClr val="27D8FF">
              <a:alpha val="35000"/>
            </a:srgbClr>
          </a:solidFill>
          <a:ln w="9525">
            <a:solidFill>
              <a:srgbClr val="27D8FF">
                <a:alpha val="35000"/>
              </a:srgbClr>
            </a:solidFill>
          </a:ln>
        </p:spPr>
      </p:sp>
      <p:sp>
        <p:nvSpPr>
          <p:cNvPr id="114" name="Rectangle 114"/>
          <p:cNvSpPr/>
          <p:nvPr/>
        </p:nvSpPr>
        <p:spPr>
          <a:xfrm>
            <a:off x="4781550" y="4572000"/>
            <a:ext cx="476250" cy="323850"/>
          </a:xfrm>
          <a:prstGeom prst="roundRect">
            <a:avLst>
              <a:gd name="adj" fmla="val 17647"/>
            </a:avLst>
          </a:prstGeom>
          <a:solidFill>
            <a:srgbClr val="FFB84D">
              <a:alpha val="43000"/>
            </a:srgbClr>
          </a:solidFill>
          <a:ln w="9525">
            <a:solidFill>
              <a:srgbClr val="FFB84D">
                <a:alpha val="43000"/>
              </a:srgbClr>
            </a:solidFill>
          </a:ln>
        </p:spPr>
      </p:sp>
      <p:sp>
        <p:nvSpPr>
          <p:cNvPr id="115" name="Rectangle 115"/>
          <p:cNvSpPr/>
          <p:nvPr/>
        </p:nvSpPr>
        <p:spPr>
          <a:xfrm>
            <a:off x="6858000" y="2381250"/>
            <a:ext cx="3143250" cy="552450"/>
          </a:xfrm>
          <a:prstGeom prst="roundRect">
            <a:avLst>
              <a:gd name="adj" fmla="val 24138"/>
            </a:avLst>
          </a:prstGeom>
          <a:solidFill>
            <a:srgbClr val="0A1A2D">
              <a:alpha val="96000"/>
            </a:srgbClr>
          </a:solidFill>
          <a:ln w="13335">
            <a:solidFill>
              <a:srgbClr val="62E58F">
                <a:alpha val="96000"/>
              </a:srgbClr>
            </a:solidFill>
          </a:ln>
        </p:spPr>
      </p:sp>
      <p:sp>
        <p:nvSpPr>
          <p:cNvPr id="116" name="TextBox 116"/>
          <p:cNvSpPr txBox="1"/>
          <p:nvPr/>
        </p:nvSpPr>
        <p:spPr>
          <a:xfrm>
            <a:off x="7010400" y="2514600"/>
            <a:ext cx="118824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EAF7FF"/>
                </a:solidFill>
                <a:latin typeface="Arial"/>
                <a:ea typeface="Microsoft YaHei"/>
                <a:cs typeface="Arial"/>
              </a:rPr>
              <a:t>Crop vigor</a:t>
            </a:r>
          </a:p>
        </p:txBody>
      </p:sp>
      <p:sp>
        <p:nvSpPr>
          <p:cNvPr id="117" name="TextBox 117"/>
          <p:cNvSpPr txBox="1"/>
          <p:nvPr/>
        </p:nvSpPr>
        <p:spPr>
          <a:xfrm>
            <a:off x="7017068" y="2828449"/>
            <a:ext cx="33804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8CB5CC"/>
                </a:solidFill>
                <a:latin typeface="Consolas"/>
                <a:ea typeface="Microsoft YaHei"/>
                <a:cs typeface="Consolas"/>
              </a:rPr>
              <a:t>0.74</a:t>
            </a:r>
          </a:p>
        </p:txBody>
      </p:sp>
      <p:sp>
        <p:nvSpPr>
          <p:cNvPr id="118" name="Rectangle 118"/>
          <p:cNvSpPr/>
          <p:nvPr/>
        </p:nvSpPr>
        <p:spPr>
          <a:xfrm>
            <a:off x="6858000" y="3162300"/>
            <a:ext cx="3143250" cy="552450"/>
          </a:xfrm>
          <a:prstGeom prst="roundRect">
            <a:avLst>
              <a:gd name="adj" fmla="val 24138"/>
            </a:avLst>
          </a:prstGeom>
          <a:solidFill>
            <a:srgbClr val="0A1A2D">
              <a:alpha val="96000"/>
            </a:srgbClr>
          </a:solidFill>
          <a:ln w="13335">
            <a:solidFill>
              <a:srgbClr val="FFB84D">
                <a:alpha val="96000"/>
              </a:srgbClr>
            </a:solidFill>
          </a:ln>
        </p:spPr>
      </p:sp>
      <p:sp>
        <p:nvSpPr>
          <p:cNvPr id="119" name="TextBox 119"/>
          <p:cNvSpPr txBox="1"/>
          <p:nvPr/>
        </p:nvSpPr>
        <p:spPr>
          <a:xfrm>
            <a:off x="7010400" y="3295650"/>
            <a:ext cx="155629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EAF7FF"/>
                </a:solidFill>
                <a:latin typeface="Arial"/>
                <a:ea typeface="Microsoft YaHei"/>
                <a:cs typeface="Arial"/>
              </a:rPr>
              <a:t>Water deficit</a:t>
            </a:r>
          </a:p>
        </p:txBody>
      </p:sp>
      <p:sp>
        <p:nvSpPr>
          <p:cNvPr id="120" name="TextBox 120"/>
          <p:cNvSpPr txBox="1"/>
          <p:nvPr/>
        </p:nvSpPr>
        <p:spPr>
          <a:xfrm>
            <a:off x="7017068" y="3609499"/>
            <a:ext cx="28820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8CB5CC"/>
                </a:solidFill>
                <a:latin typeface="Consolas"/>
                <a:ea typeface="Microsoft YaHei"/>
                <a:cs typeface="Consolas"/>
              </a:rPr>
              <a:t>MED</a:t>
            </a:r>
          </a:p>
        </p:txBody>
      </p:sp>
      <p:sp>
        <p:nvSpPr>
          <p:cNvPr id="121" name="Rectangle 121"/>
          <p:cNvSpPr/>
          <p:nvPr/>
        </p:nvSpPr>
        <p:spPr>
          <a:xfrm>
            <a:off x="6858000" y="3943350"/>
            <a:ext cx="3143250" cy="552450"/>
          </a:xfrm>
          <a:prstGeom prst="roundRect">
            <a:avLst>
              <a:gd name="adj" fmla="val 24138"/>
            </a:avLst>
          </a:prstGeom>
          <a:solidFill>
            <a:srgbClr val="0A1A2D">
              <a:alpha val="96000"/>
            </a:srgbClr>
          </a:solidFill>
          <a:ln w="13335">
            <a:solidFill>
              <a:srgbClr val="62E58F">
                <a:alpha val="96000"/>
              </a:srgbClr>
            </a:solidFill>
          </a:ln>
        </p:spPr>
      </p:sp>
      <p:sp>
        <p:nvSpPr>
          <p:cNvPr id="122" name="TextBox 122"/>
          <p:cNvSpPr txBox="1"/>
          <p:nvPr/>
        </p:nvSpPr>
        <p:spPr>
          <a:xfrm>
            <a:off x="7010400" y="4076700"/>
            <a:ext cx="138376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EAF7FF"/>
                </a:solidFill>
                <a:latin typeface="Arial"/>
                <a:ea typeface="Microsoft YaHei"/>
                <a:cs typeface="Arial"/>
              </a:rPr>
              <a:t>Disease risk</a:t>
            </a:r>
          </a:p>
        </p:txBody>
      </p:sp>
      <p:sp>
        <p:nvSpPr>
          <p:cNvPr id="123" name="TextBox 123"/>
          <p:cNvSpPr txBox="1"/>
          <p:nvPr/>
        </p:nvSpPr>
        <p:spPr>
          <a:xfrm>
            <a:off x="7017068" y="4390549"/>
            <a:ext cx="31668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8CB5CC"/>
                </a:solidFill>
                <a:latin typeface="Consolas"/>
                <a:ea typeface="Microsoft YaHei"/>
                <a:cs typeface="Consolas"/>
              </a:rPr>
              <a:t>LOW</a:t>
            </a:r>
          </a:p>
        </p:txBody>
      </p:sp>
      <p:sp>
        <p:nvSpPr>
          <p:cNvPr id="124" name="Rectangle 124"/>
          <p:cNvSpPr/>
          <p:nvPr/>
        </p:nvSpPr>
        <p:spPr>
          <a:xfrm>
            <a:off x="6858000" y="4724400"/>
            <a:ext cx="3143250" cy="552450"/>
          </a:xfrm>
          <a:prstGeom prst="roundRect">
            <a:avLst>
              <a:gd name="adj" fmla="val 24138"/>
            </a:avLst>
          </a:prstGeom>
          <a:solidFill>
            <a:srgbClr val="0A1A2D">
              <a:alpha val="96000"/>
            </a:srgbClr>
          </a:solidFill>
          <a:ln w="13335">
            <a:solidFill>
              <a:srgbClr val="62E58F">
                <a:alpha val="96000"/>
              </a:srgbClr>
            </a:solidFill>
          </a:ln>
        </p:spPr>
      </p:sp>
      <p:sp>
        <p:nvSpPr>
          <p:cNvPr id="125" name="TextBox 125"/>
          <p:cNvSpPr txBox="1"/>
          <p:nvPr/>
        </p:nvSpPr>
        <p:spPr>
          <a:xfrm>
            <a:off x="7010400" y="4857750"/>
            <a:ext cx="1452777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EAF7FF"/>
                </a:solidFill>
                <a:latin typeface="Arial"/>
                <a:ea typeface="Microsoft YaHei"/>
                <a:cs typeface="Arial"/>
              </a:rPr>
              <a:t>Yield outlook</a:t>
            </a:r>
          </a:p>
        </p:txBody>
      </p:sp>
      <p:sp>
        <p:nvSpPr>
          <p:cNvPr id="126" name="TextBox 126"/>
          <p:cNvSpPr txBox="1"/>
          <p:nvPr/>
        </p:nvSpPr>
        <p:spPr>
          <a:xfrm>
            <a:off x="7017068" y="5171599"/>
            <a:ext cx="30244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8CB5CC"/>
                </a:solidFill>
                <a:latin typeface="Consolas"/>
                <a:ea typeface="Microsoft YaHei"/>
                <a:cs typeface="Consolas"/>
              </a:rPr>
              <a:t>↑ 4%</a:t>
            </a:r>
          </a:p>
        </p:txBody>
      </p:sp>
      <p:sp>
        <p:nvSpPr>
          <p:cNvPr id="127" name="Line 127"/>
          <p:cNvSpPr/>
          <p:nvPr/>
        </p:nvSpPr>
        <p:spPr>
          <a:xfrm>
            <a:off x="5838825" y="3857625"/>
            <a:ext cx="1019175" cy="1"/>
          </a:xfrm>
          <a:prstGeom prst="line">
            <a:avLst/>
          </a:prstGeom>
          <a:noFill/>
          <a:ln w="19050">
            <a:solidFill>
              <a:srgbClr val="27D8FF">
                <a:alpha val="90000"/>
              </a:srgbClr>
            </a:solidFill>
            <a:tailEnd type="triangle" w="lg" len="lg"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11F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7524750" y="-1333500"/>
            <a:ext cx="4953000" cy="4953000"/>
          </a:xfrm>
          <a:prstGeom prst="ellipse">
            <a:avLst/>
          </a:prstGeom>
          <a:solidFill>
            <a:srgbClr val="27D8FF">
              <a:alpha val="55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-381000" y="3714750"/>
            <a:ext cx="4191000" cy="4191000"/>
          </a:xfrm>
          <a:prstGeom prst="ellipse">
            <a:avLst/>
          </a:prstGeom>
          <a:solidFill>
            <a:srgbClr val="62E58F">
              <a:alpha val="3500"/>
            </a:srgbClr>
          </a:solidFill>
          <a:ln>
            <a:noFill/>
          </a:ln>
        </p:spPr>
      </p:sp>
      <p:grpSp>
        <p:nvGrpSpPr>
          <p:cNvPr id="71" name="Group 71"/>
          <p:cNvGrpSpPr/>
          <p:nvPr/>
        </p:nvGrpSpPr>
        <p:grpSpPr>
          <a:xfrm>
            <a:off x="0" y="0"/>
            <a:ext cx="12201525" cy="6867525"/>
            <a:chOff x="0" y="0"/>
            <a:chExt cx="12201525" cy="6867525"/>
          </a:xfrm>
        </p:grpSpPr>
        <p:sp>
          <p:nvSpPr>
            <p:cNvPr id="5" name="Line 5"/>
            <p:cNvSpPr/>
            <p:nvPr/>
          </p:nvSpPr>
          <p:spPr>
            <a:xfrm>
              <a:off x="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381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762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1143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152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1905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228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2667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304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3429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3810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4191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4572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4953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533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5715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609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6477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685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24" name="Line 24"/>
            <p:cNvSpPr/>
            <p:nvPr/>
          </p:nvSpPr>
          <p:spPr>
            <a:xfrm>
              <a:off x="7239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7620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26" name="Line 26"/>
            <p:cNvSpPr/>
            <p:nvPr/>
          </p:nvSpPr>
          <p:spPr>
            <a:xfrm>
              <a:off x="8001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27" name="Line 27"/>
            <p:cNvSpPr/>
            <p:nvPr/>
          </p:nvSpPr>
          <p:spPr>
            <a:xfrm>
              <a:off x="8382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28" name="Line 28"/>
            <p:cNvSpPr/>
            <p:nvPr/>
          </p:nvSpPr>
          <p:spPr>
            <a:xfrm>
              <a:off x="8763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29" name="Line 29"/>
            <p:cNvSpPr/>
            <p:nvPr/>
          </p:nvSpPr>
          <p:spPr>
            <a:xfrm>
              <a:off x="914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30" name="Line 30"/>
            <p:cNvSpPr/>
            <p:nvPr/>
          </p:nvSpPr>
          <p:spPr>
            <a:xfrm>
              <a:off x="9525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31" name="Line 31"/>
            <p:cNvSpPr/>
            <p:nvPr/>
          </p:nvSpPr>
          <p:spPr>
            <a:xfrm>
              <a:off x="990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32" name="Line 32"/>
            <p:cNvSpPr/>
            <p:nvPr/>
          </p:nvSpPr>
          <p:spPr>
            <a:xfrm>
              <a:off x="10287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33" name="Line 33"/>
            <p:cNvSpPr/>
            <p:nvPr/>
          </p:nvSpPr>
          <p:spPr>
            <a:xfrm>
              <a:off x="1066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34" name="Line 34"/>
            <p:cNvSpPr/>
            <p:nvPr/>
          </p:nvSpPr>
          <p:spPr>
            <a:xfrm>
              <a:off x="11049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35" name="Line 35"/>
            <p:cNvSpPr/>
            <p:nvPr/>
          </p:nvSpPr>
          <p:spPr>
            <a:xfrm>
              <a:off x="11430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36" name="Line 36"/>
            <p:cNvSpPr/>
            <p:nvPr/>
          </p:nvSpPr>
          <p:spPr>
            <a:xfrm>
              <a:off x="11811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37" name="Line 37"/>
            <p:cNvSpPr/>
            <p:nvPr/>
          </p:nvSpPr>
          <p:spPr>
            <a:xfrm>
              <a:off x="12192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38" name="Line 38"/>
            <p:cNvSpPr/>
            <p:nvPr/>
          </p:nvSpPr>
          <p:spPr>
            <a:xfrm>
              <a:off x="0" y="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39" name="Line 39"/>
            <p:cNvSpPr/>
            <p:nvPr/>
          </p:nvSpPr>
          <p:spPr>
            <a:xfrm>
              <a:off x="0" y="381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40" name="Line 40"/>
            <p:cNvSpPr/>
            <p:nvPr/>
          </p:nvSpPr>
          <p:spPr>
            <a:xfrm>
              <a:off x="0" y="762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41" name="Line 41"/>
            <p:cNvSpPr/>
            <p:nvPr/>
          </p:nvSpPr>
          <p:spPr>
            <a:xfrm>
              <a:off x="0" y="1143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42" name="Line 42"/>
            <p:cNvSpPr/>
            <p:nvPr/>
          </p:nvSpPr>
          <p:spPr>
            <a:xfrm>
              <a:off x="0" y="1524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43" name="Line 43"/>
            <p:cNvSpPr/>
            <p:nvPr/>
          </p:nvSpPr>
          <p:spPr>
            <a:xfrm>
              <a:off x="0" y="1905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44" name="Line 44"/>
            <p:cNvSpPr/>
            <p:nvPr/>
          </p:nvSpPr>
          <p:spPr>
            <a:xfrm>
              <a:off x="0" y="2286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45" name="Line 45"/>
            <p:cNvSpPr/>
            <p:nvPr/>
          </p:nvSpPr>
          <p:spPr>
            <a:xfrm>
              <a:off x="0" y="2667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46" name="Line 46"/>
            <p:cNvSpPr/>
            <p:nvPr/>
          </p:nvSpPr>
          <p:spPr>
            <a:xfrm>
              <a:off x="0" y="3048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47" name="Line 47"/>
            <p:cNvSpPr/>
            <p:nvPr/>
          </p:nvSpPr>
          <p:spPr>
            <a:xfrm>
              <a:off x="0" y="3429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48" name="Line 48"/>
            <p:cNvSpPr/>
            <p:nvPr/>
          </p:nvSpPr>
          <p:spPr>
            <a:xfrm>
              <a:off x="0" y="3810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49" name="Line 49"/>
            <p:cNvSpPr/>
            <p:nvPr/>
          </p:nvSpPr>
          <p:spPr>
            <a:xfrm>
              <a:off x="0" y="4191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50" name="Line 50"/>
            <p:cNvSpPr/>
            <p:nvPr/>
          </p:nvSpPr>
          <p:spPr>
            <a:xfrm>
              <a:off x="0" y="4572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51" name="Line 51"/>
            <p:cNvSpPr/>
            <p:nvPr/>
          </p:nvSpPr>
          <p:spPr>
            <a:xfrm>
              <a:off x="0" y="4953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52" name="Line 52"/>
            <p:cNvSpPr/>
            <p:nvPr/>
          </p:nvSpPr>
          <p:spPr>
            <a:xfrm>
              <a:off x="0" y="5334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53" name="Line 53"/>
            <p:cNvSpPr/>
            <p:nvPr/>
          </p:nvSpPr>
          <p:spPr>
            <a:xfrm>
              <a:off x="0" y="5715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54" name="Line 54"/>
            <p:cNvSpPr/>
            <p:nvPr/>
          </p:nvSpPr>
          <p:spPr>
            <a:xfrm>
              <a:off x="0" y="6096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55" name="Line 55"/>
            <p:cNvSpPr/>
            <p:nvPr/>
          </p:nvSpPr>
          <p:spPr>
            <a:xfrm>
              <a:off x="0" y="6477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56" name="Line 56"/>
            <p:cNvSpPr/>
            <p:nvPr/>
          </p:nvSpPr>
          <p:spPr>
            <a:xfrm>
              <a:off x="0" y="6858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57" name="Line 57"/>
            <p:cNvSpPr/>
            <p:nvPr/>
          </p:nvSpPr>
          <p:spPr>
            <a:xfrm>
              <a:off x="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5715">
              <a:solidFill>
                <a:srgbClr val="27D8FF">
                  <a:alpha val="16000"/>
                </a:srgbClr>
              </a:solidFill>
            </a:ln>
          </p:spPr>
        </p:sp>
        <p:sp>
          <p:nvSpPr>
            <p:cNvPr id="58" name="Line 58"/>
            <p:cNvSpPr/>
            <p:nvPr/>
          </p:nvSpPr>
          <p:spPr>
            <a:xfrm>
              <a:off x="152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5715">
              <a:solidFill>
                <a:srgbClr val="27D8FF">
                  <a:alpha val="16000"/>
                </a:srgbClr>
              </a:solidFill>
            </a:ln>
          </p:spPr>
        </p:sp>
        <p:sp>
          <p:nvSpPr>
            <p:cNvPr id="59" name="Line 59"/>
            <p:cNvSpPr/>
            <p:nvPr/>
          </p:nvSpPr>
          <p:spPr>
            <a:xfrm>
              <a:off x="304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5715">
              <a:solidFill>
                <a:srgbClr val="27D8FF">
                  <a:alpha val="16000"/>
                </a:srgbClr>
              </a:solidFill>
            </a:ln>
          </p:spPr>
        </p:sp>
        <p:sp>
          <p:nvSpPr>
            <p:cNvPr id="60" name="Line 60"/>
            <p:cNvSpPr/>
            <p:nvPr/>
          </p:nvSpPr>
          <p:spPr>
            <a:xfrm>
              <a:off x="4572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5715">
              <a:solidFill>
                <a:srgbClr val="27D8FF">
                  <a:alpha val="16000"/>
                </a:srgbClr>
              </a:solidFill>
            </a:ln>
          </p:spPr>
        </p:sp>
        <p:sp>
          <p:nvSpPr>
            <p:cNvPr id="61" name="Line 61"/>
            <p:cNvSpPr/>
            <p:nvPr/>
          </p:nvSpPr>
          <p:spPr>
            <a:xfrm>
              <a:off x="609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5715">
              <a:solidFill>
                <a:srgbClr val="27D8FF">
                  <a:alpha val="16000"/>
                </a:srgbClr>
              </a:solidFill>
            </a:ln>
          </p:spPr>
        </p:sp>
        <p:sp>
          <p:nvSpPr>
            <p:cNvPr id="62" name="Line 62"/>
            <p:cNvSpPr/>
            <p:nvPr/>
          </p:nvSpPr>
          <p:spPr>
            <a:xfrm>
              <a:off x="7620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5715">
              <a:solidFill>
                <a:srgbClr val="27D8FF">
                  <a:alpha val="16000"/>
                </a:srgbClr>
              </a:solidFill>
            </a:ln>
          </p:spPr>
        </p:sp>
        <p:sp>
          <p:nvSpPr>
            <p:cNvPr id="63" name="Line 63"/>
            <p:cNvSpPr/>
            <p:nvPr/>
          </p:nvSpPr>
          <p:spPr>
            <a:xfrm>
              <a:off x="914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5715">
              <a:solidFill>
                <a:srgbClr val="27D8FF">
                  <a:alpha val="16000"/>
                </a:srgbClr>
              </a:solidFill>
            </a:ln>
          </p:spPr>
        </p:sp>
        <p:sp>
          <p:nvSpPr>
            <p:cNvPr id="64" name="Line 64"/>
            <p:cNvSpPr/>
            <p:nvPr/>
          </p:nvSpPr>
          <p:spPr>
            <a:xfrm>
              <a:off x="1066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5715">
              <a:solidFill>
                <a:srgbClr val="27D8FF">
                  <a:alpha val="16000"/>
                </a:srgbClr>
              </a:solidFill>
            </a:ln>
          </p:spPr>
        </p:sp>
        <p:sp>
          <p:nvSpPr>
            <p:cNvPr id="65" name="Line 65"/>
            <p:cNvSpPr/>
            <p:nvPr/>
          </p:nvSpPr>
          <p:spPr>
            <a:xfrm>
              <a:off x="12192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5715">
              <a:solidFill>
                <a:srgbClr val="27D8FF">
                  <a:alpha val="16000"/>
                </a:srgbClr>
              </a:solidFill>
            </a:ln>
          </p:spPr>
        </p:sp>
        <p:sp>
          <p:nvSpPr>
            <p:cNvPr id="66" name="Line 66"/>
            <p:cNvSpPr/>
            <p:nvPr/>
          </p:nvSpPr>
          <p:spPr>
            <a:xfrm>
              <a:off x="0" y="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5715">
              <a:solidFill>
                <a:srgbClr val="27D8FF">
                  <a:alpha val="16000"/>
                </a:srgbClr>
              </a:solidFill>
            </a:ln>
          </p:spPr>
        </p:sp>
        <p:sp>
          <p:nvSpPr>
            <p:cNvPr id="67" name="Line 67"/>
            <p:cNvSpPr/>
            <p:nvPr/>
          </p:nvSpPr>
          <p:spPr>
            <a:xfrm>
              <a:off x="0" y="1524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5715">
              <a:solidFill>
                <a:srgbClr val="27D8FF">
                  <a:alpha val="16000"/>
                </a:srgbClr>
              </a:solidFill>
            </a:ln>
          </p:spPr>
        </p:sp>
        <p:sp>
          <p:nvSpPr>
            <p:cNvPr id="68" name="Line 68"/>
            <p:cNvSpPr/>
            <p:nvPr/>
          </p:nvSpPr>
          <p:spPr>
            <a:xfrm>
              <a:off x="0" y="3048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5715">
              <a:solidFill>
                <a:srgbClr val="27D8FF">
                  <a:alpha val="16000"/>
                </a:srgbClr>
              </a:solidFill>
            </a:ln>
          </p:spPr>
        </p:sp>
        <p:sp>
          <p:nvSpPr>
            <p:cNvPr id="69" name="Line 69"/>
            <p:cNvSpPr/>
            <p:nvPr/>
          </p:nvSpPr>
          <p:spPr>
            <a:xfrm>
              <a:off x="0" y="4572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5715">
              <a:solidFill>
                <a:srgbClr val="27D8FF">
                  <a:alpha val="16000"/>
                </a:srgbClr>
              </a:solidFill>
            </a:ln>
          </p:spPr>
        </p:sp>
        <p:sp>
          <p:nvSpPr>
            <p:cNvPr id="70" name="Line 70"/>
            <p:cNvSpPr/>
            <p:nvPr/>
          </p:nvSpPr>
          <p:spPr>
            <a:xfrm>
              <a:off x="0" y="6096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5715">
              <a:solidFill>
                <a:srgbClr val="27D8FF">
                  <a:alpha val="16000"/>
                </a:srgbClr>
              </a:solidFill>
            </a:ln>
          </p:spPr>
        </p:sp>
      </p:grpSp>
      <p:sp>
        <p:nvSpPr>
          <p:cNvPr id="72" name="TextBox 72"/>
          <p:cNvSpPr txBox="1"/>
          <p:nvPr/>
        </p:nvSpPr>
        <p:spPr>
          <a:xfrm>
            <a:off x="347662" y="240506"/>
            <a:ext cx="229600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27D8FF">
                    <a:alphaMod val="88000"/>
                  </a:srgbClr>
                </a:solidFill>
                <a:latin typeface="Consolas"/>
                <a:ea typeface="Microsoft YaHei"/>
                <a:cs typeface="Consolas"/>
              </a:rPr>
              <a:t>AGRI_AI_OS // BLUEPRINT::06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10606088" y="240506"/>
            <a:ext cx="71044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8CB5CC"/>
                </a:solidFill>
                <a:latin typeface="Consolas"/>
                <a:ea typeface="Microsoft YaHei"/>
                <a:cs typeface="Consolas"/>
              </a:rPr>
              <a:t>1280×720</a:t>
            </a:r>
          </a:p>
        </p:txBody>
      </p:sp>
      <p:sp>
        <p:nvSpPr>
          <p:cNvPr id="74" name="Line 74"/>
          <p:cNvSpPr/>
          <p:nvPr/>
        </p:nvSpPr>
        <p:spPr>
          <a:xfrm>
            <a:off x="361950" y="495300"/>
            <a:ext cx="11468100" cy="9525"/>
          </a:xfrm>
          <a:custGeom>
            <a:avLst/>
            <a:gdLst/>
            <a:ahLst/>
            <a:cxnLst/>
            <a:rect l="l" t="t" r="r" b="b"/>
            <a:pathLst>
              <a:path w="11468100" h="9525">
                <a:moveTo>
                  <a:pt x="0" y="0"/>
                </a:moveTo>
                <a:lnTo>
                  <a:pt x="11468100" y="0"/>
                </a:lnTo>
              </a:path>
            </a:pathLst>
          </a:custGeom>
          <a:noFill/>
          <a:ln w="9525">
            <a:solidFill>
              <a:srgbClr val="27D8FF">
                <a:alpha val="45000"/>
              </a:srgbClr>
            </a:solidFill>
          </a:ln>
        </p:spPr>
      </p:sp>
      <p:sp>
        <p:nvSpPr>
          <p:cNvPr id="75" name="TextBox 75"/>
          <p:cNvSpPr txBox="1"/>
          <p:nvPr/>
        </p:nvSpPr>
        <p:spPr>
          <a:xfrm>
            <a:off x="521970" y="731520"/>
            <a:ext cx="9887788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EAF7FF"/>
                </a:solidFill>
                <a:latin typeface="Arial"/>
                <a:ea typeface="Microsoft YaHei"/>
                <a:cs typeface="Arial"/>
              </a:rPr>
              <a:t>The decision engine translates crop state into bounded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521970" y="1112520"/>
            <a:ext cx="3152546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EAF7FF"/>
                </a:solidFill>
                <a:latin typeface="Arial"/>
                <a:ea typeface="Microsoft YaHei"/>
                <a:cs typeface="Arial"/>
              </a:rPr>
              <a:t>recommendations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554355" y="1511618"/>
            <a:ext cx="1193334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8CB5CC"/>
                </a:solidFill>
                <a:latin typeface="Arial"/>
                <a:ea typeface="Microsoft YaHei"/>
                <a:cs typeface="Arial"/>
              </a:rPr>
              <a:t>Rules, optimization, forecasts, and model confidence combine to produce recommended actions with constraints attached.</a:t>
            </a:r>
          </a:p>
        </p:txBody>
      </p:sp>
      <p:sp>
        <p:nvSpPr>
          <p:cNvPr id="78" name="Rectangle 78"/>
          <p:cNvSpPr/>
          <p:nvPr/>
        </p:nvSpPr>
        <p:spPr>
          <a:xfrm>
            <a:off x="762000" y="2428875"/>
            <a:ext cx="2381250" cy="819150"/>
          </a:xfrm>
          <a:prstGeom prst="roundRect">
            <a:avLst>
              <a:gd name="adj" fmla="val 16279"/>
            </a:avLst>
          </a:prstGeom>
          <a:solidFill>
            <a:srgbClr val="0A1A2D">
              <a:alpha val="96000"/>
            </a:srgbClr>
          </a:solidFill>
          <a:ln w="13335">
            <a:solidFill>
              <a:srgbClr val="27D8FF">
                <a:alpha val="96000"/>
              </a:srgbClr>
            </a:solidFill>
          </a:ln>
        </p:spPr>
      </p:sp>
      <p:sp>
        <p:nvSpPr>
          <p:cNvPr id="79" name="TextBox 79"/>
          <p:cNvSpPr txBox="1"/>
          <p:nvPr/>
        </p:nvSpPr>
        <p:spPr>
          <a:xfrm>
            <a:off x="914400" y="2562225"/>
            <a:ext cx="117674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EAF7FF"/>
                </a:solidFill>
                <a:latin typeface="Arial"/>
                <a:ea typeface="Microsoft YaHei"/>
                <a:cs typeface="Arial"/>
              </a:rPr>
              <a:t>Forecasts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921068" y="2876074"/>
            <a:ext cx="182610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8CB5CC"/>
                </a:solidFill>
                <a:latin typeface="Consolas"/>
                <a:ea typeface="Microsoft YaHei"/>
                <a:cs typeface="Consolas"/>
              </a:rPr>
              <a:t>rain window • heat stress</a:t>
            </a:r>
          </a:p>
        </p:txBody>
      </p:sp>
      <p:sp>
        <p:nvSpPr>
          <p:cNvPr id="81" name="Rectangle 81"/>
          <p:cNvSpPr/>
          <p:nvPr/>
        </p:nvSpPr>
        <p:spPr>
          <a:xfrm>
            <a:off x="762000" y="3714750"/>
            <a:ext cx="2381250" cy="819150"/>
          </a:xfrm>
          <a:prstGeom prst="roundRect">
            <a:avLst>
              <a:gd name="adj" fmla="val 16279"/>
            </a:avLst>
          </a:prstGeom>
          <a:solidFill>
            <a:srgbClr val="0A1A2D">
              <a:alpha val="96000"/>
            </a:srgbClr>
          </a:solidFill>
          <a:ln w="13335">
            <a:solidFill>
              <a:srgbClr val="62E58F">
                <a:alpha val="96000"/>
              </a:srgbClr>
            </a:solidFill>
          </a:ln>
        </p:spPr>
      </p:sp>
      <p:sp>
        <p:nvSpPr>
          <p:cNvPr id="82" name="TextBox 82"/>
          <p:cNvSpPr txBox="1"/>
          <p:nvPr/>
        </p:nvSpPr>
        <p:spPr>
          <a:xfrm>
            <a:off x="914400" y="3848100"/>
            <a:ext cx="147578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EAF7FF"/>
                </a:solidFill>
                <a:latin typeface="Arial"/>
                <a:ea typeface="Microsoft YaHei"/>
                <a:cs typeface="Arial"/>
              </a:rPr>
              <a:t>Optimization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921068" y="4161949"/>
            <a:ext cx="184034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8CB5CC"/>
                </a:solidFill>
                <a:latin typeface="Consolas"/>
                <a:ea typeface="Microsoft YaHei"/>
                <a:cs typeface="Consolas"/>
              </a:rPr>
              <a:t>water • labor • input cost</a:t>
            </a:r>
          </a:p>
        </p:txBody>
      </p:sp>
      <p:sp>
        <p:nvSpPr>
          <p:cNvPr id="84" name="Rectangle 84"/>
          <p:cNvSpPr/>
          <p:nvPr/>
        </p:nvSpPr>
        <p:spPr>
          <a:xfrm>
            <a:off x="4524375" y="3000375"/>
            <a:ext cx="3143250" cy="1047750"/>
          </a:xfrm>
          <a:prstGeom prst="roundRect">
            <a:avLst>
              <a:gd name="adj" fmla="val 12727"/>
            </a:avLst>
          </a:prstGeom>
          <a:solidFill>
            <a:srgbClr val="0A1A2D">
              <a:alpha val="96000"/>
            </a:srgbClr>
          </a:solidFill>
          <a:ln w="13335">
            <a:solidFill>
              <a:srgbClr val="7BE8FF">
                <a:alpha val="96000"/>
              </a:srgbClr>
            </a:solidFill>
          </a:ln>
        </p:spPr>
      </p:sp>
      <p:sp>
        <p:nvSpPr>
          <p:cNvPr id="85" name="TextBox 85"/>
          <p:cNvSpPr txBox="1"/>
          <p:nvPr/>
        </p:nvSpPr>
        <p:spPr>
          <a:xfrm>
            <a:off x="4676775" y="3133725"/>
            <a:ext cx="241889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EAF7FF"/>
                </a:solidFill>
                <a:latin typeface="Arial"/>
                <a:ea typeface="Microsoft YaHei"/>
                <a:cs typeface="Arial"/>
              </a:rPr>
              <a:t>Recommendation Core</a:t>
            </a:r>
          </a:p>
        </p:txBody>
      </p:sp>
      <p:sp>
        <p:nvSpPr>
          <p:cNvPr id="86" name="TextBox 86"/>
          <p:cNvSpPr txBox="1"/>
          <p:nvPr/>
        </p:nvSpPr>
        <p:spPr>
          <a:xfrm>
            <a:off x="4683442" y="3447574"/>
            <a:ext cx="196138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8CB5CC"/>
                </a:solidFill>
                <a:latin typeface="Consolas"/>
                <a:ea typeface="Microsoft YaHei"/>
                <a:cs typeface="Consolas"/>
              </a:rPr>
              <a:t>ranked actions + confidence</a:t>
            </a:r>
          </a:p>
        </p:txBody>
      </p:sp>
      <p:sp>
        <p:nvSpPr>
          <p:cNvPr id="87" name="Rectangle 87"/>
          <p:cNvSpPr/>
          <p:nvPr/>
        </p:nvSpPr>
        <p:spPr>
          <a:xfrm>
            <a:off x="9048750" y="2428875"/>
            <a:ext cx="2381250" cy="819150"/>
          </a:xfrm>
          <a:prstGeom prst="roundRect">
            <a:avLst>
              <a:gd name="adj" fmla="val 16279"/>
            </a:avLst>
          </a:prstGeom>
          <a:solidFill>
            <a:srgbClr val="0A1A2D">
              <a:alpha val="96000"/>
            </a:srgbClr>
          </a:solidFill>
          <a:ln w="13335">
            <a:solidFill>
              <a:srgbClr val="FFB84D">
                <a:alpha val="96000"/>
              </a:srgbClr>
            </a:solidFill>
          </a:ln>
        </p:spPr>
      </p:sp>
      <p:sp>
        <p:nvSpPr>
          <p:cNvPr id="88" name="TextBox 88"/>
          <p:cNvSpPr txBox="1"/>
          <p:nvPr/>
        </p:nvSpPr>
        <p:spPr>
          <a:xfrm>
            <a:off x="9201150" y="2562225"/>
            <a:ext cx="144127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EAF7FF"/>
                </a:solidFill>
                <a:latin typeface="Arial"/>
                <a:ea typeface="Microsoft YaHei"/>
                <a:cs typeface="Arial"/>
              </a:rPr>
              <a:t>Policy Limits</a:t>
            </a:r>
          </a:p>
        </p:txBody>
      </p:sp>
      <p:sp>
        <p:nvSpPr>
          <p:cNvPr id="89" name="TextBox 89"/>
          <p:cNvSpPr txBox="1"/>
          <p:nvPr/>
        </p:nvSpPr>
        <p:spPr>
          <a:xfrm>
            <a:off x="9207818" y="2876074"/>
            <a:ext cx="184034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8CB5CC"/>
                </a:solidFill>
                <a:latin typeface="Consolas"/>
                <a:ea typeface="Microsoft YaHei"/>
                <a:cs typeface="Consolas"/>
              </a:rPr>
              <a:t>buffer zones • thresholds</a:t>
            </a:r>
          </a:p>
        </p:txBody>
      </p:sp>
      <p:sp>
        <p:nvSpPr>
          <p:cNvPr id="90" name="Rectangle 90"/>
          <p:cNvSpPr/>
          <p:nvPr/>
        </p:nvSpPr>
        <p:spPr>
          <a:xfrm>
            <a:off x="9048750" y="3714750"/>
            <a:ext cx="2381250" cy="819150"/>
          </a:xfrm>
          <a:prstGeom prst="roundRect">
            <a:avLst>
              <a:gd name="adj" fmla="val 16279"/>
            </a:avLst>
          </a:prstGeom>
          <a:solidFill>
            <a:srgbClr val="0A1A2D">
              <a:alpha val="96000"/>
            </a:srgbClr>
          </a:solidFill>
          <a:ln w="13335">
            <a:solidFill>
              <a:srgbClr val="62E58F">
                <a:alpha val="96000"/>
              </a:srgbClr>
            </a:solidFill>
          </a:ln>
        </p:spPr>
      </p:sp>
      <p:sp>
        <p:nvSpPr>
          <p:cNvPr id="91" name="TextBox 91"/>
          <p:cNvSpPr txBox="1"/>
          <p:nvPr/>
        </p:nvSpPr>
        <p:spPr>
          <a:xfrm>
            <a:off x="9201150" y="3848100"/>
            <a:ext cx="1855327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EAF7FF"/>
                </a:solidFill>
                <a:latin typeface="Arial"/>
                <a:ea typeface="Microsoft YaHei"/>
                <a:cs typeface="Arial"/>
              </a:rPr>
              <a:t>Farm Objectives</a:t>
            </a:r>
          </a:p>
        </p:txBody>
      </p:sp>
      <p:sp>
        <p:nvSpPr>
          <p:cNvPr id="92" name="TextBox 92"/>
          <p:cNvSpPr txBox="1"/>
          <p:nvPr/>
        </p:nvSpPr>
        <p:spPr>
          <a:xfrm>
            <a:off x="9207818" y="4161949"/>
            <a:ext cx="181186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8CB5CC"/>
                </a:solidFill>
                <a:latin typeface="Consolas"/>
                <a:ea typeface="Microsoft YaHei"/>
                <a:cs typeface="Consolas"/>
              </a:rPr>
              <a:t>yield • resilience • margin</a:t>
            </a:r>
          </a:p>
        </p:txBody>
      </p:sp>
      <p:sp>
        <p:nvSpPr>
          <p:cNvPr id="93" name="Line 93"/>
          <p:cNvSpPr/>
          <p:nvPr/>
        </p:nvSpPr>
        <p:spPr>
          <a:xfrm>
            <a:off x="3143250" y="2838450"/>
            <a:ext cx="1381125" cy="495300"/>
          </a:xfrm>
          <a:prstGeom prst="line">
            <a:avLst/>
          </a:prstGeom>
          <a:noFill/>
          <a:ln w="19050">
            <a:solidFill>
              <a:srgbClr val="27D8FF">
                <a:alpha val="90000"/>
              </a:srgbClr>
            </a:solidFill>
            <a:tailEnd type="triangle" w="lg" len="lg"/>
          </a:ln>
        </p:spPr>
      </p:sp>
      <p:sp>
        <p:nvSpPr>
          <p:cNvPr id="94" name="Line 94"/>
          <p:cNvSpPr/>
          <p:nvPr/>
        </p:nvSpPr>
        <p:spPr>
          <a:xfrm flipV="1">
            <a:off x="3143250" y="3619500"/>
            <a:ext cx="1381125" cy="504825"/>
          </a:xfrm>
          <a:prstGeom prst="line">
            <a:avLst/>
          </a:prstGeom>
          <a:noFill/>
          <a:ln w="19050">
            <a:solidFill>
              <a:srgbClr val="27D8FF">
                <a:alpha val="90000"/>
              </a:srgbClr>
            </a:solidFill>
            <a:tailEnd type="triangle" w="lg" len="lg"/>
          </a:ln>
        </p:spPr>
      </p:sp>
      <p:sp>
        <p:nvSpPr>
          <p:cNvPr id="95" name="Line 95"/>
          <p:cNvSpPr/>
          <p:nvPr/>
        </p:nvSpPr>
        <p:spPr>
          <a:xfrm flipH="1">
            <a:off x="7667625" y="2838450"/>
            <a:ext cx="1381125" cy="495300"/>
          </a:xfrm>
          <a:prstGeom prst="line">
            <a:avLst/>
          </a:prstGeom>
          <a:noFill/>
          <a:ln w="19050">
            <a:solidFill>
              <a:srgbClr val="27D8FF">
                <a:alpha val="90000"/>
              </a:srgbClr>
            </a:solidFill>
            <a:tailEnd type="triangle" w="lg" len="lg"/>
          </a:ln>
        </p:spPr>
      </p:sp>
      <p:sp>
        <p:nvSpPr>
          <p:cNvPr id="96" name="Line 96"/>
          <p:cNvSpPr/>
          <p:nvPr/>
        </p:nvSpPr>
        <p:spPr>
          <a:xfrm flipH="1" flipV="1">
            <a:off x="7667625" y="3619500"/>
            <a:ext cx="1381125" cy="504825"/>
          </a:xfrm>
          <a:prstGeom prst="line">
            <a:avLst/>
          </a:prstGeom>
          <a:noFill/>
          <a:ln w="19050">
            <a:solidFill>
              <a:srgbClr val="27D8FF">
                <a:alpha val="90000"/>
              </a:srgbClr>
            </a:solidFill>
            <a:tailEnd type="triangle" w="lg" len="lg"/>
          </a:ln>
        </p:spPr>
      </p:sp>
      <p:sp>
        <p:nvSpPr>
          <p:cNvPr id="97" name="Rectangle 97"/>
          <p:cNvSpPr/>
          <p:nvPr/>
        </p:nvSpPr>
        <p:spPr>
          <a:xfrm>
            <a:off x="3857625" y="4953000"/>
            <a:ext cx="4476750" cy="514350"/>
          </a:xfrm>
          <a:prstGeom prst="roundRect">
            <a:avLst>
              <a:gd name="adj" fmla="val 22222"/>
            </a:avLst>
          </a:prstGeom>
          <a:solidFill>
            <a:srgbClr val="0D2238"/>
          </a:solidFill>
          <a:ln w="9525">
            <a:solidFill>
              <a:srgbClr val="27D8FF"/>
            </a:solidFill>
          </a:ln>
        </p:spPr>
      </p:sp>
      <p:sp>
        <p:nvSpPr>
          <p:cNvPr id="98" name="TextBox 98"/>
          <p:cNvSpPr txBox="1"/>
          <p:nvPr/>
        </p:nvSpPr>
        <p:spPr>
          <a:xfrm>
            <a:off x="4097655" y="5131118"/>
            <a:ext cx="502262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27D8FF"/>
                </a:solidFill>
                <a:latin typeface="Consolas"/>
                <a:ea typeface="Microsoft YaHei"/>
                <a:cs typeface="Consolas"/>
              </a:rPr>
              <a:t>OUTPUT: irrigate BLOCK_07 / 11mm / confidence 0.82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11F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7524750" y="-1333500"/>
            <a:ext cx="4953000" cy="4953000"/>
          </a:xfrm>
          <a:prstGeom prst="ellipse">
            <a:avLst/>
          </a:prstGeom>
          <a:solidFill>
            <a:srgbClr val="27D8FF">
              <a:alpha val="55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-381000" y="3714750"/>
            <a:ext cx="4191000" cy="4191000"/>
          </a:xfrm>
          <a:prstGeom prst="ellipse">
            <a:avLst/>
          </a:prstGeom>
          <a:solidFill>
            <a:srgbClr val="62E58F">
              <a:alpha val="3500"/>
            </a:srgbClr>
          </a:solidFill>
          <a:ln>
            <a:noFill/>
          </a:ln>
        </p:spPr>
      </p:sp>
      <p:grpSp>
        <p:nvGrpSpPr>
          <p:cNvPr id="71" name="Group 71"/>
          <p:cNvGrpSpPr/>
          <p:nvPr/>
        </p:nvGrpSpPr>
        <p:grpSpPr>
          <a:xfrm>
            <a:off x="0" y="0"/>
            <a:ext cx="12201525" cy="6867525"/>
            <a:chOff x="0" y="0"/>
            <a:chExt cx="12201525" cy="6867525"/>
          </a:xfrm>
        </p:grpSpPr>
        <p:sp>
          <p:nvSpPr>
            <p:cNvPr id="5" name="Line 5"/>
            <p:cNvSpPr/>
            <p:nvPr/>
          </p:nvSpPr>
          <p:spPr>
            <a:xfrm>
              <a:off x="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381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762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1143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152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1905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228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2667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304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3429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3810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4191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4572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4953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533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5715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609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6477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685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24" name="Line 24"/>
            <p:cNvSpPr/>
            <p:nvPr/>
          </p:nvSpPr>
          <p:spPr>
            <a:xfrm>
              <a:off x="7239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7620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26" name="Line 26"/>
            <p:cNvSpPr/>
            <p:nvPr/>
          </p:nvSpPr>
          <p:spPr>
            <a:xfrm>
              <a:off x="8001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27" name="Line 27"/>
            <p:cNvSpPr/>
            <p:nvPr/>
          </p:nvSpPr>
          <p:spPr>
            <a:xfrm>
              <a:off x="8382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28" name="Line 28"/>
            <p:cNvSpPr/>
            <p:nvPr/>
          </p:nvSpPr>
          <p:spPr>
            <a:xfrm>
              <a:off x="8763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29" name="Line 29"/>
            <p:cNvSpPr/>
            <p:nvPr/>
          </p:nvSpPr>
          <p:spPr>
            <a:xfrm>
              <a:off x="914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30" name="Line 30"/>
            <p:cNvSpPr/>
            <p:nvPr/>
          </p:nvSpPr>
          <p:spPr>
            <a:xfrm>
              <a:off x="9525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31" name="Line 31"/>
            <p:cNvSpPr/>
            <p:nvPr/>
          </p:nvSpPr>
          <p:spPr>
            <a:xfrm>
              <a:off x="990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32" name="Line 32"/>
            <p:cNvSpPr/>
            <p:nvPr/>
          </p:nvSpPr>
          <p:spPr>
            <a:xfrm>
              <a:off x="10287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33" name="Line 33"/>
            <p:cNvSpPr/>
            <p:nvPr/>
          </p:nvSpPr>
          <p:spPr>
            <a:xfrm>
              <a:off x="1066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34" name="Line 34"/>
            <p:cNvSpPr/>
            <p:nvPr/>
          </p:nvSpPr>
          <p:spPr>
            <a:xfrm>
              <a:off x="11049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35" name="Line 35"/>
            <p:cNvSpPr/>
            <p:nvPr/>
          </p:nvSpPr>
          <p:spPr>
            <a:xfrm>
              <a:off x="11430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36" name="Line 36"/>
            <p:cNvSpPr/>
            <p:nvPr/>
          </p:nvSpPr>
          <p:spPr>
            <a:xfrm>
              <a:off x="11811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37" name="Line 37"/>
            <p:cNvSpPr/>
            <p:nvPr/>
          </p:nvSpPr>
          <p:spPr>
            <a:xfrm>
              <a:off x="12192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38" name="Line 38"/>
            <p:cNvSpPr/>
            <p:nvPr/>
          </p:nvSpPr>
          <p:spPr>
            <a:xfrm>
              <a:off x="0" y="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39" name="Line 39"/>
            <p:cNvSpPr/>
            <p:nvPr/>
          </p:nvSpPr>
          <p:spPr>
            <a:xfrm>
              <a:off x="0" y="381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40" name="Line 40"/>
            <p:cNvSpPr/>
            <p:nvPr/>
          </p:nvSpPr>
          <p:spPr>
            <a:xfrm>
              <a:off x="0" y="762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41" name="Line 41"/>
            <p:cNvSpPr/>
            <p:nvPr/>
          </p:nvSpPr>
          <p:spPr>
            <a:xfrm>
              <a:off x="0" y="1143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42" name="Line 42"/>
            <p:cNvSpPr/>
            <p:nvPr/>
          </p:nvSpPr>
          <p:spPr>
            <a:xfrm>
              <a:off x="0" y="1524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43" name="Line 43"/>
            <p:cNvSpPr/>
            <p:nvPr/>
          </p:nvSpPr>
          <p:spPr>
            <a:xfrm>
              <a:off x="0" y="1905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44" name="Line 44"/>
            <p:cNvSpPr/>
            <p:nvPr/>
          </p:nvSpPr>
          <p:spPr>
            <a:xfrm>
              <a:off x="0" y="2286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45" name="Line 45"/>
            <p:cNvSpPr/>
            <p:nvPr/>
          </p:nvSpPr>
          <p:spPr>
            <a:xfrm>
              <a:off x="0" y="2667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46" name="Line 46"/>
            <p:cNvSpPr/>
            <p:nvPr/>
          </p:nvSpPr>
          <p:spPr>
            <a:xfrm>
              <a:off x="0" y="3048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47" name="Line 47"/>
            <p:cNvSpPr/>
            <p:nvPr/>
          </p:nvSpPr>
          <p:spPr>
            <a:xfrm>
              <a:off x="0" y="3429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48" name="Line 48"/>
            <p:cNvSpPr/>
            <p:nvPr/>
          </p:nvSpPr>
          <p:spPr>
            <a:xfrm>
              <a:off x="0" y="3810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49" name="Line 49"/>
            <p:cNvSpPr/>
            <p:nvPr/>
          </p:nvSpPr>
          <p:spPr>
            <a:xfrm>
              <a:off x="0" y="4191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50" name="Line 50"/>
            <p:cNvSpPr/>
            <p:nvPr/>
          </p:nvSpPr>
          <p:spPr>
            <a:xfrm>
              <a:off x="0" y="4572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51" name="Line 51"/>
            <p:cNvSpPr/>
            <p:nvPr/>
          </p:nvSpPr>
          <p:spPr>
            <a:xfrm>
              <a:off x="0" y="4953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52" name="Line 52"/>
            <p:cNvSpPr/>
            <p:nvPr/>
          </p:nvSpPr>
          <p:spPr>
            <a:xfrm>
              <a:off x="0" y="5334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53" name="Line 53"/>
            <p:cNvSpPr/>
            <p:nvPr/>
          </p:nvSpPr>
          <p:spPr>
            <a:xfrm>
              <a:off x="0" y="5715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54" name="Line 54"/>
            <p:cNvSpPr/>
            <p:nvPr/>
          </p:nvSpPr>
          <p:spPr>
            <a:xfrm>
              <a:off x="0" y="6096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55" name="Line 55"/>
            <p:cNvSpPr/>
            <p:nvPr/>
          </p:nvSpPr>
          <p:spPr>
            <a:xfrm>
              <a:off x="0" y="6477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56" name="Line 56"/>
            <p:cNvSpPr/>
            <p:nvPr/>
          </p:nvSpPr>
          <p:spPr>
            <a:xfrm>
              <a:off x="0" y="6858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57" name="Line 57"/>
            <p:cNvSpPr/>
            <p:nvPr/>
          </p:nvSpPr>
          <p:spPr>
            <a:xfrm>
              <a:off x="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5715">
              <a:solidFill>
                <a:srgbClr val="27D8FF">
                  <a:alpha val="16000"/>
                </a:srgbClr>
              </a:solidFill>
            </a:ln>
          </p:spPr>
        </p:sp>
        <p:sp>
          <p:nvSpPr>
            <p:cNvPr id="58" name="Line 58"/>
            <p:cNvSpPr/>
            <p:nvPr/>
          </p:nvSpPr>
          <p:spPr>
            <a:xfrm>
              <a:off x="152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5715">
              <a:solidFill>
                <a:srgbClr val="27D8FF">
                  <a:alpha val="16000"/>
                </a:srgbClr>
              </a:solidFill>
            </a:ln>
          </p:spPr>
        </p:sp>
        <p:sp>
          <p:nvSpPr>
            <p:cNvPr id="59" name="Line 59"/>
            <p:cNvSpPr/>
            <p:nvPr/>
          </p:nvSpPr>
          <p:spPr>
            <a:xfrm>
              <a:off x="304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5715">
              <a:solidFill>
                <a:srgbClr val="27D8FF">
                  <a:alpha val="16000"/>
                </a:srgbClr>
              </a:solidFill>
            </a:ln>
          </p:spPr>
        </p:sp>
        <p:sp>
          <p:nvSpPr>
            <p:cNvPr id="60" name="Line 60"/>
            <p:cNvSpPr/>
            <p:nvPr/>
          </p:nvSpPr>
          <p:spPr>
            <a:xfrm>
              <a:off x="4572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5715">
              <a:solidFill>
                <a:srgbClr val="27D8FF">
                  <a:alpha val="16000"/>
                </a:srgbClr>
              </a:solidFill>
            </a:ln>
          </p:spPr>
        </p:sp>
        <p:sp>
          <p:nvSpPr>
            <p:cNvPr id="61" name="Line 61"/>
            <p:cNvSpPr/>
            <p:nvPr/>
          </p:nvSpPr>
          <p:spPr>
            <a:xfrm>
              <a:off x="609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5715">
              <a:solidFill>
                <a:srgbClr val="27D8FF">
                  <a:alpha val="16000"/>
                </a:srgbClr>
              </a:solidFill>
            </a:ln>
          </p:spPr>
        </p:sp>
        <p:sp>
          <p:nvSpPr>
            <p:cNvPr id="62" name="Line 62"/>
            <p:cNvSpPr/>
            <p:nvPr/>
          </p:nvSpPr>
          <p:spPr>
            <a:xfrm>
              <a:off x="7620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5715">
              <a:solidFill>
                <a:srgbClr val="27D8FF">
                  <a:alpha val="16000"/>
                </a:srgbClr>
              </a:solidFill>
            </a:ln>
          </p:spPr>
        </p:sp>
        <p:sp>
          <p:nvSpPr>
            <p:cNvPr id="63" name="Line 63"/>
            <p:cNvSpPr/>
            <p:nvPr/>
          </p:nvSpPr>
          <p:spPr>
            <a:xfrm>
              <a:off x="914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5715">
              <a:solidFill>
                <a:srgbClr val="27D8FF">
                  <a:alpha val="16000"/>
                </a:srgbClr>
              </a:solidFill>
            </a:ln>
          </p:spPr>
        </p:sp>
        <p:sp>
          <p:nvSpPr>
            <p:cNvPr id="64" name="Line 64"/>
            <p:cNvSpPr/>
            <p:nvPr/>
          </p:nvSpPr>
          <p:spPr>
            <a:xfrm>
              <a:off x="1066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5715">
              <a:solidFill>
                <a:srgbClr val="27D8FF">
                  <a:alpha val="16000"/>
                </a:srgbClr>
              </a:solidFill>
            </a:ln>
          </p:spPr>
        </p:sp>
        <p:sp>
          <p:nvSpPr>
            <p:cNvPr id="65" name="Line 65"/>
            <p:cNvSpPr/>
            <p:nvPr/>
          </p:nvSpPr>
          <p:spPr>
            <a:xfrm>
              <a:off x="12192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5715">
              <a:solidFill>
                <a:srgbClr val="27D8FF">
                  <a:alpha val="16000"/>
                </a:srgbClr>
              </a:solidFill>
            </a:ln>
          </p:spPr>
        </p:sp>
        <p:sp>
          <p:nvSpPr>
            <p:cNvPr id="66" name="Line 66"/>
            <p:cNvSpPr/>
            <p:nvPr/>
          </p:nvSpPr>
          <p:spPr>
            <a:xfrm>
              <a:off x="0" y="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5715">
              <a:solidFill>
                <a:srgbClr val="27D8FF">
                  <a:alpha val="16000"/>
                </a:srgbClr>
              </a:solidFill>
            </a:ln>
          </p:spPr>
        </p:sp>
        <p:sp>
          <p:nvSpPr>
            <p:cNvPr id="67" name="Line 67"/>
            <p:cNvSpPr/>
            <p:nvPr/>
          </p:nvSpPr>
          <p:spPr>
            <a:xfrm>
              <a:off x="0" y="1524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5715">
              <a:solidFill>
                <a:srgbClr val="27D8FF">
                  <a:alpha val="16000"/>
                </a:srgbClr>
              </a:solidFill>
            </a:ln>
          </p:spPr>
        </p:sp>
        <p:sp>
          <p:nvSpPr>
            <p:cNvPr id="68" name="Line 68"/>
            <p:cNvSpPr/>
            <p:nvPr/>
          </p:nvSpPr>
          <p:spPr>
            <a:xfrm>
              <a:off x="0" y="3048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5715">
              <a:solidFill>
                <a:srgbClr val="27D8FF">
                  <a:alpha val="16000"/>
                </a:srgbClr>
              </a:solidFill>
            </a:ln>
          </p:spPr>
        </p:sp>
        <p:sp>
          <p:nvSpPr>
            <p:cNvPr id="69" name="Line 69"/>
            <p:cNvSpPr/>
            <p:nvPr/>
          </p:nvSpPr>
          <p:spPr>
            <a:xfrm>
              <a:off x="0" y="4572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5715">
              <a:solidFill>
                <a:srgbClr val="27D8FF">
                  <a:alpha val="16000"/>
                </a:srgbClr>
              </a:solidFill>
            </a:ln>
          </p:spPr>
        </p:sp>
        <p:sp>
          <p:nvSpPr>
            <p:cNvPr id="70" name="Line 70"/>
            <p:cNvSpPr/>
            <p:nvPr/>
          </p:nvSpPr>
          <p:spPr>
            <a:xfrm>
              <a:off x="0" y="6096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5715">
              <a:solidFill>
                <a:srgbClr val="27D8FF">
                  <a:alpha val="16000"/>
                </a:srgbClr>
              </a:solidFill>
            </a:ln>
          </p:spPr>
        </p:sp>
      </p:grpSp>
      <p:sp>
        <p:nvSpPr>
          <p:cNvPr id="72" name="TextBox 72"/>
          <p:cNvSpPr txBox="1"/>
          <p:nvPr/>
        </p:nvSpPr>
        <p:spPr>
          <a:xfrm>
            <a:off x="347662" y="240506"/>
            <a:ext cx="229600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27D8FF">
                    <a:alphaMod val="88000"/>
                  </a:srgbClr>
                </a:solidFill>
                <a:latin typeface="Consolas"/>
                <a:ea typeface="Microsoft YaHei"/>
                <a:cs typeface="Consolas"/>
              </a:rPr>
              <a:t>AGRI_AI_OS // BLUEPRINT::07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10606088" y="240506"/>
            <a:ext cx="71044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8CB5CC"/>
                </a:solidFill>
                <a:latin typeface="Consolas"/>
                <a:ea typeface="Microsoft YaHei"/>
                <a:cs typeface="Consolas"/>
              </a:rPr>
              <a:t>1280×720</a:t>
            </a:r>
          </a:p>
        </p:txBody>
      </p:sp>
      <p:sp>
        <p:nvSpPr>
          <p:cNvPr id="74" name="Line 74"/>
          <p:cNvSpPr/>
          <p:nvPr/>
        </p:nvSpPr>
        <p:spPr>
          <a:xfrm>
            <a:off x="361950" y="495300"/>
            <a:ext cx="11468100" cy="9525"/>
          </a:xfrm>
          <a:custGeom>
            <a:avLst/>
            <a:gdLst/>
            <a:ahLst/>
            <a:cxnLst/>
            <a:rect l="l" t="t" r="r" b="b"/>
            <a:pathLst>
              <a:path w="11468100" h="9525">
                <a:moveTo>
                  <a:pt x="0" y="0"/>
                </a:moveTo>
                <a:lnTo>
                  <a:pt x="11468100" y="0"/>
                </a:lnTo>
              </a:path>
            </a:pathLst>
          </a:custGeom>
          <a:noFill/>
          <a:ln w="9525">
            <a:solidFill>
              <a:srgbClr val="27D8FF">
                <a:alpha val="45000"/>
              </a:srgbClr>
            </a:solidFill>
          </a:ln>
        </p:spPr>
      </p:sp>
      <p:sp>
        <p:nvSpPr>
          <p:cNvPr id="75" name="TextBox 75"/>
          <p:cNvSpPr txBox="1"/>
          <p:nvPr/>
        </p:nvSpPr>
        <p:spPr>
          <a:xfrm>
            <a:off x="521970" y="731520"/>
            <a:ext cx="9722168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EAF7FF"/>
                </a:solidFill>
                <a:latin typeface="Arial"/>
                <a:ea typeface="Microsoft YaHei"/>
                <a:cs typeface="Arial"/>
              </a:rPr>
              <a:t>Autonomous execution stays inside policy, equipment,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521970" y="1112520"/>
            <a:ext cx="4514317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EAF7FF"/>
                </a:solidFill>
                <a:latin typeface="Arial"/>
                <a:ea typeface="Microsoft YaHei"/>
                <a:cs typeface="Arial"/>
              </a:rPr>
              <a:t>and weather constraints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554355" y="1511618"/>
            <a:ext cx="1032643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8CB5CC"/>
                </a:solidFill>
                <a:latin typeface="Arial"/>
                <a:ea typeface="Microsoft YaHei"/>
                <a:cs typeface="Arial"/>
              </a:rPr>
              <a:t>The control plane checks every proposed field action against safety limits before dispatching to machines.</a:t>
            </a:r>
          </a:p>
        </p:txBody>
      </p:sp>
      <p:sp>
        <p:nvSpPr>
          <p:cNvPr id="78" name="Rectangle 78"/>
          <p:cNvSpPr/>
          <p:nvPr/>
        </p:nvSpPr>
        <p:spPr>
          <a:xfrm>
            <a:off x="952500" y="3190875"/>
            <a:ext cx="1666875" cy="800100"/>
          </a:xfrm>
          <a:prstGeom prst="roundRect">
            <a:avLst>
              <a:gd name="adj" fmla="val 16667"/>
            </a:avLst>
          </a:prstGeom>
          <a:solidFill>
            <a:srgbClr val="0A1A2D">
              <a:alpha val="96000"/>
            </a:srgbClr>
          </a:solidFill>
          <a:ln w="13335">
            <a:solidFill>
              <a:srgbClr val="27D8FF">
                <a:alpha val="96000"/>
              </a:srgbClr>
            </a:solidFill>
          </a:ln>
        </p:spPr>
      </p:sp>
      <p:sp>
        <p:nvSpPr>
          <p:cNvPr id="79" name="TextBox 79"/>
          <p:cNvSpPr txBox="1"/>
          <p:nvPr/>
        </p:nvSpPr>
        <p:spPr>
          <a:xfrm>
            <a:off x="1104900" y="3324225"/>
            <a:ext cx="101572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EAF7FF"/>
                </a:solidFill>
                <a:latin typeface="Arial"/>
                <a:ea typeface="Microsoft YaHei"/>
                <a:cs typeface="Arial"/>
              </a:rPr>
              <a:t>PROPOSE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1111568" y="3638074"/>
            <a:ext cx="62284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8CB5CC"/>
                </a:solidFill>
                <a:latin typeface="Consolas"/>
                <a:ea typeface="Microsoft YaHei"/>
                <a:cs typeface="Consolas"/>
              </a:rPr>
              <a:t>AI action</a:t>
            </a:r>
          </a:p>
        </p:txBody>
      </p:sp>
      <p:sp>
        <p:nvSpPr>
          <p:cNvPr id="81" name="Line 81"/>
          <p:cNvSpPr/>
          <p:nvPr/>
        </p:nvSpPr>
        <p:spPr>
          <a:xfrm>
            <a:off x="2619375" y="3590925"/>
            <a:ext cx="523875" cy="1"/>
          </a:xfrm>
          <a:prstGeom prst="line">
            <a:avLst/>
          </a:prstGeom>
          <a:noFill/>
          <a:ln w="19050">
            <a:solidFill>
              <a:srgbClr val="27D8FF">
                <a:alpha val="90000"/>
              </a:srgbClr>
            </a:solidFill>
            <a:tailEnd type="triangle" w="lg" len="lg"/>
          </a:ln>
        </p:spPr>
      </p:sp>
      <p:sp>
        <p:nvSpPr>
          <p:cNvPr id="82" name="Rectangle 82"/>
          <p:cNvSpPr/>
          <p:nvPr/>
        </p:nvSpPr>
        <p:spPr>
          <a:xfrm>
            <a:off x="3143250" y="3190875"/>
            <a:ext cx="1666875" cy="800100"/>
          </a:xfrm>
          <a:prstGeom prst="roundRect">
            <a:avLst>
              <a:gd name="adj" fmla="val 16667"/>
            </a:avLst>
          </a:prstGeom>
          <a:solidFill>
            <a:srgbClr val="0A1A2D">
              <a:alpha val="96000"/>
            </a:srgbClr>
          </a:solidFill>
          <a:ln w="13335">
            <a:solidFill>
              <a:srgbClr val="FFB84D">
                <a:alpha val="96000"/>
              </a:srgbClr>
            </a:solidFill>
          </a:ln>
        </p:spPr>
      </p:sp>
      <p:sp>
        <p:nvSpPr>
          <p:cNvPr id="83" name="TextBox 83"/>
          <p:cNvSpPr txBox="1"/>
          <p:nvPr/>
        </p:nvSpPr>
        <p:spPr>
          <a:xfrm>
            <a:off x="3295650" y="3324225"/>
            <a:ext cx="67067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EAF7FF"/>
                </a:solidFill>
                <a:latin typeface="Arial"/>
                <a:ea typeface="Microsoft YaHei"/>
                <a:cs typeface="Arial"/>
              </a:rPr>
              <a:t>CHECK</a:t>
            </a:r>
          </a:p>
        </p:txBody>
      </p:sp>
      <p:sp>
        <p:nvSpPr>
          <p:cNvPr id="84" name="TextBox 84"/>
          <p:cNvSpPr txBox="1"/>
          <p:nvPr/>
        </p:nvSpPr>
        <p:spPr>
          <a:xfrm>
            <a:off x="3302318" y="3638074"/>
            <a:ext cx="42348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8CB5CC"/>
                </a:solidFill>
                <a:latin typeface="Consolas"/>
                <a:ea typeface="Microsoft YaHei"/>
                <a:cs typeface="Consolas"/>
              </a:rPr>
              <a:t>policy</a:t>
            </a:r>
          </a:p>
        </p:txBody>
      </p:sp>
      <p:sp>
        <p:nvSpPr>
          <p:cNvPr id="85" name="Line 85"/>
          <p:cNvSpPr/>
          <p:nvPr/>
        </p:nvSpPr>
        <p:spPr>
          <a:xfrm>
            <a:off x="4810125" y="3590925"/>
            <a:ext cx="523875" cy="1"/>
          </a:xfrm>
          <a:prstGeom prst="line">
            <a:avLst/>
          </a:prstGeom>
          <a:noFill/>
          <a:ln w="19050">
            <a:solidFill>
              <a:srgbClr val="27D8FF">
                <a:alpha val="90000"/>
              </a:srgbClr>
            </a:solidFill>
            <a:tailEnd type="triangle" w="lg" len="lg"/>
          </a:ln>
        </p:spPr>
      </p:sp>
      <p:sp>
        <p:nvSpPr>
          <p:cNvPr id="86" name="Rectangle 86"/>
          <p:cNvSpPr/>
          <p:nvPr/>
        </p:nvSpPr>
        <p:spPr>
          <a:xfrm>
            <a:off x="5334000" y="3190875"/>
            <a:ext cx="1666875" cy="800100"/>
          </a:xfrm>
          <a:prstGeom prst="roundRect">
            <a:avLst>
              <a:gd name="adj" fmla="val 16667"/>
            </a:avLst>
          </a:prstGeom>
          <a:solidFill>
            <a:srgbClr val="0A1A2D">
              <a:alpha val="96000"/>
            </a:srgbClr>
          </a:solidFill>
          <a:ln w="13335">
            <a:solidFill>
              <a:srgbClr val="62E58F">
                <a:alpha val="96000"/>
              </a:srgbClr>
            </a:solidFill>
          </a:ln>
        </p:spPr>
      </p:sp>
      <p:sp>
        <p:nvSpPr>
          <p:cNvPr id="87" name="TextBox 87"/>
          <p:cNvSpPr txBox="1"/>
          <p:nvPr/>
        </p:nvSpPr>
        <p:spPr>
          <a:xfrm>
            <a:off x="5486400" y="3324225"/>
            <a:ext cx="103872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EAF7FF"/>
                </a:solidFill>
                <a:latin typeface="Arial"/>
                <a:ea typeface="Microsoft YaHei"/>
                <a:cs typeface="Arial"/>
              </a:rPr>
              <a:t>SIMULATE</a:t>
            </a:r>
          </a:p>
        </p:txBody>
      </p:sp>
      <p:sp>
        <p:nvSpPr>
          <p:cNvPr id="88" name="TextBox 88"/>
          <p:cNvSpPr txBox="1"/>
          <p:nvPr/>
        </p:nvSpPr>
        <p:spPr>
          <a:xfrm>
            <a:off x="5493068" y="3638074"/>
            <a:ext cx="72251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8CB5CC"/>
                </a:solidFill>
                <a:latin typeface="Consolas"/>
                <a:ea typeface="Microsoft YaHei"/>
                <a:cs typeface="Consolas"/>
              </a:rPr>
              <a:t>equipment</a:t>
            </a:r>
          </a:p>
        </p:txBody>
      </p:sp>
      <p:sp>
        <p:nvSpPr>
          <p:cNvPr id="89" name="Line 89"/>
          <p:cNvSpPr/>
          <p:nvPr/>
        </p:nvSpPr>
        <p:spPr>
          <a:xfrm>
            <a:off x="7000875" y="3590925"/>
            <a:ext cx="523875" cy="1"/>
          </a:xfrm>
          <a:prstGeom prst="line">
            <a:avLst/>
          </a:prstGeom>
          <a:noFill/>
          <a:ln w="19050">
            <a:solidFill>
              <a:srgbClr val="27D8FF">
                <a:alpha val="90000"/>
              </a:srgbClr>
            </a:solidFill>
            <a:tailEnd type="triangle" w="lg" len="lg"/>
          </a:ln>
        </p:spPr>
      </p:sp>
      <p:sp>
        <p:nvSpPr>
          <p:cNvPr id="90" name="Rectangle 90"/>
          <p:cNvSpPr/>
          <p:nvPr/>
        </p:nvSpPr>
        <p:spPr>
          <a:xfrm>
            <a:off x="7524750" y="3190875"/>
            <a:ext cx="1666875" cy="800100"/>
          </a:xfrm>
          <a:prstGeom prst="roundRect">
            <a:avLst>
              <a:gd name="adj" fmla="val 16667"/>
            </a:avLst>
          </a:prstGeom>
          <a:solidFill>
            <a:srgbClr val="0A1A2D">
              <a:alpha val="96000"/>
            </a:srgbClr>
          </a:solidFill>
          <a:ln w="13335">
            <a:solidFill>
              <a:srgbClr val="7BE8FF">
                <a:alpha val="96000"/>
              </a:srgbClr>
            </a:solidFill>
          </a:ln>
        </p:spPr>
      </p:sp>
      <p:sp>
        <p:nvSpPr>
          <p:cNvPr id="91" name="TextBox 91"/>
          <p:cNvSpPr txBox="1"/>
          <p:nvPr/>
        </p:nvSpPr>
        <p:spPr>
          <a:xfrm>
            <a:off x="7677150" y="3324225"/>
            <a:ext cx="96971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EAF7FF"/>
                </a:solidFill>
                <a:latin typeface="Arial"/>
                <a:ea typeface="Microsoft YaHei"/>
                <a:cs typeface="Arial"/>
              </a:rPr>
              <a:t>WEATHER</a:t>
            </a:r>
          </a:p>
        </p:txBody>
      </p:sp>
      <p:sp>
        <p:nvSpPr>
          <p:cNvPr id="92" name="TextBox 92"/>
          <p:cNvSpPr txBox="1"/>
          <p:nvPr/>
        </p:nvSpPr>
        <p:spPr>
          <a:xfrm>
            <a:off x="7683818" y="3638074"/>
            <a:ext cx="51604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8CB5CC"/>
                </a:solidFill>
                <a:latin typeface="Consolas"/>
                <a:ea typeface="Microsoft YaHei"/>
                <a:cs typeface="Consolas"/>
              </a:rPr>
              <a:t>window</a:t>
            </a:r>
          </a:p>
        </p:txBody>
      </p:sp>
      <p:sp>
        <p:nvSpPr>
          <p:cNvPr id="93" name="Line 93"/>
          <p:cNvSpPr/>
          <p:nvPr/>
        </p:nvSpPr>
        <p:spPr>
          <a:xfrm>
            <a:off x="9191625" y="3590925"/>
            <a:ext cx="523875" cy="1"/>
          </a:xfrm>
          <a:prstGeom prst="line">
            <a:avLst/>
          </a:prstGeom>
          <a:noFill/>
          <a:ln w="19050">
            <a:solidFill>
              <a:srgbClr val="27D8FF">
                <a:alpha val="90000"/>
              </a:srgbClr>
            </a:solidFill>
            <a:tailEnd type="triangle" w="lg" len="lg"/>
          </a:ln>
        </p:spPr>
      </p:sp>
      <p:sp>
        <p:nvSpPr>
          <p:cNvPr id="94" name="Rectangle 94"/>
          <p:cNvSpPr/>
          <p:nvPr/>
        </p:nvSpPr>
        <p:spPr>
          <a:xfrm>
            <a:off x="9715500" y="3190875"/>
            <a:ext cx="1666875" cy="800100"/>
          </a:xfrm>
          <a:prstGeom prst="roundRect">
            <a:avLst>
              <a:gd name="adj" fmla="val 16667"/>
            </a:avLst>
          </a:prstGeom>
          <a:solidFill>
            <a:srgbClr val="0A1A2D">
              <a:alpha val="96000"/>
            </a:srgbClr>
          </a:solidFill>
          <a:ln w="13335">
            <a:solidFill>
              <a:srgbClr val="FF4FD8">
                <a:alpha val="96000"/>
              </a:srgbClr>
            </a:solidFill>
          </a:ln>
        </p:spPr>
      </p:sp>
      <p:sp>
        <p:nvSpPr>
          <p:cNvPr id="95" name="TextBox 95"/>
          <p:cNvSpPr txBox="1"/>
          <p:nvPr/>
        </p:nvSpPr>
        <p:spPr>
          <a:xfrm>
            <a:off x="9867900" y="3324225"/>
            <a:ext cx="99271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EAF7FF"/>
                </a:solidFill>
                <a:latin typeface="Arial"/>
                <a:ea typeface="Microsoft YaHei"/>
                <a:cs typeface="Arial"/>
              </a:rPr>
              <a:t>DISPATCH</a:t>
            </a:r>
          </a:p>
        </p:txBody>
      </p:sp>
      <p:sp>
        <p:nvSpPr>
          <p:cNvPr id="96" name="TextBox 96"/>
          <p:cNvSpPr txBox="1"/>
          <p:nvPr/>
        </p:nvSpPr>
        <p:spPr>
          <a:xfrm>
            <a:off x="9874568" y="3638074"/>
            <a:ext cx="56588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8CB5CC"/>
                </a:solidFill>
                <a:latin typeface="Consolas"/>
                <a:ea typeface="Microsoft YaHei"/>
                <a:cs typeface="Consolas"/>
              </a:rPr>
              <a:t>machine</a:t>
            </a:r>
          </a:p>
        </p:txBody>
      </p:sp>
      <p:sp>
        <p:nvSpPr>
          <p:cNvPr id="97" name="Freeform 97"/>
          <p:cNvSpPr/>
          <p:nvPr/>
        </p:nvSpPr>
        <p:spPr>
          <a:xfrm>
            <a:off x="3619500" y="2381250"/>
            <a:ext cx="2495550" cy="809625"/>
          </a:xfrm>
          <a:custGeom>
            <a:avLst/>
            <a:gdLst/>
            <a:ahLst/>
            <a:cxnLst/>
            <a:rect l="l" t="t" r="r" b="b"/>
            <a:pathLst>
              <a:path w="2495550" h="809625">
                <a:moveTo>
                  <a:pt x="2495550" y="809625"/>
                </a:moveTo>
                <a:cubicBezTo>
                  <a:pt x="2495550" y="0"/>
                  <a:pt x="0" y="0"/>
                  <a:pt x="0" y="809625"/>
                </a:cubicBezTo>
              </a:path>
            </a:pathLst>
          </a:custGeom>
          <a:noFill/>
          <a:ln w="19050">
            <a:solidFill>
              <a:srgbClr val="FF5B6E"/>
            </a:solidFill>
            <a:custDash>
              <a:ds d="400000" sp="300000"/>
            </a:custDash>
            <a:tailEnd type="triangle" w="lg" len="lg"/>
          </a:ln>
        </p:spPr>
      </p:sp>
      <p:sp>
        <p:nvSpPr>
          <p:cNvPr id="98" name="TextBox 98"/>
          <p:cNvSpPr txBox="1"/>
          <p:nvPr/>
        </p:nvSpPr>
        <p:spPr>
          <a:xfrm>
            <a:off x="4024312" y="2212181"/>
            <a:ext cx="356937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FF5B6E"/>
                </a:solidFill>
                <a:latin typeface="Consolas"/>
                <a:ea typeface="Microsoft YaHei"/>
                <a:cs typeface="Consolas"/>
              </a:rPr>
              <a:t>DENY → request human review / safe fallback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11F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7524750" y="-1333500"/>
            <a:ext cx="4953000" cy="4953000"/>
          </a:xfrm>
          <a:prstGeom prst="ellipse">
            <a:avLst/>
          </a:prstGeom>
          <a:solidFill>
            <a:srgbClr val="27D8FF">
              <a:alpha val="55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-381000" y="3714750"/>
            <a:ext cx="4191000" cy="4191000"/>
          </a:xfrm>
          <a:prstGeom prst="ellipse">
            <a:avLst/>
          </a:prstGeom>
          <a:solidFill>
            <a:srgbClr val="62E58F">
              <a:alpha val="3500"/>
            </a:srgbClr>
          </a:solidFill>
          <a:ln>
            <a:noFill/>
          </a:ln>
        </p:spPr>
      </p:sp>
      <p:grpSp>
        <p:nvGrpSpPr>
          <p:cNvPr id="71" name="Group 71"/>
          <p:cNvGrpSpPr/>
          <p:nvPr/>
        </p:nvGrpSpPr>
        <p:grpSpPr>
          <a:xfrm>
            <a:off x="0" y="0"/>
            <a:ext cx="12201525" cy="6867525"/>
            <a:chOff x="0" y="0"/>
            <a:chExt cx="12201525" cy="6867525"/>
          </a:xfrm>
        </p:grpSpPr>
        <p:sp>
          <p:nvSpPr>
            <p:cNvPr id="5" name="Line 5"/>
            <p:cNvSpPr/>
            <p:nvPr/>
          </p:nvSpPr>
          <p:spPr>
            <a:xfrm>
              <a:off x="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381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762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1143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152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1905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228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2667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304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3429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3810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4191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4572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4953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533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5715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609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6477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685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24" name="Line 24"/>
            <p:cNvSpPr/>
            <p:nvPr/>
          </p:nvSpPr>
          <p:spPr>
            <a:xfrm>
              <a:off x="7239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7620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26" name="Line 26"/>
            <p:cNvSpPr/>
            <p:nvPr/>
          </p:nvSpPr>
          <p:spPr>
            <a:xfrm>
              <a:off x="8001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27" name="Line 27"/>
            <p:cNvSpPr/>
            <p:nvPr/>
          </p:nvSpPr>
          <p:spPr>
            <a:xfrm>
              <a:off x="8382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28" name="Line 28"/>
            <p:cNvSpPr/>
            <p:nvPr/>
          </p:nvSpPr>
          <p:spPr>
            <a:xfrm>
              <a:off x="8763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29" name="Line 29"/>
            <p:cNvSpPr/>
            <p:nvPr/>
          </p:nvSpPr>
          <p:spPr>
            <a:xfrm>
              <a:off x="914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30" name="Line 30"/>
            <p:cNvSpPr/>
            <p:nvPr/>
          </p:nvSpPr>
          <p:spPr>
            <a:xfrm>
              <a:off x="9525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31" name="Line 31"/>
            <p:cNvSpPr/>
            <p:nvPr/>
          </p:nvSpPr>
          <p:spPr>
            <a:xfrm>
              <a:off x="990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32" name="Line 32"/>
            <p:cNvSpPr/>
            <p:nvPr/>
          </p:nvSpPr>
          <p:spPr>
            <a:xfrm>
              <a:off x="10287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33" name="Line 33"/>
            <p:cNvSpPr/>
            <p:nvPr/>
          </p:nvSpPr>
          <p:spPr>
            <a:xfrm>
              <a:off x="1066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34" name="Line 34"/>
            <p:cNvSpPr/>
            <p:nvPr/>
          </p:nvSpPr>
          <p:spPr>
            <a:xfrm>
              <a:off x="11049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35" name="Line 35"/>
            <p:cNvSpPr/>
            <p:nvPr/>
          </p:nvSpPr>
          <p:spPr>
            <a:xfrm>
              <a:off x="11430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36" name="Line 36"/>
            <p:cNvSpPr/>
            <p:nvPr/>
          </p:nvSpPr>
          <p:spPr>
            <a:xfrm>
              <a:off x="11811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37" name="Line 37"/>
            <p:cNvSpPr/>
            <p:nvPr/>
          </p:nvSpPr>
          <p:spPr>
            <a:xfrm>
              <a:off x="12192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38" name="Line 38"/>
            <p:cNvSpPr/>
            <p:nvPr/>
          </p:nvSpPr>
          <p:spPr>
            <a:xfrm>
              <a:off x="0" y="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39" name="Line 39"/>
            <p:cNvSpPr/>
            <p:nvPr/>
          </p:nvSpPr>
          <p:spPr>
            <a:xfrm>
              <a:off x="0" y="381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40" name="Line 40"/>
            <p:cNvSpPr/>
            <p:nvPr/>
          </p:nvSpPr>
          <p:spPr>
            <a:xfrm>
              <a:off x="0" y="762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41" name="Line 41"/>
            <p:cNvSpPr/>
            <p:nvPr/>
          </p:nvSpPr>
          <p:spPr>
            <a:xfrm>
              <a:off x="0" y="1143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42" name="Line 42"/>
            <p:cNvSpPr/>
            <p:nvPr/>
          </p:nvSpPr>
          <p:spPr>
            <a:xfrm>
              <a:off x="0" y="1524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43" name="Line 43"/>
            <p:cNvSpPr/>
            <p:nvPr/>
          </p:nvSpPr>
          <p:spPr>
            <a:xfrm>
              <a:off x="0" y="1905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44" name="Line 44"/>
            <p:cNvSpPr/>
            <p:nvPr/>
          </p:nvSpPr>
          <p:spPr>
            <a:xfrm>
              <a:off x="0" y="2286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45" name="Line 45"/>
            <p:cNvSpPr/>
            <p:nvPr/>
          </p:nvSpPr>
          <p:spPr>
            <a:xfrm>
              <a:off x="0" y="2667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46" name="Line 46"/>
            <p:cNvSpPr/>
            <p:nvPr/>
          </p:nvSpPr>
          <p:spPr>
            <a:xfrm>
              <a:off x="0" y="3048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47" name="Line 47"/>
            <p:cNvSpPr/>
            <p:nvPr/>
          </p:nvSpPr>
          <p:spPr>
            <a:xfrm>
              <a:off x="0" y="3429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48" name="Line 48"/>
            <p:cNvSpPr/>
            <p:nvPr/>
          </p:nvSpPr>
          <p:spPr>
            <a:xfrm>
              <a:off x="0" y="3810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49" name="Line 49"/>
            <p:cNvSpPr/>
            <p:nvPr/>
          </p:nvSpPr>
          <p:spPr>
            <a:xfrm>
              <a:off x="0" y="4191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50" name="Line 50"/>
            <p:cNvSpPr/>
            <p:nvPr/>
          </p:nvSpPr>
          <p:spPr>
            <a:xfrm>
              <a:off x="0" y="4572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51" name="Line 51"/>
            <p:cNvSpPr/>
            <p:nvPr/>
          </p:nvSpPr>
          <p:spPr>
            <a:xfrm>
              <a:off x="0" y="4953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52" name="Line 52"/>
            <p:cNvSpPr/>
            <p:nvPr/>
          </p:nvSpPr>
          <p:spPr>
            <a:xfrm>
              <a:off x="0" y="5334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53" name="Line 53"/>
            <p:cNvSpPr/>
            <p:nvPr/>
          </p:nvSpPr>
          <p:spPr>
            <a:xfrm>
              <a:off x="0" y="5715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54" name="Line 54"/>
            <p:cNvSpPr/>
            <p:nvPr/>
          </p:nvSpPr>
          <p:spPr>
            <a:xfrm>
              <a:off x="0" y="6096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55" name="Line 55"/>
            <p:cNvSpPr/>
            <p:nvPr/>
          </p:nvSpPr>
          <p:spPr>
            <a:xfrm>
              <a:off x="0" y="6477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56" name="Line 56"/>
            <p:cNvSpPr/>
            <p:nvPr/>
          </p:nvSpPr>
          <p:spPr>
            <a:xfrm>
              <a:off x="0" y="6858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57" name="Line 57"/>
            <p:cNvSpPr/>
            <p:nvPr/>
          </p:nvSpPr>
          <p:spPr>
            <a:xfrm>
              <a:off x="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5715">
              <a:solidFill>
                <a:srgbClr val="27D8FF">
                  <a:alpha val="16000"/>
                </a:srgbClr>
              </a:solidFill>
            </a:ln>
          </p:spPr>
        </p:sp>
        <p:sp>
          <p:nvSpPr>
            <p:cNvPr id="58" name="Line 58"/>
            <p:cNvSpPr/>
            <p:nvPr/>
          </p:nvSpPr>
          <p:spPr>
            <a:xfrm>
              <a:off x="152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5715">
              <a:solidFill>
                <a:srgbClr val="27D8FF">
                  <a:alpha val="16000"/>
                </a:srgbClr>
              </a:solidFill>
            </a:ln>
          </p:spPr>
        </p:sp>
        <p:sp>
          <p:nvSpPr>
            <p:cNvPr id="59" name="Line 59"/>
            <p:cNvSpPr/>
            <p:nvPr/>
          </p:nvSpPr>
          <p:spPr>
            <a:xfrm>
              <a:off x="304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5715">
              <a:solidFill>
                <a:srgbClr val="27D8FF">
                  <a:alpha val="16000"/>
                </a:srgbClr>
              </a:solidFill>
            </a:ln>
          </p:spPr>
        </p:sp>
        <p:sp>
          <p:nvSpPr>
            <p:cNvPr id="60" name="Line 60"/>
            <p:cNvSpPr/>
            <p:nvPr/>
          </p:nvSpPr>
          <p:spPr>
            <a:xfrm>
              <a:off x="4572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5715">
              <a:solidFill>
                <a:srgbClr val="27D8FF">
                  <a:alpha val="16000"/>
                </a:srgbClr>
              </a:solidFill>
            </a:ln>
          </p:spPr>
        </p:sp>
        <p:sp>
          <p:nvSpPr>
            <p:cNvPr id="61" name="Line 61"/>
            <p:cNvSpPr/>
            <p:nvPr/>
          </p:nvSpPr>
          <p:spPr>
            <a:xfrm>
              <a:off x="609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5715">
              <a:solidFill>
                <a:srgbClr val="27D8FF">
                  <a:alpha val="16000"/>
                </a:srgbClr>
              </a:solidFill>
            </a:ln>
          </p:spPr>
        </p:sp>
        <p:sp>
          <p:nvSpPr>
            <p:cNvPr id="62" name="Line 62"/>
            <p:cNvSpPr/>
            <p:nvPr/>
          </p:nvSpPr>
          <p:spPr>
            <a:xfrm>
              <a:off x="7620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5715">
              <a:solidFill>
                <a:srgbClr val="27D8FF">
                  <a:alpha val="16000"/>
                </a:srgbClr>
              </a:solidFill>
            </a:ln>
          </p:spPr>
        </p:sp>
        <p:sp>
          <p:nvSpPr>
            <p:cNvPr id="63" name="Line 63"/>
            <p:cNvSpPr/>
            <p:nvPr/>
          </p:nvSpPr>
          <p:spPr>
            <a:xfrm>
              <a:off x="914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5715">
              <a:solidFill>
                <a:srgbClr val="27D8FF">
                  <a:alpha val="16000"/>
                </a:srgbClr>
              </a:solidFill>
            </a:ln>
          </p:spPr>
        </p:sp>
        <p:sp>
          <p:nvSpPr>
            <p:cNvPr id="64" name="Line 64"/>
            <p:cNvSpPr/>
            <p:nvPr/>
          </p:nvSpPr>
          <p:spPr>
            <a:xfrm>
              <a:off x="1066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5715">
              <a:solidFill>
                <a:srgbClr val="27D8FF">
                  <a:alpha val="16000"/>
                </a:srgbClr>
              </a:solidFill>
            </a:ln>
          </p:spPr>
        </p:sp>
        <p:sp>
          <p:nvSpPr>
            <p:cNvPr id="65" name="Line 65"/>
            <p:cNvSpPr/>
            <p:nvPr/>
          </p:nvSpPr>
          <p:spPr>
            <a:xfrm>
              <a:off x="12192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5715">
              <a:solidFill>
                <a:srgbClr val="27D8FF">
                  <a:alpha val="16000"/>
                </a:srgbClr>
              </a:solidFill>
            </a:ln>
          </p:spPr>
        </p:sp>
        <p:sp>
          <p:nvSpPr>
            <p:cNvPr id="66" name="Line 66"/>
            <p:cNvSpPr/>
            <p:nvPr/>
          </p:nvSpPr>
          <p:spPr>
            <a:xfrm>
              <a:off x="0" y="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5715">
              <a:solidFill>
                <a:srgbClr val="27D8FF">
                  <a:alpha val="16000"/>
                </a:srgbClr>
              </a:solidFill>
            </a:ln>
          </p:spPr>
        </p:sp>
        <p:sp>
          <p:nvSpPr>
            <p:cNvPr id="67" name="Line 67"/>
            <p:cNvSpPr/>
            <p:nvPr/>
          </p:nvSpPr>
          <p:spPr>
            <a:xfrm>
              <a:off x="0" y="1524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5715">
              <a:solidFill>
                <a:srgbClr val="27D8FF">
                  <a:alpha val="16000"/>
                </a:srgbClr>
              </a:solidFill>
            </a:ln>
          </p:spPr>
        </p:sp>
        <p:sp>
          <p:nvSpPr>
            <p:cNvPr id="68" name="Line 68"/>
            <p:cNvSpPr/>
            <p:nvPr/>
          </p:nvSpPr>
          <p:spPr>
            <a:xfrm>
              <a:off x="0" y="3048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5715">
              <a:solidFill>
                <a:srgbClr val="27D8FF">
                  <a:alpha val="16000"/>
                </a:srgbClr>
              </a:solidFill>
            </a:ln>
          </p:spPr>
        </p:sp>
        <p:sp>
          <p:nvSpPr>
            <p:cNvPr id="69" name="Line 69"/>
            <p:cNvSpPr/>
            <p:nvPr/>
          </p:nvSpPr>
          <p:spPr>
            <a:xfrm>
              <a:off x="0" y="4572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5715">
              <a:solidFill>
                <a:srgbClr val="27D8FF">
                  <a:alpha val="16000"/>
                </a:srgbClr>
              </a:solidFill>
            </a:ln>
          </p:spPr>
        </p:sp>
        <p:sp>
          <p:nvSpPr>
            <p:cNvPr id="70" name="Line 70"/>
            <p:cNvSpPr/>
            <p:nvPr/>
          </p:nvSpPr>
          <p:spPr>
            <a:xfrm>
              <a:off x="0" y="6096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5715">
              <a:solidFill>
                <a:srgbClr val="27D8FF">
                  <a:alpha val="16000"/>
                </a:srgbClr>
              </a:solidFill>
            </a:ln>
          </p:spPr>
        </p:sp>
      </p:grpSp>
      <p:sp>
        <p:nvSpPr>
          <p:cNvPr id="72" name="TextBox 72"/>
          <p:cNvSpPr txBox="1"/>
          <p:nvPr/>
        </p:nvSpPr>
        <p:spPr>
          <a:xfrm>
            <a:off x="347662" y="240506"/>
            <a:ext cx="229600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27D8FF">
                    <a:alphaMod val="88000"/>
                  </a:srgbClr>
                </a:solidFill>
                <a:latin typeface="Consolas"/>
                <a:ea typeface="Microsoft YaHei"/>
                <a:cs typeface="Consolas"/>
              </a:rPr>
              <a:t>AGRI_AI_OS // BLUEPRINT::08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10606088" y="240506"/>
            <a:ext cx="71044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8CB5CC"/>
                </a:solidFill>
                <a:latin typeface="Consolas"/>
                <a:ea typeface="Microsoft YaHei"/>
                <a:cs typeface="Consolas"/>
              </a:rPr>
              <a:t>1280×720</a:t>
            </a:r>
          </a:p>
        </p:txBody>
      </p:sp>
      <p:sp>
        <p:nvSpPr>
          <p:cNvPr id="74" name="Line 74"/>
          <p:cNvSpPr/>
          <p:nvPr/>
        </p:nvSpPr>
        <p:spPr>
          <a:xfrm>
            <a:off x="361950" y="495300"/>
            <a:ext cx="11468100" cy="9525"/>
          </a:xfrm>
          <a:custGeom>
            <a:avLst/>
            <a:gdLst/>
            <a:ahLst/>
            <a:cxnLst/>
            <a:rect l="l" t="t" r="r" b="b"/>
            <a:pathLst>
              <a:path w="11468100" h="9525">
                <a:moveTo>
                  <a:pt x="0" y="0"/>
                </a:moveTo>
                <a:lnTo>
                  <a:pt x="11468100" y="0"/>
                </a:lnTo>
              </a:path>
            </a:pathLst>
          </a:custGeom>
          <a:noFill/>
          <a:ln w="9525">
            <a:solidFill>
              <a:srgbClr val="27D8FF">
                <a:alpha val="45000"/>
              </a:srgbClr>
            </a:solidFill>
          </a:ln>
        </p:spPr>
      </p:sp>
      <p:sp>
        <p:nvSpPr>
          <p:cNvPr id="75" name="TextBox 75"/>
          <p:cNvSpPr txBox="1"/>
          <p:nvPr/>
        </p:nvSpPr>
        <p:spPr>
          <a:xfrm>
            <a:off x="521970" y="731520"/>
            <a:ext cx="9519742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EAF7FF"/>
                </a:solidFill>
                <a:latin typeface="Arial"/>
                <a:ea typeface="Microsoft YaHei"/>
                <a:cs typeface="Arial"/>
              </a:rPr>
              <a:t>Agronomist review turns AI outputs into accountable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521970" y="1112520"/>
            <a:ext cx="3538995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EAF7FF"/>
                </a:solidFill>
                <a:latin typeface="Arial"/>
                <a:ea typeface="Microsoft YaHei"/>
                <a:cs typeface="Arial"/>
              </a:rPr>
              <a:t>operating decisions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554355" y="1511618"/>
            <a:ext cx="1225867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8CB5CC"/>
                </a:solidFill>
                <a:latin typeface="Arial"/>
                <a:ea typeface="Microsoft YaHei"/>
                <a:cs typeface="Arial"/>
              </a:rPr>
              <a:t>Human review focuses on exceptions, high-impact actions, and low-confidence recommendations rather than every data point.</a:t>
            </a:r>
          </a:p>
        </p:txBody>
      </p:sp>
      <p:sp>
        <p:nvSpPr>
          <p:cNvPr id="78" name="Rectangle 78"/>
          <p:cNvSpPr/>
          <p:nvPr/>
        </p:nvSpPr>
        <p:spPr>
          <a:xfrm>
            <a:off x="781050" y="2238375"/>
            <a:ext cx="3190875" cy="3429000"/>
          </a:xfrm>
          <a:prstGeom prst="roundRect">
            <a:avLst>
              <a:gd name="adj" fmla="val 5373"/>
            </a:avLst>
          </a:prstGeom>
          <a:solidFill>
            <a:srgbClr val="0A1A2D"/>
          </a:solidFill>
          <a:ln w="9525">
            <a:solidFill>
              <a:srgbClr val="27D8FF"/>
            </a:solidFill>
          </a:ln>
        </p:spPr>
      </p:sp>
      <p:sp>
        <p:nvSpPr>
          <p:cNvPr id="79" name="TextBox 79"/>
          <p:cNvSpPr txBox="1"/>
          <p:nvPr/>
        </p:nvSpPr>
        <p:spPr>
          <a:xfrm>
            <a:off x="1023938" y="2416969"/>
            <a:ext cx="2333536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75" b="1" dirty="0">
                <a:solidFill>
                  <a:srgbClr val="EAF7FF"/>
                </a:solidFill>
                <a:latin typeface="Arial"/>
                <a:ea typeface="Microsoft YaHei"/>
                <a:cs typeface="Arial"/>
              </a:rPr>
              <a:t>Exception Queue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1054418" y="2866549"/>
            <a:ext cx="230314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27D8FF"/>
                </a:solidFill>
                <a:latin typeface="Consolas"/>
                <a:ea typeface="Microsoft YaHei"/>
                <a:cs typeface="Consolas"/>
              </a:rPr>
              <a:t>SORT: risk × confidence × impact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1049655" y="3283268"/>
            <a:ext cx="265661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B84D"/>
                </a:solidFill>
                <a:latin typeface="Consolas"/>
                <a:ea typeface="Microsoft YaHei"/>
                <a:cs typeface="Consolas"/>
              </a:rPr>
              <a:t>⚠ BLOCK_07 irrigation shift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1049655" y="3711892"/>
            <a:ext cx="238058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27D8FF"/>
                </a:solidFill>
                <a:latin typeface="Consolas"/>
                <a:ea typeface="Microsoft YaHei"/>
                <a:cs typeface="Consolas"/>
              </a:rPr>
              <a:t>• low disease confidence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1049655" y="4140518"/>
            <a:ext cx="206511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2E58F"/>
                </a:solidFill>
                <a:latin typeface="Consolas"/>
                <a:ea typeface="Microsoft YaHei"/>
                <a:cs typeface="Consolas"/>
              </a:rPr>
              <a:t>✓ routine fertigation</a:t>
            </a:r>
          </a:p>
        </p:txBody>
      </p:sp>
      <p:sp>
        <p:nvSpPr>
          <p:cNvPr id="84" name="Rectangle 84"/>
          <p:cNvSpPr/>
          <p:nvPr/>
        </p:nvSpPr>
        <p:spPr>
          <a:xfrm>
            <a:off x="4953000" y="2714625"/>
            <a:ext cx="2476500" cy="1000125"/>
          </a:xfrm>
          <a:prstGeom prst="roundRect">
            <a:avLst>
              <a:gd name="adj" fmla="val 13333"/>
            </a:avLst>
          </a:prstGeom>
          <a:solidFill>
            <a:srgbClr val="0A1A2D">
              <a:alpha val="96000"/>
            </a:srgbClr>
          </a:solidFill>
          <a:ln w="13335">
            <a:solidFill>
              <a:srgbClr val="62E58F">
                <a:alpha val="96000"/>
              </a:srgbClr>
            </a:solidFill>
          </a:ln>
        </p:spPr>
      </p:sp>
      <p:sp>
        <p:nvSpPr>
          <p:cNvPr id="85" name="TextBox 85"/>
          <p:cNvSpPr txBox="1"/>
          <p:nvPr/>
        </p:nvSpPr>
        <p:spPr>
          <a:xfrm>
            <a:off x="5105400" y="2847975"/>
            <a:ext cx="1291757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EAF7FF"/>
                </a:solidFill>
                <a:latin typeface="Arial"/>
                <a:ea typeface="Microsoft YaHei"/>
                <a:cs typeface="Arial"/>
              </a:rPr>
              <a:t>Agronomist</a:t>
            </a:r>
          </a:p>
        </p:txBody>
      </p:sp>
      <p:sp>
        <p:nvSpPr>
          <p:cNvPr id="86" name="TextBox 86"/>
          <p:cNvSpPr txBox="1"/>
          <p:nvPr/>
        </p:nvSpPr>
        <p:spPr>
          <a:xfrm>
            <a:off x="5112068" y="3161824"/>
            <a:ext cx="161251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8CB5CC"/>
                </a:solidFill>
                <a:latin typeface="Consolas"/>
                <a:ea typeface="Microsoft YaHei"/>
                <a:cs typeface="Consolas"/>
              </a:rPr>
              <a:t>approve • edit • reject</a:t>
            </a:r>
          </a:p>
        </p:txBody>
      </p:sp>
      <p:sp>
        <p:nvSpPr>
          <p:cNvPr id="87" name="Rectangle 87"/>
          <p:cNvSpPr/>
          <p:nvPr/>
        </p:nvSpPr>
        <p:spPr>
          <a:xfrm>
            <a:off x="8667750" y="2714625"/>
            <a:ext cx="2476500" cy="1000125"/>
          </a:xfrm>
          <a:prstGeom prst="roundRect">
            <a:avLst>
              <a:gd name="adj" fmla="val 13333"/>
            </a:avLst>
          </a:prstGeom>
          <a:solidFill>
            <a:srgbClr val="0A1A2D">
              <a:alpha val="96000"/>
            </a:srgbClr>
          </a:solidFill>
          <a:ln w="13335">
            <a:solidFill>
              <a:srgbClr val="27D8FF">
                <a:alpha val="96000"/>
              </a:srgbClr>
            </a:solidFill>
          </a:ln>
        </p:spPr>
      </p:sp>
      <p:sp>
        <p:nvSpPr>
          <p:cNvPr id="88" name="TextBox 88"/>
          <p:cNvSpPr txBox="1"/>
          <p:nvPr/>
        </p:nvSpPr>
        <p:spPr>
          <a:xfrm>
            <a:off x="8820150" y="2847975"/>
            <a:ext cx="106172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EAF7FF"/>
                </a:solidFill>
                <a:latin typeface="Arial"/>
                <a:ea typeface="Microsoft YaHei"/>
                <a:cs typeface="Arial"/>
              </a:rPr>
              <a:t>Audit Log</a:t>
            </a:r>
          </a:p>
        </p:txBody>
      </p:sp>
      <p:sp>
        <p:nvSpPr>
          <p:cNvPr id="89" name="TextBox 89"/>
          <p:cNvSpPr txBox="1"/>
          <p:nvPr/>
        </p:nvSpPr>
        <p:spPr>
          <a:xfrm>
            <a:off x="8826818" y="3161824"/>
            <a:ext cx="144875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8CB5CC"/>
                </a:solidFill>
                <a:latin typeface="Consolas"/>
                <a:ea typeface="Microsoft YaHei"/>
                <a:cs typeface="Consolas"/>
              </a:rPr>
              <a:t>reason code • signer</a:t>
            </a:r>
          </a:p>
        </p:txBody>
      </p:sp>
      <p:sp>
        <p:nvSpPr>
          <p:cNvPr id="90" name="Line 90"/>
          <p:cNvSpPr/>
          <p:nvPr/>
        </p:nvSpPr>
        <p:spPr>
          <a:xfrm flipV="1">
            <a:off x="3971925" y="3238500"/>
            <a:ext cx="981075" cy="714375"/>
          </a:xfrm>
          <a:prstGeom prst="line">
            <a:avLst/>
          </a:prstGeom>
          <a:noFill/>
          <a:ln w="19050">
            <a:solidFill>
              <a:srgbClr val="27D8FF">
                <a:alpha val="90000"/>
              </a:srgbClr>
            </a:solidFill>
            <a:tailEnd type="triangle" w="lg" len="lg"/>
          </a:ln>
        </p:spPr>
      </p:sp>
      <p:sp>
        <p:nvSpPr>
          <p:cNvPr id="91" name="Line 91"/>
          <p:cNvSpPr/>
          <p:nvPr/>
        </p:nvSpPr>
        <p:spPr>
          <a:xfrm>
            <a:off x="7429500" y="3238500"/>
            <a:ext cx="1238250" cy="1"/>
          </a:xfrm>
          <a:prstGeom prst="line">
            <a:avLst/>
          </a:prstGeom>
          <a:noFill/>
          <a:ln w="19050">
            <a:solidFill>
              <a:srgbClr val="27D8FF">
                <a:alpha val="90000"/>
              </a:srgbClr>
            </a:solidFill>
            <a:tailEnd type="triangle" w="lg" len="lg"/>
          </a:ln>
        </p:spPr>
      </p:sp>
      <p:sp>
        <p:nvSpPr>
          <p:cNvPr id="92" name="Rectangle 92"/>
          <p:cNvSpPr/>
          <p:nvPr/>
        </p:nvSpPr>
        <p:spPr>
          <a:xfrm>
            <a:off x="4953000" y="4524375"/>
            <a:ext cx="6191250" cy="666750"/>
          </a:xfrm>
          <a:prstGeom prst="roundRect">
            <a:avLst>
              <a:gd name="adj" fmla="val 20000"/>
            </a:avLst>
          </a:prstGeom>
          <a:solidFill>
            <a:srgbClr val="0D2238"/>
          </a:solidFill>
          <a:ln w="9525">
            <a:solidFill>
              <a:srgbClr val="FF4FD8"/>
            </a:solidFill>
          </a:ln>
        </p:spPr>
      </p:sp>
      <p:sp>
        <p:nvSpPr>
          <p:cNvPr id="93" name="TextBox 93"/>
          <p:cNvSpPr txBox="1"/>
          <p:nvPr/>
        </p:nvSpPr>
        <p:spPr>
          <a:xfrm>
            <a:off x="5220652" y="4780121"/>
            <a:ext cx="5769935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dirty="0">
                <a:solidFill>
                  <a:srgbClr val="FF4FD8"/>
                </a:solidFill>
                <a:latin typeface="Consolas"/>
                <a:ea typeface="Microsoft YaHei"/>
                <a:cs typeface="Consolas"/>
              </a:rPr>
              <a:t>HIGH_IMPACT_ACTION requires accountable human decision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11F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7524750" y="-1333500"/>
            <a:ext cx="4953000" cy="4953000"/>
          </a:xfrm>
          <a:prstGeom prst="ellipse">
            <a:avLst/>
          </a:prstGeom>
          <a:solidFill>
            <a:srgbClr val="27D8FF">
              <a:alpha val="55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-381000" y="3714750"/>
            <a:ext cx="4191000" cy="4191000"/>
          </a:xfrm>
          <a:prstGeom prst="ellipse">
            <a:avLst/>
          </a:prstGeom>
          <a:solidFill>
            <a:srgbClr val="62E58F">
              <a:alpha val="3500"/>
            </a:srgbClr>
          </a:solidFill>
          <a:ln>
            <a:noFill/>
          </a:ln>
        </p:spPr>
      </p:sp>
      <p:grpSp>
        <p:nvGrpSpPr>
          <p:cNvPr id="71" name="Group 71"/>
          <p:cNvGrpSpPr/>
          <p:nvPr/>
        </p:nvGrpSpPr>
        <p:grpSpPr>
          <a:xfrm>
            <a:off x="0" y="0"/>
            <a:ext cx="12201525" cy="6867525"/>
            <a:chOff x="0" y="0"/>
            <a:chExt cx="12201525" cy="6867525"/>
          </a:xfrm>
        </p:grpSpPr>
        <p:sp>
          <p:nvSpPr>
            <p:cNvPr id="5" name="Line 5"/>
            <p:cNvSpPr/>
            <p:nvPr/>
          </p:nvSpPr>
          <p:spPr>
            <a:xfrm>
              <a:off x="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381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762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1143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152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1905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228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2667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304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3429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3810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4191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4572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4953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533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5715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609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6477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685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24" name="Line 24"/>
            <p:cNvSpPr/>
            <p:nvPr/>
          </p:nvSpPr>
          <p:spPr>
            <a:xfrm>
              <a:off x="7239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7620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26" name="Line 26"/>
            <p:cNvSpPr/>
            <p:nvPr/>
          </p:nvSpPr>
          <p:spPr>
            <a:xfrm>
              <a:off x="8001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27" name="Line 27"/>
            <p:cNvSpPr/>
            <p:nvPr/>
          </p:nvSpPr>
          <p:spPr>
            <a:xfrm>
              <a:off x="8382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28" name="Line 28"/>
            <p:cNvSpPr/>
            <p:nvPr/>
          </p:nvSpPr>
          <p:spPr>
            <a:xfrm>
              <a:off x="8763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29" name="Line 29"/>
            <p:cNvSpPr/>
            <p:nvPr/>
          </p:nvSpPr>
          <p:spPr>
            <a:xfrm>
              <a:off x="914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30" name="Line 30"/>
            <p:cNvSpPr/>
            <p:nvPr/>
          </p:nvSpPr>
          <p:spPr>
            <a:xfrm>
              <a:off x="9525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31" name="Line 31"/>
            <p:cNvSpPr/>
            <p:nvPr/>
          </p:nvSpPr>
          <p:spPr>
            <a:xfrm>
              <a:off x="990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32" name="Line 32"/>
            <p:cNvSpPr/>
            <p:nvPr/>
          </p:nvSpPr>
          <p:spPr>
            <a:xfrm>
              <a:off x="10287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33" name="Line 33"/>
            <p:cNvSpPr/>
            <p:nvPr/>
          </p:nvSpPr>
          <p:spPr>
            <a:xfrm>
              <a:off x="1066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34" name="Line 34"/>
            <p:cNvSpPr/>
            <p:nvPr/>
          </p:nvSpPr>
          <p:spPr>
            <a:xfrm>
              <a:off x="11049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35" name="Line 35"/>
            <p:cNvSpPr/>
            <p:nvPr/>
          </p:nvSpPr>
          <p:spPr>
            <a:xfrm>
              <a:off x="11430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36" name="Line 36"/>
            <p:cNvSpPr/>
            <p:nvPr/>
          </p:nvSpPr>
          <p:spPr>
            <a:xfrm>
              <a:off x="11811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37" name="Line 37"/>
            <p:cNvSpPr/>
            <p:nvPr/>
          </p:nvSpPr>
          <p:spPr>
            <a:xfrm>
              <a:off x="12192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38" name="Line 38"/>
            <p:cNvSpPr/>
            <p:nvPr/>
          </p:nvSpPr>
          <p:spPr>
            <a:xfrm>
              <a:off x="0" y="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39" name="Line 39"/>
            <p:cNvSpPr/>
            <p:nvPr/>
          </p:nvSpPr>
          <p:spPr>
            <a:xfrm>
              <a:off x="0" y="381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40" name="Line 40"/>
            <p:cNvSpPr/>
            <p:nvPr/>
          </p:nvSpPr>
          <p:spPr>
            <a:xfrm>
              <a:off x="0" y="762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41" name="Line 41"/>
            <p:cNvSpPr/>
            <p:nvPr/>
          </p:nvSpPr>
          <p:spPr>
            <a:xfrm>
              <a:off x="0" y="1143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42" name="Line 42"/>
            <p:cNvSpPr/>
            <p:nvPr/>
          </p:nvSpPr>
          <p:spPr>
            <a:xfrm>
              <a:off x="0" y="1524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43" name="Line 43"/>
            <p:cNvSpPr/>
            <p:nvPr/>
          </p:nvSpPr>
          <p:spPr>
            <a:xfrm>
              <a:off x="0" y="1905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44" name="Line 44"/>
            <p:cNvSpPr/>
            <p:nvPr/>
          </p:nvSpPr>
          <p:spPr>
            <a:xfrm>
              <a:off x="0" y="2286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45" name="Line 45"/>
            <p:cNvSpPr/>
            <p:nvPr/>
          </p:nvSpPr>
          <p:spPr>
            <a:xfrm>
              <a:off x="0" y="2667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46" name="Line 46"/>
            <p:cNvSpPr/>
            <p:nvPr/>
          </p:nvSpPr>
          <p:spPr>
            <a:xfrm>
              <a:off x="0" y="3048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47" name="Line 47"/>
            <p:cNvSpPr/>
            <p:nvPr/>
          </p:nvSpPr>
          <p:spPr>
            <a:xfrm>
              <a:off x="0" y="3429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48" name="Line 48"/>
            <p:cNvSpPr/>
            <p:nvPr/>
          </p:nvSpPr>
          <p:spPr>
            <a:xfrm>
              <a:off x="0" y="3810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49" name="Line 49"/>
            <p:cNvSpPr/>
            <p:nvPr/>
          </p:nvSpPr>
          <p:spPr>
            <a:xfrm>
              <a:off x="0" y="4191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50" name="Line 50"/>
            <p:cNvSpPr/>
            <p:nvPr/>
          </p:nvSpPr>
          <p:spPr>
            <a:xfrm>
              <a:off x="0" y="4572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51" name="Line 51"/>
            <p:cNvSpPr/>
            <p:nvPr/>
          </p:nvSpPr>
          <p:spPr>
            <a:xfrm>
              <a:off x="0" y="4953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52" name="Line 52"/>
            <p:cNvSpPr/>
            <p:nvPr/>
          </p:nvSpPr>
          <p:spPr>
            <a:xfrm>
              <a:off x="0" y="5334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53" name="Line 53"/>
            <p:cNvSpPr/>
            <p:nvPr/>
          </p:nvSpPr>
          <p:spPr>
            <a:xfrm>
              <a:off x="0" y="5715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54" name="Line 54"/>
            <p:cNvSpPr/>
            <p:nvPr/>
          </p:nvSpPr>
          <p:spPr>
            <a:xfrm>
              <a:off x="0" y="6096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55" name="Line 55"/>
            <p:cNvSpPr/>
            <p:nvPr/>
          </p:nvSpPr>
          <p:spPr>
            <a:xfrm>
              <a:off x="0" y="6477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56" name="Line 56"/>
            <p:cNvSpPr/>
            <p:nvPr/>
          </p:nvSpPr>
          <p:spPr>
            <a:xfrm>
              <a:off x="0" y="6858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57" name="Line 57"/>
            <p:cNvSpPr/>
            <p:nvPr/>
          </p:nvSpPr>
          <p:spPr>
            <a:xfrm>
              <a:off x="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5715">
              <a:solidFill>
                <a:srgbClr val="27D8FF">
                  <a:alpha val="16000"/>
                </a:srgbClr>
              </a:solidFill>
            </a:ln>
          </p:spPr>
        </p:sp>
        <p:sp>
          <p:nvSpPr>
            <p:cNvPr id="58" name="Line 58"/>
            <p:cNvSpPr/>
            <p:nvPr/>
          </p:nvSpPr>
          <p:spPr>
            <a:xfrm>
              <a:off x="152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5715">
              <a:solidFill>
                <a:srgbClr val="27D8FF">
                  <a:alpha val="16000"/>
                </a:srgbClr>
              </a:solidFill>
            </a:ln>
          </p:spPr>
        </p:sp>
        <p:sp>
          <p:nvSpPr>
            <p:cNvPr id="59" name="Line 59"/>
            <p:cNvSpPr/>
            <p:nvPr/>
          </p:nvSpPr>
          <p:spPr>
            <a:xfrm>
              <a:off x="304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5715">
              <a:solidFill>
                <a:srgbClr val="27D8FF">
                  <a:alpha val="16000"/>
                </a:srgbClr>
              </a:solidFill>
            </a:ln>
          </p:spPr>
        </p:sp>
        <p:sp>
          <p:nvSpPr>
            <p:cNvPr id="60" name="Line 60"/>
            <p:cNvSpPr/>
            <p:nvPr/>
          </p:nvSpPr>
          <p:spPr>
            <a:xfrm>
              <a:off x="4572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5715">
              <a:solidFill>
                <a:srgbClr val="27D8FF">
                  <a:alpha val="16000"/>
                </a:srgbClr>
              </a:solidFill>
            </a:ln>
          </p:spPr>
        </p:sp>
        <p:sp>
          <p:nvSpPr>
            <p:cNvPr id="61" name="Line 61"/>
            <p:cNvSpPr/>
            <p:nvPr/>
          </p:nvSpPr>
          <p:spPr>
            <a:xfrm>
              <a:off x="609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5715">
              <a:solidFill>
                <a:srgbClr val="27D8FF">
                  <a:alpha val="16000"/>
                </a:srgbClr>
              </a:solidFill>
            </a:ln>
          </p:spPr>
        </p:sp>
        <p:sp>
          <p:nvSpPr>
            <p:cNvPr id="62" name="Line 62"/>
            <p:cNvSpPr/>
            <p:nvPr/>
          </p:nvSpPr>
          <p:spPr>
            <a:xfrm>
              <a:off x="7620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5715">
              <a:solidFill>
                <a:srgbClr val="27D8FF">
                  <a:alpha val="16000"/>
                </a:srgbClr>
              </a:solidFill>
            </a:ln>
          </p:spPr>
        </p:sp>
        <p:sp>
          <p:nvSpPr>
            <p:cNvPr id="63" name="Line 63"/>
            <p:cNvSpPr/>
            <p:nvPr/>
          </p:nvSpPr>
          <p:spPr>
            <a:xfrm>
              <a:off x="914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5715">
              <a:solidFill>
                <a:srgbClr val="27D8FF">
                  <a:alpha val="16000"/>
                </a:srgbClr>
              </a:solidFill>
            </a:ln>
          </p:spPr>
        </p:sp>
        <p:sp>
          <p:nvSpPr>
            <p:cNvPr id="64" name="Line 64"/>
            <p:cNvSpPr/>
            <p:nvPr/>
          </p:nvSpPr>
          <p:spPr>
            <a:xfrm>
              <a:off x="1066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5715">
              <a:solidFill>
                <a:srgbClr val="27D8FF">
                  <a:alpha val="16000"/>
                </a:srgbClr>
              </a:solidFill>
            </a:ln>
          </p:spPr>
        </p:sp>
        <p:sp>
          <p:nvSpPr>
            <p:cNvPr id="65" name="Line 65"/>
            <p:cNvSpPr/>
            <p:nvPr/>
          </p:nvSpPr>
          <p:spPr>
            <a:xfrm>
              <a:off x="12192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5715">
              <a:solidFill>
                <a:srgbClr val="27D8FF">
                  <a:alpha val="16000"/>
                </a:srgbClr>
              </a:solidFill>
            </a:ln>
          </p:spPr>
        </p:sp>
        <p:sp>
          <p:nvSpPr>
            <p:cNvPr id="66" name="Line 66"/>
            <p:cNvSpPr/>
            <p:nvPr/>
          </p:nvSpPr>
          <p:spPr>
            <a:xfrm>
              <a:off x="0" y="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5715">
              <a:solidFill>
                <a:srgbClr val="27D8FF">
                  <a:alpha val="16000"/>
                </a:srgbClr>
              </a:solidFill>
            </a:ln>
          </p:spPr>
        </p:sp>
        <p:sp>
          <p:nvSpPr>
            <p:cNvPr id="67" name="Line 67"/>
            <p:cNvSpPr/>
            <p:nvPr/>
          </p:nvSpPr>
          <p:spPr>
            <a:xfrm>
              <a:off x="0" y="1524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5715">
              <a:solidFill>
                <a:srgbClr val="27D8FF">
                  <a:alpha val="16000"/>
                </a:srgbClr>
              </a:solidFill>
            </a:ln>
          </p:spPr>
        </p:sp>
        <p:sp>
          <p:nvSpPr>
            <p:cNvPr id="68" name="Line 68"/>
            <p:cNvSpPr/>
            <p:nvPr/>
          </p:nvSpPr>
          <p:spPr>
            <a:xfrm>
              <a:off x="0" y="3048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5715">
              <a:solidFill>
                <a:srgbClr val="27D8FF">
                  <a:alpha val="16000"/>
                </a:srgbClr>
              </a:solidFill>
            </a:ln>
          </p:spPr>
        </p:sp>
        <p:sp>
          <p:nvSpPr>
            <p:cNvPr id="69" name="Line 69"/>
            <p:cNvSpPr/>
            <p:nvPr/>
          </p:nvSpPr>
          <p:spPr>
            <a:xfrm>
              <a:off x="0" y="4572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5715">
              <a:solidFill>
                <a:srgbClr val="27D8FF">
                  <a:alpha val="16000"/>
                </a:srgbClr>
              </a:solidFill>
            </a:ln>
          </p:spPr>
        </p:sp>
        <p:sp>
          <p:nvSpPr>
            <p:cNvPr id="70" name="Line 70"/>
            <p:cNvSpPr/>
            <p:nvPr/>
          </p:nvSpPr>
          <p:spPr>
            <a:xfrm>
              <a:off x="0" y="6096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5715">
              <a:solidFill>
                <a:srgbClr val="27D8FF">
                  <a:alpha val="16000"/>
                </a:srgbClr>
              </a:solidFill>
            </a:ln>
          </p:spPr>
        </p:sp>
      </p:grpSp>
      <p:sp>
        <p:nvSpPr>
          <p:cNvPr id="72" name="TextBox 72"/>
          <p:cNvSpPr txBox="1"/>
          <p:nvPr/>
        </p:nvSpPr>
        <p:spPr>
          <a:xfrm>
            <a:off x="347662" y="240506"/>
            <a:ext cx="229600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27D8FF">
                    <a:alphaMod val="88000"/>
                  </a:srgbClr>
                </a:solidFill>
                <a:latin typeface="Consolas"/>
                <a:ea typeface="Microsoft YaHei"/>
                <a:cs typeface="Consolas"/>
              </a:rPr>
              <a:t>AGRI_AI_OS // BLUEPRINT::09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10606088" y="240506"/>
            <a:ext cx="71044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8CB5CC"/>
                </a:solidFill>
                <a:latin typeface="Consolas"/>
                <a:ea typeface="Microsoft YaHei"/>
                <a:cs typeface="Consolas"/>
              </a:rPr>
              <a:t>1280×720</a:t>
            </a:r>
          </a:p>
        </p:txBody>
      </p:sp>
      <p:sp>
        <p:nvSpPr>
          <p:cNvPr id="74" name="Line 74"/>
          <p:cNvSpPr/>
          <p:nvPr/>
        </p:nvSpPr>
        <p:spPr>
          <a:xfrm>
            <a:off x="361950" y="495300"/>
            <a:ext cx="11468100" cy="9525"/>
          </a:xfrm>
          <a:custGeom>
            <a:avLst/>
            <a:gdLst/>
            <a:ahLst/>
            <a:cxnLst/>
            <a:rect l="l" t="t" r="r" b="b"/>
            <a:pathLst>
              <a:path w="11468100" h="9525">
                <a:moveTo>
                  <a:pt x="0" y="0"/>
                </a:moveTo>
                <a:lnTo>
                  <a:pt x="11468100" y="0"/>
                </a:lnTo>
              </a:path>
            </a:pathLst>
          </a:custGeom>
          <a:noFill/>
          <a:ln w="9525">
            <a:solidFill>
              <a:srgbClr val="27D8FF">
                <a:alpha val="45000"/>
              </a:srgbClr>
            </a:solidFill>
          </a:ln>
        </p:spPr>
      </p:sp>
      <p:sp>
        <p:nvSpPr>
          <p:cNvPr id="75" name="TextBox 75"/>
          <p:cNvSpPr txBox="1"/>
          <p:nvPr/>
        </p:nvSpPr>
        <p:spPr>
          <a:xfrm>
            <a:off x="521970" y="731520"/>
            <a:ext cx="8949271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EAF7FF"/>
                </a:solidFill>
                <a:latin typeface="Arial"/>
                <a:ea typeface="Microsoft YaHei"/>
                <a:cs typeface="Arial"/>
              </a:rPr>
              <a:t>The execution trace makes every recommendation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521970" y="1112520"/>
            <a:ext cx="1698765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EAF7FF"/>
                </a:solidFill>
                <a:latin typeface="Arial"/>
                <a:ea typeface="Microsoft YaHei"/>
                <a:cs typeface="Arial"/>
              </a:rPr>
              <a:t>auditable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554355" y="1511618"/>
            <a:ext cx="1165731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8CB5CC"/>
                </a:solidFill>
                <a:latin typeface="Arial"/>
                <a:ea typeface="Microsoft YaHei"/>
                <a:cs typeface="Arial"/>
              </a:rPr>
              <a:t>Each farm action carries a trace from raw signal to model version, policy check, human approval, and machine command.</a:t>
            </a:r>
          </a:p>
        </p:txBody>
      </p:sp>
      <p:sp>
        <p:nvSpPr>
          <p:cNvPr id="78" name="Ellipse 78"/>
          <p:cNvSpPr/>
          <p:nvPr/>
        </p:nvSpPr>
        <p:spPr>
          <a:xfrm>
            <a:off x="1343025" y="2105025"/>
            <a:ext cx="171450" cy="171450"/>
          </a:xfrm>
          <a:prstGeom prst="ellipse">
            <a:avLst/>
          </a:prstGeom>
          <a:solidFill>
            <a:srgbClr val="27D8FF"/>
          </a:solidFill>
          <a:ln>
            <a:noFill/>
          </a:ln>
        </p:spPr>
      </p:sp>
      <p:sp>
        <p:nvSpPr>
          <p:cNvPr id="79" name="Line 79"/>
          <p:cNvSpPr/>
          <p:nvPr/>
        </p:nvSpPr>
        <p:spPr>
          <a:xfrm>
            <a:off x="1428750" y="2276475"/>
            <a:ext cx="9525" cy="381000"/>
          </a:xfrm>
          <a:custGeom>
            <a:avLst/>
            <a:gdLst/>
            <a:ahLst/>
            <a:cxnLst/>
            <a:rect l="l" t="t" r="r" b="b"/>
            <a:pathLst>
              <a:path w="9525"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noFill/>
          <a:ln w="9525">
            <a:solidFill>
              <a:srgbClr val="27D8FF">
                <a:alpha val="60000"/>
              </a:srgbClr>
            </a:solidFill>
          </a:ln>
        </p:spPr>
      </p:sp>
      <p:sp>
        <p:nvSpPr>
          <p:cNvPr id="80" name="Rectangle 80"/>
          <p:cNvSpPr/>
          <p:nvPr/>
        </p:nvSpPr>
        <p:spPr>
          <a:xfrm>
            <a:off x="1809750" y="1962150"/>
            <a:ext cx="7239000" cy="400050"/>
          </a:xfrm>
          <a:prstGeom prst="roundRect">
            <a:avLst>
              <a:gd name="adj" fmla="val 19048"/>
            </a:avLst>
          </a:prstGeom>
          <a:solidFill>
            <a:srgbClr val="0A1A2D"/>
          </a:solidFill>
          <a:ln w="9525">
            <a:solidFill>
              <a:srgbClr val="12314F"/>
            </a:solidFill>
          </a:ln>
        </p:spPr>
      </p:sp>
      <p:sp>
        <p:nvSpPr>
          <p:cNvPr id="81" name="TextBox 81"/>
          <p:cNvSpPr txBox="1"/>
          <p:nvPr/>
        </p:nvSpPr>
        <p:spPr>
          <a:xfrm>
            <a:off x="2003108" y="2091214"/>
            <a:ext cx="4603933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EAF7FF"/>
                </a:solidFill>
                <a:latin typeface="Consolas"/>
                <a:ea typeface="Microsoft YaHei"/>
                <a:cs typeface="Consolas"/>
              </a:rPr>
              <a:t>01 sensor_reading :: trace_id=FARM-07-2026-0806</a:t>
            </a:r>
          </a:p>
        </p:txBody>
      </p:sp>
      <p:sp>
        <p:nvSpPr>
          <p:cNvPr id="82" name="Ellipse 82"/>
          <p:cNvSpPr/>
          <p:nvPr/>
        </p:nvSpPr>
        <p:spPr>
          <a:xfrm>
            <a:off x="1343025" y="2657475"/>
            <a:ext cx="171450" cy="171450"/>
          </a:xfrm>
          <a:prstGeom prst="ellipse">
            <a:avLst/>
          </a:prstGeom>
          <a:solidFill>
            <a:srgbClr val="27D8FF"/>
          </a:solidFill>
          <a:ln>
            <a:noFill/>
          </a:ln>
        </p:spPr>
      </p:sp>
      <p:sp>
        <p:nvSpPr>
          <p:cNvPr id="83" name="Line 83"/>
          <p:cNvSpPr/>
          <p:nvPr/>
        </p:nvSpPr>
        <p:spPr>
          <a:xfrm>
            <a:off x="1428750" y="2828925"/>
            <a:ext cx="9525" cy="381000"/>
          </a:xfrm>
          <a:custGeom>
            <a:avLst/>
            <a:gdLst/>
            <a:ahLst/>
            <a:cxnLst/>
            <a:rect l="l" t="t" r="r" b="b"/>
            <a:pathLst>
              <a:path w="9525"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noFill/>
          <a:ln w="9525">
            <a:solidFill>
              <a:srgbClr val="27D8FF">
                <a:alpha val="60000"/>
              </a:srgbClr>
            </a:solidFill>
          </a:ln>
        </p:spPr>
      </p:sp>
      <p:sp>
        <p:nvSpPr>
          <p:cNvPr id="84" name="Rectangle 84"/>
          <p:cNvSpPr/>
          <p:nvPr/>
        </p:nvSpPr>
        <p:spPr>
          <a:xfrm>
            <a:off x="1809750" y="2514600"/>
            <a:ext cx="7239000" cy="400050"/>
          </a:xfrm>
          <a:prstGeom prst="roundRect">
            <a:avLst>
              <a:gd name="adj" fmla="val 19048"/>
            </a:avLst>
          </a:prstGeom>
          <a:solidFill>
            <a:srgbClr val="0A1A2D"/>
          </a:solidFill>
          <a:ln w="9525">
            <a:solidFill>
              <a:srgbClr val="12314F"/>
            </a:solidFill>
          </a:ln>
        </p:spPr>
      </p:sp>
      <p:sp>
        <p:nvSpPr>
          <p:cNvPr id="85" name="TextBox 85"/>
          <p:cNvSpPr txBox="1"/>
          <p:nvPr/>
        </p:nvSpPr>
        <p:spPr>
          <a:xfrm>
            <a:off x="2003108" y="2643664"/>
            <a:ext cx="4492204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EAF7FF"/>
                </a:solidFill>
                <a:latin typeface="Consolas"/>
                <a:ea typeface="Microsoft YaHei"/>
                <a:cs typeface="Consolas"/>
              </a:rPr>
              <a:t>02 feature_hash :: trace_id=FARM-07-2026-0806</a:t>
            </a:r>
          </a:p>
        </p:txBody>
      </p:sp>
      <p:sp>
        <p:nvSpPr>
          <p:cNvPr id="86" name="Ellipse 86"/>
          <p:cNvSpPr/>
          <p:nvPr/>
        </p:nvSpPr>
        <p:spPr>
          <a:xfrm>
            <a:off x="1343025" y="3209925"/>
            <a:ext cx="171450" cy="171450"/>
          </a:xfrm>
          <a:prstGeom prst="ellipse">
            <a:avLst/>
          </a:prstGeom>
          <a:solidFill>
            <a:srgbClr val="27D8FF"/>
          </a:solidFill>
          <a:ln>
            <a:noFill/>
          </a:ln>
        </p:spPr>
      </p:sp>
      <p:sp>
        <p:nvSpPr>
          <p:cNvPr id="87" name="Line 87"/>
          <p:cNvSpPr/>
          <p:nvPr/>
        </p:nvSpPr>
        <p:spPr>
          <a:xfrm>
            <a:off x="1428750" y="3381375"/>
            <a:ext cx="9525" cy="381000"/>
          </a:xfrm>
          <a:custGeom>
            <a:avLst/>
            <a:gdLst/>
            <a:ahLst/>
            <a:cxnLst/>
            <a:rect l="l" t="t" r="r" b="b"/>
            <a:pathLst>
              <a:path w="9525"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noFill/>
          <a:ln w="9525">
            <a:solidFill>
              <a:srgbClr val="27D8FF">
                <a:alpha val="60000"/>
              </a:srgbClr>
            </a:solidFill>
          </a:ln>
        </p:spPr>
      </p:sp>
      <p:sp>
        <p:nvSpPr>
          <p:cNvPr id="88" name="Rectangle 88"/>
          <p:cNvSpPr/>
          <p:nvPr/>
        </p:nvSpPr>
        <p:spPr>
          <a:xfrm>
            <a:off x="1809750" y="3067050"/>
            <a:ext cx="7239000" cy="400050"/>
          </a:xfrm>
          <a:prstGeom prst="roundRect">
            <a:avLst>
              <a:gd name="adj" fmla="val 19048"/>
            </a:avLst>
          </a:prstGeom>
          <a:solidFill>
            <a:srgbClr val="0A1A2D"/>
          </a:solidFill>
          <a:ln w="9525">
            <a:solidFill>
              <a:srgbClr val="12314F"/>
            </a:solidFill>
          </a:ln>
        </p:spPr>
      </p:sp>
      <p:sp>
        <p:nvSpPr>
          <p:cNvPr id="89" name="TextBox 89"/>
          <p:cNvSpPr txBox="1"/>
          <p:nvPr/>
        </p:nvSpPr>
        <p:spPr>
          <a:xfrm>
            <a:off x="2003108" y="3196114"/>
            <a:ext cx="4129088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EAF7FF"/>
                </a:solidFill>
                <a:latin typeface="Consolas"/>
                <a:ea typeface="Microsoft YaHei"/>
                <a:cs typeface="Consolas"/>
              </a:rPr>
              <a:t>03 model_v17 :: trace_id=FARM-07-2026-0806</a:t>
            </a:r>
          </a:p>
        </p:txBody>
      </p:sp>
      <p:sp>
        <p:nvSpPr>
          <p:cNvPr id="90" name="Ellipse 90"/>
          <p:cNvSpPr/>
          <p:nvPr/>
        </p:nvSpPr>
        <p:spPr>
          <a:xfrm>
            <a:off x="1343025" y="3762375"/>
            <a:ext cx="171450" cy="171450"/>
          </a:xfrm>
          <a:prstGeom prst="ellipse">
            <a:avLst/>
          </a:prstGeom>
          <a:solidFill>
            <a:srgbClr val="27D8FF"/>
          </a:solidFill>
          <a:ln>
            <a:noFill/>
          </a:ln>
        </p:spPr>
      </p:sp>
      <p:sp>
        <p:nvSpPr>
          <p:cNvPr id="91" name="Line 91"/>
          <p:cNvSpPr/>
          <p:nvPr/>
        </p:nvSpPr>
        <p:spPr>
          <a:xfrm>
            <a:off x="1428750" y="3933825"/>
            <a:ext cx="9525" cy="381000"/>
          </a:xfrm>
          <a:custGeom>
            <a:avLst/>
            <a:gdLst/>
            <a:ahLst/>
            <a:cxnLst/>
            <a:rect l="l" t="t" r="r" b="b"/>
            <a:pathLst>
              <a:path w="9525"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noFill/>
          <a:ln w="9525">
            <a:solidFill>
              <a:srgbClr val="27D8FF">
                <a:alpha val="60000"/>
              </a:srgbClr>
            </a:solidFill>
          </a:ln>
        </p:spPr>
      </p:sp>
      <p:sp>
        <p:nvSpPr>
          <p:cNvPr id="92" name="Rectangle 92"/>
          <p:cNvSpPr/>
          <p:nvPr/>
        </p:nvSpPr>
        <p:spPr>
          <a:xfrm>
            <a:off x="1809750" y="3619500"/>
            <a:ext cx="7239000" cy="400050"/>
          </a:xfrm>
          <a:prstGeom prst="roundRect">
            <a:avLst>
              <a:gd name="adj" fmla="val 19048"/>
            </a:avLst>
          </a:prstGeom>
          <a:solidFill>
            <a:srgbClr val="0A1A2D"/>
          </a:solidFill>
          <a:ln w="9525">
            <a:solidFill>
              <a:srgbClr val="12314F"/>
            </a:solidFill>
          </a:ln>
        </p:spPr>
      </p:sp>
      <p:sp>
        <p:nvSpPr>
          <p:cNvPr id="93" name="TextBox 93"/>
          <p:cNvSpPr txBox="1"/>
          <p:nvPr/>
        </p:nvSpPr>
        <p:spPr>
          <a:xfrm>
            <a:off x="2003108" y="3748564"/>
            <a:ext cx="4399097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EAF7FF"/>
                </a:solidFill>
                <a:latin typeface="Consolas"/>
                <a:ea typeface="Microsoft YaHei"/>
                <a:cs typeface="Consolas"/>
              </a:rPr>
              <a:t>04 policy_check :: trace_id=FARM-07-2026-0806</a:t>
            </a:r>
          </a:p>
        </p:txBody>
      </p:sp>
      <p:sp>
        <p:nvSpPr>
          <p:cNvPr id="94" name="Ellipse 94"/>
          <p:cNvSpPr/>
          <p:nvPr/>
        </p:nvSpPr>
        <p:spPr>
          <a:xfrm>
            <a:off x="1343025" y="4314825"/>
            <a:ext cx="171450" cy="171450"/>
          </a:xfrm>
          <a:prstGeom prst="ellipse">
            <a:avLst/>
          </a:prstGeom>
          <a:solidFill>
            <a:srgbClr val="27D8FF"/>
          </a:solidFill>
          <a:ln>
            <a:noFill/>
          </a:ln>
        </p:spPr>
      </p:sp>
      <p:sp>
        <p:nvSpPr>
          <p:cNvPr id="95" name="Line 95"/>
          <p:cNvSpPr/>
          <p:nvPr/>
        </p:nvSpPr>
        <p:spPr>
          <a:xfrm>
            <a:off x="1428750" y="4486275"/>
            <a:ext cx="9525" cy="381000"/>
          </a:xfrm>
          <a:custGeom>
            <a:avLst/>
            <a:gdLst/>
            <a:ahLst/>
            <a:cxnLst/>
            <a:rect l="l" t="t" r="r" b="b"/>
            <a:pathLst>
              <a:path w="9525"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noFill/>
          <a:ln w="9525">
            <a:solidFill>
              <a:srgbClr val="27D8FF">
                <a:alpha val="60000"/>
              </a:srgbClr>
            </a:solidFill>
          </a:ln>
        </p:spPr>
      </p:sp>
      <p:sp>
        <p:nvSpPr>
          <p:cNvPr id="96" name="Rectangle 96"/>
          <p:cNvSpPr/>
          <p:nvPr/>
        </p:nvSpPr>
        <p:spPr>
          <a:xfrm>
            <a:off x="1809750" y="4171950"/>
            <a:ext cx="7239000" cy="400050"/>
          </a:xfrm>
          <a:prstGeom prst="roundRect">
            <a:avLst>
              <a:gd name="adj" fmla="val 19048"/>
            </a:avLst>
          </a:prstGeom>
          <a:solidFill>
            <a:srgbClr val="0A1A2D"/>
          </a:solidFill>
          <a:ln w="9525">
            <a:solidFill>
              <a:srgbClr val="12314F"/>
            </a:solidFill>
          </a:ln>
        </p:spPr>
      </p:sp>
      <p:sp>
        <p:nvSpPr>
          <p:cNvPr id="97" name="TextBox 97"/>
          <p:cNvSpPr txBox="1"/>
          <p:nvPr/>
        </p:nvSpPr>
        <p:spPr>
          <a:xfrm>
            <a:off x="2003108" y="4301014"/>
            <a:ext cx="4129088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EAF7FF"/>
                </a:solidFill>
                <a:latin typeface="Consolas"/>
                <a:ea typeface="Microsoft YaHei"/>
                <a:cs typeface="Consolas"/>
              </a:rPr>
              <a:t>05 review_id :: trace_id=FARM-07-2026-0806</a:t>
            </a:r>
          </a:p>
        </p:txBody>
      </p:sp>
      <p:sp>
        <p:nvSpPr>
          <p:cNvPr id="98" name="Ellipse 98"/>
          <p:cNvSpPr/>
          <p:nvPr/>
        </p:nvSpPr>
        <p:spPr>
          <a:xfrm>
            <a:off x="1343025" y="4867275"/>
            <a:ext cx="171450" cy="171450"/>
          </a:xfrm>
          <a:prstGeom prst="ellipse">
            <a:avLst/>
          </a:prstGeom>
          <a:solidFill>
            <a:srgbClr val="27D8FF"/>
          </a:solidFill>
          <a:ln>
            <a:noFill/>
          </a:ln>
        </p:spPr>
      </p:sp>
      <p:sp>
        <p:nvSpPr>
          <p:cNvPr id="99" name="Line 99"/>
          <p:cNvSpPr/>
          <p:nvPr/>
        </p:nvSpPr>
        <p:spPr>
          <a:xfrm>
            <a:off x="1428750" y="5038725"/>
            <a:ext cx="9525" cy="381000"/>
          </a:xfrm>
          <a:custGeom>
            <a:avLst/>
            <a:gdLst/>
            <a:ahLst/>
            <a:cxnLst/>
            <a:rect l="l" t="t" r="r" b="b"/>
            <a:pathLst>
              <a:path w="9525"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noFill/>
          <a:ln w="9525">
            <a:solidFill>
              <a:srgbClr val="27D8FF">
                <a:alpha val="60000"/>
              </a:srgbClr>
            </a:solidFill>
          </a:ln>
        </p:spPr>
      </p:sp>
      <p:sp>
        <p:nvSpPr>
          <p:cNvPr id="100" name="Rectangle 100"/>
          <p:cNvSpPr/>
          <p:nvPr/>
        </p:nvSpPr>
        <p:spPr>
          <a:xfrm>
            <a:off x="1809750" y="4724400"/>
            <a:ext cx="7239000" cy="400050"/>
          </a:xfrm>
          <a:prstGeom prst="roundRect">
            <a:avLst>
              <a:gd name="adj" fmla="val 19048"/>
            </a:avLst>
          </a:prstGeom>
          <a:solidFill>
            <a:srgbClr val="0A1A2D"/>
          </a:solidFill>
          <a:ln w="9525">
            <a:solidFill>
              <a:srgbClr val="12314F"/>
            </a:solidFill>
          </a:ln>
        </p:spPr>
      </p:sp>
      <p:sp>
        <p:nvSpPr>
          <p:cNvPr id="101" name="TextBox 101"/>
          <p:cNvSpPr txBox="1"/>
          <p:nvPr/>
        </p:nvSpPr>
        <p:spPr>
          <a:xfrm>
            <a:off x="2003108" y="4853464"/>
            <a:ext cx="4417719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EAF7FF"/>
                </a:solidFill>
                <a:latin typeface="Consolas"/>
                <a:ea typeface="Microsoft YaHei"/>
                <a:cs typeface="Consolas"/>
              </a:rPr>
              <a:t>06 machine_cmd :: trace_id=FARM-07-2026-0806</a:t>
            </a:r>
          </a:p>
        </p:txBody>
      </p:sp>
      <p:sp>
        <p:nvSpPr>
          <p:cNvPr id="102" name="Ellipse 102"/>
          <p:cNvSpPr/>
          <p:nvPr/>
        </p:nvSpPr>
        <p:spPr>
          <a:xfrm>
            <a:off x="1343025" y="5419725"/>
            <a:ext cx="171450" cy="171450"/>
          </a:xfrm>
          <a:prstGeom prst="ellipse">
            <a:avLst/>
          </a:prstGeom>
          <a:solidFill>
            <a:srgbClr val="27D8FF"/>
          </a:solidFill>
          <a:ln>
            <a:noFill/>
          </a:ln>
        </p:spPr>
      </p:sp>
      <p:sp>
        <p:nvSpPr>
          <p:cNvPr id="103" name="Line 103"/>
          <p:cNvSpPr/>
          <p:nvPr/>
        </p:nvSpPr>
        <p:spPr>
          <a:xfrm>
            <a:off x="1428750" y="5591175"/>
            <a:ext cx="9525" cy="381000"/>
          </a:xfrm>
          <a:custGeom>
            <a:avLst/>
            <a:gdLst/>
            <a:ahLst/>
            <a:cxnLst/>
            <a:rect l="l" t="t" r="r" b="b"/>
            <a:pathLst>
              <a:path w="9525"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noFill/>
          <a:ln w="9525">
            <a:solidFill>
              <a:srgbClr val="27D8FF">
                <a:alpha val="60000"/>
              </a:srgbClr>
            </a:solidFill>
          </a:ln>
        </p:spPr>
      </p:sp>
      <p:sp>
        <p:nvSpPr>
          <p:cNvPr id="104" name="Rectangle 104"/>
          <p:cNvSpPr/>
          <p:nvPr/>
        </p:nvSpPr>
        <p:spPr>
          <a:xfrm>
            <a:off x="1809750" y="5276850"/>
            <a:ext cx="7239000" cy="400050"/>
          </a:xfrm>
          <a:prstGeom prst="roundRect">
            <a:avLst>
              <a:gd name="adj" fmla="val 19048"/>
            </a:avLst>
          </a:prstGeom>
          <a:solidFill>
            <a:srgbClr val="0A1A2D"/>
          </a:solidFill>
          <a:ln w="9525">
            <a:solidFill>
              <a:srgbClr val="12314F"/>
            </a:solidFill>
          </a:ln>
        </p:spPr>
      </p:sp>
      <p:sp>
        <p:nvSpPr>
          <p:cNvPr id="105" name="TextBox 105"/>
          <p:cNvSpPr txBox="1"/>
          <p:nvPr/>
        </p:nvSpPr>
        <p:spPr>
          <a:xfrm>
            <a:off x="2003108" y="5405914"/>
            <a:ext cx="4017359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dirty="0">
                <a:solidFill>
                  <a:srgbClr val="EAF7FF"/>
                </a:solidFill>
                <a:latin typeface="Consolas"/>
                <a:ea typeface="Microsoft YaHei"/>
                <a:cs typeface="Consolas"/>
              </a:rPr>
              <a:t>07 outcome :: trace_id=FARM-07-2026-0806</a:t>
            </a:r>
          </a:p>
        </p:txBody>
      </p:sp>
      <p:sp>
        <p:nvSpPr>
          <p:cNvPr id="106" name="TextBox 106"/>
          <p:cNvSpPr txBox="1"/>
          <p:nvPr/>
        </p:nvSpPr>
        <p:spPr>
          <a:xfrm>
            <a:off x="9319260" y="3204210"/>
            <a:ext cx="278206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7D8FF"/>
                </a:solidFill>
                <a:latin typeface="Consolas"/>
                <a:ea typeface="Microsoft YaHei"/>
                <a:cs typeface="Consolas"/>
              </a:rPr>
              <a:t>AUDITABLE REPLAYABLE VERSIONED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11F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7524750" y="-1333500"/>
            <a:ext cx="4953000" cy="4953000"/>
          </a:xfrm>
          <a:prstGeom prst="ellipse">
            <a:avLst/>
          </a:prstGeom>
          <a:solidFill>
            <a:srgbClr val="27D8FF">
              <a:alpha val="55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-381000" y="3714750"/>
            <a:ext cx="4191000" cy="4191000"/>
          </a:xfrm>
          <a:prstGeom prst="ellipse">
            <a:avLst/>
          </a:prstGeom>
          <a:solidFill>
            <a:srgbClr val="62E58F">
              <a:alpha val="3500"/>
            </a:srgbClr>
          </a:solidFill>
          <a:ln>
            <a:noFill/>
          </a:ln>
        </p:spPr>
      </p:sp>
      <p:grpSp>
        <p:nvGrpSpPr>
          <p:cNvPr id="71" name="Group 71"/>
          <p:cNvGrpSpPr/>
          <p:nvPr/>
        </p:nvGrpSpPr>
        <p:grpSpPr>
          <a:xfrm>
            <a:off x="0" y="0"/>
            <a:ext cx="12201525" cy="6867525"/>
            <a:chOff x="0" y="0"/>
            <a:chExt cx="12201525" cy="6867525"/>
          </a:xfrm>
        </p:grpSpPr>
        <p:sp>
          <p:nvSpPr>
            <p:cNvPr id="5" name="Line 5"/>
            <p:cNvSpPr/>
            <p:nvPr/>
          </p:nvSpPr>
          <p:spPr>
            <a:xfrm>
              <a:off x="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381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762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1143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152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1905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228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2667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304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3429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3810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4191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4572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4953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533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5715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609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6477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685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24" name="Line 24"/>
            <p:cNvSpPr/>
            <p:nvPr/>
          </p:nvSpPr>
          <p:spPr>
            <a:xfrm>
              <a:off x="7239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7620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26" name="Line 26"/>
            <p:cNvSpPr/>
            <p:nvPr/>
          </p:nvSpPr>
          <p:spPr>
            <a:xfrm>
              <a:off x="8001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27" name="Line 27"/>
            <p:cNvSpPr/>
            <p:nvPr/>
          </p:nvSpPr>
          <p:spPr>
            <a:xfrm>
              <a:off x="8382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28" name="Line 28"/>
            <p:cNvSpPr/>
            <p:nvPr/>
          </p:nvSpPr>
          <p:spPr>
            <a:xfrm>
              <a:off x="8763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29" name="Line 29"/>
            <p:cNvSpPr/>
            <p:nvPr/>
          </p:nvSpPr>
          <p:spPr>
            <a:xfrm>
              <a:off x="914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30" name="Line 30"/>
            <p:cNvSpPr/>
            <p:nvPr/>
          </p:nvSpPr>
          <p:spPr>
            <a:xfrm>
              <a:off x="9525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31" name="Line 31"/>
            <p:cNvSpPr/>
            <p:nvPr/>
          </p:nvSpPr>
          <p:spPr>
            <a:xfrm>
              <a:off x="990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32" name="Line 32"/>
            <p:cNvSpPr/>
            <p:nvPr/>
          </p:nvSpPr>
          <p:spPr>
            <a:xfrm>
              <a:off x="10287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33" name="Line 33"/>
            <p:cNvSpPr/>
            <p:nvPr/>
          </p:nvSpPr>
          <p:spPr>
            <a:xfrm>
              <a:off x="1066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34" name="Line 34"/>
            <p:cNvSpPr/>
            <p:nvPr/>
          </p:nvSpPr>
          <p:spPr>
            <a:xfrm>
              <a:off x="11049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35" name="Line 35"/>
            <p:cNvSpPr/>
            <p:nvPr/>
          </p:nvSpPr>
          <p:spPr>
            <a:xfrm>
              <a:off x="11430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36" name="Line 36"/>
            <p:cNvSpPr/>
            <p:nvPr/>
          </p:nvSpPr>
          <p:spPr>
            <a:xfrm>
              <a:off x="11811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37" name="Line 37"/>
            <p:cNvSpPr/>
            <p:nvPr/>
          </p:nvSpPr>
          <p:spPr>
            <a:xfrm>
              <a:off x="12192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38" name="Line 38"/>
            <p:cNvSpPr/>
            <p:nvPr/>
          </p:nvSpPr>
          <p:spPr>
            <a:xfrm>
              <a:off x="0" y="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39" name="Line 39"/>
            <p:cNvSpPr/>
            <p:nvPr/>
          </p:nvSpPr>
          <p:spPr>
            <a:xfrm>
              <a:off x="0" y="381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40" name="Line 40"/>
            <p:cNvSpPr/>
            <p:nvPr/>
          </p:nvSpPr>
          <p:spPr>
            <a:xfrm>
              <a:off x="0" y="762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41" name="Line 41"/>
            <p:cNvSpPr/>
            <p:nvPr/>
          </p:nvSpPr>
          <p:spPr>
            <a:xfrm>
              <a:off x="0" y="1143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42" name="Line 42"/>
            <p:cNvSpPr/>
            <p:nvPr/>
          </p:nvSpPr>
          <p:spPr>
            <a:xfrm>
              <a:off x="0" y="1524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43" name="Line 43"/>
            <p:cNvSpPr/>
            <p:nvPr/>
          </p:nvSpPr>
          <p:spPr>
            <a:xfrm>
              <a:off x="0" y="1905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44" name="Line 44"/>
            <p:cNvSpPr/>
            <p:nvPr/>
          </p:nvSpPr>
          <p:spPr>
            <a:xfrm>
              <a:off x="0" y="2286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45" name="Line 45"/>
            <p:cNvSpPr/>
            <p:nvPr/>
          </p:nvSpPr>
          <p:spPr>
            <a:xfrm>
              <a:off x="0" y="2667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46" name="Line 46"/>
            <p:cNvSpPr/>
            <p:nvPr/>
          </p:nvSpPr>
          <p:spPr>
            <a:xfrm>
              <a:off x="0" y="3048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47" name="Line 47"/>
            <p:cNvSpPr/>
            <p:nvPr/>
          </p:nvSpPr>
          <p:spPr>
            <a:xfrm>
              <a:off x="0" y="3429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48" name="Line 48"/>
            <p:cNvSpPr/>
            <p:nvPr/>
          </p:nvSpPr>
          <p:spPr>
            <a:xfrm>
              <a:off x="0" y="3810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49" name="Line 49"/>
            <p:cNvSpPr/>
            <p:nvPr/>
          </p:nvSpPr>
          <p:spPr>
            <a:xfrm>
              <a:off x="0" y="4191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50" name="Line 50"/>
            <p:cNvSpPr/>
            <p:nvPr/>
          </p:nvSpPr>
          <p:spPr>
            <a:xfrm>
              <a:off x="0" y="4572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51" name="Line 51"/>
            <p:cNvSpPr/>
            <p:nvPr/>
          </p:nvSpPr>
          <p:spPr>
            <a:xfrm>
              <a:off x="0" y="4953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52" name="Line 52"/>
            <p:cNvSpPr/>
            <p:nvPr/>
          </p:nvSpPr>
          <p:spPr>
            <a:xfrm>
              <a:off x="0" y="5334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53" name="Line 53"/>
            <p:cNvSpPr/>
            <p:nvPr/>
          </p:nvSpPr>
          <p:spPr>
            <a:xfrm>
              <a:off x="0" y="5715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54" name="Line 54"/>
            <p:cNvSpPr/>
            <p:nvPr/>
          </p:nvSpPr>
          <p:spPr>
            <a:xfrm>
              <a:off x="0" y="6096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55" name="Line 55"/>
            <p:cNvSpPr/>
            <p:nvPr/>
          </p:nvSpPr>
          <p:spPr>
            <a:xfrm>
              <a:off x="0" y="6477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56" name="Line 56"/>
            <p:cNvSpPr/>
            <p:nvPr/>
          </p:nvSpPr>
          <p:spPr>
            <a:xfrm>
              <a:off x="0" y="6858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57" name="Line 57"/>
            <p:cNvSpPr/>
            <p:nvPr/>
          </p:nvSpPr>
          <p:spPr>
            <a:xfrm>
              <a:off x="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5715">
              <a:solidFill>
                <a:srgbClr val="27D8FF">
                  <a:alpha val="16000"/>
                </a:srgbClr>
              </a:solidFill>
            </a:ln>
          </p:spPr>
        </p:sp>
        <p:sp>
          <p:nvSpPr>
            <p:cNvPr id="58" name="Line 58"/>
            <p:cNvSpPr/>
            <p:nvPr/>
          </p:nvSpPr>
          <p:spPr>
            <a:xfrm>
              <a:off x="152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5715">
              <a:solidFill>
                <a:srgbClr val="27D8FF">
                  <a:alpha val="16000"/>
                </a:srgbClr>
              </a:solidFill>
            </a:ln>
          </p:spPr>
        </p:sp>
        <p:sp>
          <p:nvSpPr>
            <p:cNvPr id="59" name="Line 59"/>
            <p:cNvSpPr/>
            <p:nvPr/>
          </p:nvSpPr>
          <p:spPr>
            <a:xfrm>
              <a:off x="304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5715">
              <a:solidFill>
                <a:srgbClr val="27D8FF">
                  <a:alpha val="16000"/>
                </a:srgbClr>
              </a:solidFill>
            </a:ln>
          </p:spPr>
        </p:sp>
        <p:sp>
          <p:nvSpPr>
            <p:cNvPr id="60" name="Line 60"/>
            <p:cNvSpPr/>
            <p:nvPr/>
          </p:nvSpPr>
          <p:spPr>
            <a:xfrm>
              <a:off x="4572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5715">
              <a:solidFill>
                <a:srgbClr val="27D8FF">
                  <a:alpha val="16000"/>
                </a:srgbClr>
              </a:solidFill>
            </a:ln>
          </p:spPr>
        </p:sp>
        <p:sp>
          <p:nvSpPr>
            <p:cNvPr id="61" name="Line 61"/>
            <p:cNvSpPr/>
            <p:nvPr/>
          </p:nvSpPr>
          <p:spPr>
            <a:xfrm>
              <a:off x="609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5715">
              <a:solidFill>
                <a:srgbClr val="27D8FF">
                  <a:alpha val="16000"/>
                </a:srgbClr>
              </a:solidFill>
            </a:ln>
          </p:spPr>
        </p:sp>
        <p:sp>
          <p:nvSpPr>
            <p:cNvPr id="62" name="Line 62"/>
            <p:cNvSpPr/>
            <p:nvPr/>
          </p:nvSpPr>
          <p:spPr>
            <a:xfrm>
              <a:off x="7620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5715">
              <a:solidFill>
                <a:srgbClr val="27D8FF">
                  <a:alpha val="16000"/>
                </a:srgbClr>
              </a:solidFill>
            </a:ln>
          </p:spPr>
        </p:sp>
        <p:sp>
          <p:nvSpPr>
            <p:cNvPr id="63" name="Line 63"/>
            <p:cNvSpPr/>
            <p:nvPr/>
          </p:nvSpPr>
          <p:spPr>
            <a:xfrm>
              <a:off x="914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5715">
              <a:solidFill>
                <a:srgbClr val="27D8FF">
                  <a:alpha val="16000"/>
                </a:srgbClr>
              </a:solidFill>
            </a:ln>
          </p:spPr>
        </p:sp>
        <p:sp>
          <p:nvSpPr>
            <p:cNvPr id="64" name="Line 64"/>
            <p:cNvSpPr/>
            <p:nvPr/>
          </p:nvSpPr>
          <p:spPr>
            <a:xfrm>
              <a:off x="1066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5715">
              <a:solidFill>
                <a:srgbClr val="27D8FF">
                  <a:alpha val="16000"/>
                </a:srgbClr>
              </a:solidFill>
            </a:ln>
          </p:spPr>
        </p:sp>
        <p:sp>
          <p:nvSpPr>
            <p:cNvPr id="65" name="Line 65"/>
            <p:cNvSpPr/>
            <p:nvPr/>
          </p:nvSpPr>
          <p:spPr>
            <a:xfrm>
              <a:off x="12192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5715">
              <a:solidFill>
                <a:srgbClr val="27D8FF">
                  <a:alpha val="16000"/>
                </a:srgbClr>
              </a:solidFill>
            </a:ln>
          </p:spPr>
        </p:sp>
        <p:sp>
          <p:nvSpPr>
            <p:cNvPr id="66" name="Line 66"/>
            <p:cNvSpPr/>
            <p:nvPr/>
          </p:nvSpPr>
          <p:spPr>
            <a:xfrm>
              <a:off x="0" y="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5715">
              <a:solidFill>
                <a:srgbClr val="27D8FF">
                  <a:alpha val="16000"/>
                </a:srgbClr>
              </a:solidFill>
            </a:ln>
          </p:spPr>
        </p:sp>
        <p:sp>
          <p:nvSpPr>
            <p:cNvPr id="67" name="Line 67"/>
            <p:cNvSpPr/>
            <p:nvPr/>
          </p:nvSpPr>
          <p:spPr>
            <a:xfrm>
              <a:off x="0" y="1524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5715">
              <a:solidFill>
                <a:srgbClr val="27D8FF">
                  <a:alpha val="16000"/>
                </a:srgbClr>
              </a:solidFill>
            </a:ln>
          </p:spPr>
        </p:sp>
        <p:sp>
          <p:nvSpPr>
            <p:cNvPr id="68" name="Line 68"/>
            <p:cNvSpPr/>
            <p:nvPr/>
          </p:nvSpPr>
          <p:spPr>
            <a:xfrm>
              <a:off x="0" y="3048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5715">
              <a:solidFill>
                <a:srgbClr val="27D8FF">
                  <a:alpha val="16000"/>
                </a:srgbClr>
              </a:solidFill>
            </a:ln>
          </p:spPr>
        </p:sp>
        <p:sp>
          <p:nvSpPr>
            <p:cNvPr id="69" name="Line 69"/>
            <p:cNvSpPr/>
            <p:nvPr/>
          </p:nvSpPr>
          <p:spPr>
            <a:xfrm>
              <a:off x="0" y="4572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5715">
              <a:solidFill>
                <a:srgbClr val="27D8FF">
                  <a:alpha val="16000"/>
                </a:srgbClr>
              </a:solidFill>
            </a:ln>
          </p:spPr>
        </p:sp>
        <p:sp>
          <p:nvSpPr>
            <p:cNvPr id="70" name="Line 70"/>
            <p:cNvSpPr/>
            <p:nvPr/>
          </p:nvSpPr>
          <p:spPr>
            <a:xfrm>
              <a:off x="0" y="6096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5715">
              <a:solidFill>
                <a:srgbClr val="27D8FF">
                  <a:alpha val="16000"/>
                </a:srgbClr>
              </a:solidFill>
            </a:ln>
          </p:spPr>
        </p:sp>
      </p:grpSp>
      <p:sp>
        <p:nvSpPr>
          <p:cNvPr id="72" name="TextBox 72"/>
          <p:cNvSpPr txBox="1"/>
          <p:nvPr/>
        </p:nvSpPr>
        <p:spPr>
          <a:xfrm>
            <a:off x="347662" y="240506"/>
            <a:ext cx="225492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27D8FF">
                    <a:alphaMod val="88000"/>
                  </a:srgbClr>
                </a:solidFill>
                <a:latin typeface="Consolas"/>
                <a:ea typeface="Microsoft YaHei"/>
                <a:cs typeface="Consolas"/>
              </a:rPr>
              <a:t>AGRI_AI_OS // BLUEPRINT::10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10606088" y="240506"/>
            <a:ext cx="71044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8CB5CC"/>
                </a:solidFill>
                <a:latin typeface="Consolas"/>
                <a:ea typeface="Microsoft YaHei"/>
                <a:cs typeface="Consolas"/>
              </a:rPr>
              <a:t>1280×720</a:t>
            </a:r>
          </a:p>
        </p:txBody>
      </p:sp>
      <p:sp>
        <p:nvSpPr>
          <p:cNvPr id="74" name="Line 74"/>
          <p:cNvSpPr/>
          <p:nvPr/>
        </p:nvSpPr>
        <p:spPr>
          <a:xfrm>
            <a:off x="361950" y="495300"/>
            <a:ext cx="11468100" cy="9525"/>
          </a:xfrm>
          <a:custGeom>
            <a:avLst/>
            <a:gdLst/>
            <a:ahLst/>
            <a:cxnLst/>
            <a:rect l="l" t="t" r="r" b="b"/>
            <a:pathLst>
              <a:path w="11468100" h="9525">
                <a:moveTo>
                  <a:pt x="0" y="0"/>
                </a:moveTo>
                <a:lnTo>
                  <a:pt x="11468100" y="0"/>
                </a:lnTo>
              </a:path>
            </a:pathLst>
          </a:custGeom>
          <a:noFill/>
          <a:ln w="9525">
            <a:solidFill>
              <a:srgbClr val="27D8FF">
                <a:alpha val="45000"/>
              </a:srgbClr>
            </a:solidFill>
          </a:ln>
        </p:spPr>
      </p:sp>
      <p:sp>
        <p:nvSpPr>
          <p:cNvPr id="75" name="TextBox 75"/>
          <p:cNvSpPr txBox="1"/>
          <p:nvPr/>
        </p:nvSpPr>
        <p:spPr>
          <a:xfrm>
            <a:off x="521970" y="731520"/>
            <a:ext cx="8857259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EAF7FF"/>
                </a:solidFill>
                <a:latin typeface="Arial"/>
                <a:ea typeface="Microsoft YaHei"/>
                <a:cs typeface="Arial"/>
              </a:rPr>
              <a:t>Deployment readiness depends on farms, models,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521970" y="1112520"/>
            <a:ext cx="3815029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EAF7FF"/>
                </a:solidFill>
                <a:latin typeface="Arial"/>
                <a:ea typeface="Microsoft YaHei"/>
                <a:cs typeface="Arial"/>
              </a:rPr>
              <a:t>machines, and people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554355" y="1511618"/>
            <a:ext cx="1137142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8CB5CC"/>
                </a:solidFill>
                <a:latin typeface="Arial"/>
                <a:ea typeface="Microsoft YaHei"/>
                <a:cs typeface="Arial"/>
              </a:rPr>
              <a:t>A production checklist verifies connectivity, calibration, model monitoring, safety fallbacks, and operator training.</a:t>
            </a:r>
          </a:p>
        </p:txBody>
      </p:sp>
      <p:sp>
        <p:nvSpPr>
          <p:cNvPr id="78" name="Rectangle 78"/>
          <p:cNvSpPr/>
          <p:nvPr/>
        </p:nvSpPr>
        <p:spPr>
          <a:xfrm>
            <a:off x="857250" y="2190750"/>
            <a:ext cx="4762500" cy="514350"/>
          </a:xfrm>
          <a:prstGeom prst="roundRect">
            <a:avLst>
              <a:gd name="adj" fmla="val 18519"/>
            </a:avLst>
          </a:prstGeom>
          <a:solidFill>
            <a:srgbClr val="0A1A2D"/>
          </a:solidFill>
          <a:ln w="9525">
            <a:solidFill>
              <a:srgbClr val="27D8FF"/>
            </a:solidFill>
          </a:ln>
        </p:spPr>
      </p:sp>
      <p:sp>
        <p:nvSpPr>
          <p:cNvPr id="79" name="TextBox 79"/>
          <p:cNvSpPr txBox="1"/>
          <p:nvPr/>
        </p:nvSpPr>
        <p:spPr>
          <a:xfrm>
            <a:off x="1049655" y="2378392"/>
            <a:ext cx="35961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2E58F"/>
                </a:solidFill>
                <a:latin typeface="Consolas"/>
                <a:ea typeface="Microsoft YaHei"/>
                <a:cs typeface="Consolas"/>
              </a:rPr>
              <a:t>[✓]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1505902" y="2370296"/>
            <a:ext cx="2471214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dirty="0">
                <a:solidFill>
                  <a:srgbClr val="EAF7FF"/>
                </a:solidFill>
                <a:latin typeface="Arial"/>
                <a:ea typeface="Microsoft YaHei"/>
                <a:cs typeface="Arial"/>
              </a:rPr>
              <a:t>Plot boundaries verified</a:t>
            </a:r>
          </a:p>
        </p:txBody>
      </p:sp>
      <p:sp>
        <p:nvSpPr>
          <p:cNvPr id="81" name="Rectangle 81"/>
          <p:cNvSpPr/>
          <p:nvPr/>
        </p:nvSpPr>
        <p:spPr>
          <a:xfrm>
            <a:off x="6191250" y="2190750"/>
            <a:ext cx="4762500" cy="514350"/>
          </a:xfrm>
          <a:prstGeom prst="roundRect">
            <a:avLst>
              <a:gd name="adj" fmla="val 18519"/>
            </a:avLst>
          </a:prstGeom>
          <a:solidFill>
            <a:srgbClr val="0A1A2D"/>
          </a:solidFill>
          <a:ln w="9525">
            <a:solidFill>
              <a:srgbClr val="27D8FF"/>
            </a:solidFill>
          </a:ln>
        </p:spPr>
      </p:sp>
      <p:sp>
        <p:nvSpPr>
          <p:cNvPr id="82" name="TextBox 82"/>
          <p:cNvSpPr txBox="1"/>
          <p:nvPr/>
        </p:nvSpPr>
        <p:spPr>
          <a:xfrm>
            <a:off x="6383655" y="2378392"/>
            <a:ext cx="35961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2E58F"/>
                </a:solidFill>
                <a:latin typeface="Consolas"/>
                <a:ea typeface="Microsoft YaHei"/>
                <a:cs typeface="Consolas"/>
              </a:rPr>
              <a:t>[✓]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6839902" y="2370296"/>
            <a:ext cx="2752177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dirty="0">
                <a:solidFill>
                  <a:srgbClr val="EAF7FF"/>
                </a:solidFill>
                <a:latin typeface="Arial"/>
                <a:ea typeface="Microsoft YaHei"/>
                <a:cs typeface="Arial"/>
              </a:rPr>
              <a:t>Sensor calibration current</a:t>
            </a:r>
          </a:p>
        </p:txBody>
      </p:sp>
      <p:sp>
        <p:nvSpPr>
          <p:cNvPr id="84" name="Rectangle 84"/>
          <p:cNvSpPr/>
          <p:nvPr/>
        </p:nvSpPr>
        <p:spPr>
          <a:xfrm>
            <a:off x="857250" y="2971800"/>
            <a:ext cx="4762500" cy="514350"/>
          </a:xfrm>
          <a:prstGeom prst="roundRect">
            <a:avLst>
              <a:gd name="adj" fmla="val 18519"/>
            </a:avLst>
          </a:prstGeom>
          <a:solidFill>
            <a:srgbClr val="0A1A2D"/>
          </a:solidFill>
          <a:ln w="9525">
            <a:solidFill>
              <a:srgbClr val="27D8FF"/>
            </a:solidFill>
          </a:ln>
        </p:spPr>
      </p:sp>
      <p:sp>
        <p:nvSpPr>
          <p:cNvPr id="85" name="TextBox 85"/>
          <p:cNvSpPr txBox="1"/>
          <p:nvPr/>
        </p:nvSpPr>
        <p:spPr>
          <a:xfrm>
            <a:off x="1049655" y="3159442"/>
            <a:ext cx="35961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2E58F"/>
                </a:solidFill>
                <a:latin typeface="Consolas"/>
                <a:ea typeface="Microsoft YaHei"/>
                <a:cs typeface="Consolas"/>
              </a:rPr>
              <a:t>[✓]</a:t>
            </a:r>
          </a:p>
        </p:txBody>
      </p:sp>
      <p:sp>
        <p:nvSpPr>
          <p:cNvPr id="86" name="TextBox 86"/>
          <p:cNvSpPr txBox="1"/>
          <p:nvPr/>
        </p:nvSpPr>
        <p:spPr>
          <a:xfrm>
            <a:off x="1505902" y="3151346"/>
            <a:ext cx="2929080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dirty="0">
                <a:solidFill>
                  <a:srgbClr val="EAF7FF"/>
                </a:solidFill>
                <a:latin typeface="Arial"/>
                <a:ea typeface="Microsoft YaHei"/>
                <a:cs typeface="Arial"/>
              </a:rPr>
              <a:t>Connectivity fallback tested</a:t>
            </a:r>
          </a:p>
        </p:txBody>
      </p:sp>
      <p:sp>
        <p:nvSpPr>
          <p:cNvPr id="87" name="Rectangle 87"/>
          <p:cNvSpPr/>
          <p:nvPr/>
        </p:nvSpPr>
        <p:spPr>
          <a:xfrm>
            <a:off x="6191250" y="2971800"/>
            <a:ext cx="4762500" cy="514350"/>
          </a:xfrm>
          <a:prstGeom prst="roundRect">
            <a:avLst>
              <a:gd name="adj" fmla="val 18519"/>
            </a:avLst>
          </a:prstGeom>
          <a:solidFill>
            <a:srgbClr val="0A1A2D"/>
          </a:solidFill>
          <a:ln w="9525">
            <a:solidFill>
              <a:srgbClr val="27D8FF"/>
            </a:solidFill>
          </a:ln>
        </p:spPr>
      </p:sp>
      <p:sp>
        <p:nvSpPr>
          <p:cNvPr id="88" name="TextBox 88"/>
          <p:cNvSpPr txBox="1"/>
          <p:nvPr/>
        </p:nvSpPr>
        <p:spPr>
          <a:xfrm>
            <a:off x="6383655" y="3159442"/>
            <a:ext cx="35961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2E58F"/>
                </a:solidFill>
                <a:latin typeface="Consolas"/>
                <a:ea typeface="Microsoft YaHei"/>
                <a:cs typeface="Consolas"/>
              </a:rPr>
              <a:t>[✓]</a:t>
            </a:r>
          </a:p>
        </p:txBody>
      </p:sp>
      <p:sp>
        <p:nvSpPr>
          <p:cNvPr id="89" name="TextBox 89"/>
          <p:cNvSpPr txBox="1"/>
          <p:nvPr/>
        </p:nvSpPr>
        <p:spPr>
          <a:xfrm>
            <a:off x="6839902" y="3151346"/>
            <a:ext cx="2845832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dirty="0">
                <a:solidFill>
                  <a:srgbClr val="EAF7FF"/>
                </a:solidFill>
                <a:latin typeface="Arial"/>
                <a:ea typeface="Microsoft YaHei"/>
                <a:cs typeface="Arial"/>
              </a:rPr>
              <a:t>Model drift monitors active</a:t>
            </a:r>
          </a:p>
        </p:txBody>
      </p:sp>
      <p:sp>
        <p:nvSpPr>
          <p:cNvPr id="90" name="Rectangle 90"/>
          <p:cNvSpPr/>
          <p:nvPr/>
        </p:nvSpPr>
        <p:spPr>
          <a:xfrm>
            <a:off x="857250" y="3752850"/>
            <a:ext cx="4762500" cy="514350"/>
          </a:xfrm>
          <a:prstGeom prst="roundRect">
            <a:avLst>
              <a:gd name="adj" fmla="val 18519"/>
            </a:avLst>
          </a:prstGeom>
          <a:solidFill>
            <a:srgbClr val="0A1A2D"/>
          </a:solidFill>
          <a:ln w="9525">
            <a:solidFill>
              <a:srgbClr val="27D8FF"/>
            </a:solidFill>
          </a:ln>
        </p:spPr>
      </p:sp>
      <p:sp>
        <p:nvSpPr>
          <p:cNvPr id="91" name="TextBox 91"/>
          <p:cNvSpPr txBox="1"/>
          <p:nvPr/>
        </p:nvSpPr>
        <p:spPr>
          <a:xfrm>
            <a:off x="1049655" y="3940492"/>
            <a:ext cx="35961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2E58F"/>
                </a:solidFill>
                <a:latin typeface="Consolas"/>
                <a:ea typeface="Microsoft YaHei"/>
                <a:cs typeface="Consolas"/>
              </a:rPr>
              <a:t>[✓]</a:t>
            </a:r>
          </a:p>
        </p:txBody>
      </p:sp>
      <p:sp>
        <p:nvSpPr>
          <p:cNvPr id="92" name="TextBox 92"/>
          <p:cNvSpPr txBox="1"/>
          <p:nvPr/>
        </p:nvSpPr>
        <p:spPr>
          <a:xfrm>
            <a:off x="1505902" y="3932396"/>
            <a:ext cx="2897862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dirty="0">
                <a:solidFill>
                  <a:srgbClr val="EAF7FF"/>
                </a:solidFill>
                <a:latin typeface="Arial"/>
                <a:ea typeface="Microsoft YaHei"/>
                <a:cs typeface="Arial"/>
              </a:rPr>
              <a:t>Equipment stop policy armed</a:t>
            </a:r>
          </a:p>
        </p:txBody>
      </p:sp>
      <p:sp>
        <p:nvSpPr>
          <p:cNvPr id="93" name="Rectangle 93"/>
          <p:cNvSpPr/>
          <p:nvPr/>
        </p:nvSpPr>
        <p:spPr>
          <a:xfrm>
            <a:off x="6191250" y="3752850"/>
            <a:ext cx="4762500" cy="514350"/>
          </a:xfrm>
          <a:prstGeom prst="roundRect">
            <a:avLst>
              <a:gd name="adj" fmla="val 18519"/>
            </a:avLst>
          </a:prstGeom>
          <a:solidFill>
            <a:srgbClr val="0A1A2D"/>
          </a:solidFill>
          <a:ln w="9525">
            <a:solidFill>
              <a:srgbClr val="27D8FF"/>
            </a:solidFill>
          </a:ln>
        </p:spPr>
      </p:sp>
      <p:sp>
        <p:nvSpPr>
          <p:cNvPr id="94" name="TextBox 94"/>
          <p:cNvSpPr txBox="1"/>
          <p:nvPr/>
        </p:nvSpPr>
        <p:spPr>
          <a:xfrm>
            <a:off x="6383655" y="3940492"/>
            <a:ext cx="35961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2E58F"/>
                </a:solidFill>
                <a:latin typeface="Consolas"/>
                <a:ea typeface="Microsoft YaHei"/>
                <a:cs typeface="Consolas"/>
              </a:rPr>
              <a:t>[✓]</a:t>
            </a:r>
          </a:p>
        </p:txBody>
      </p:sp>
      <p:sp>
        <p:nvSpPr>
          <p:cNvPr id="95" name="TextBox 95"/>
          <p:cNvSpPr txBox="1"/>
          <p:nvPr/>
        </p:nvSpPr>
        <p:spPr>
          <a:xfrm>
            <a:off x="6839902" y="3932396"/>
            <a:ext cx="2835426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dirty="0">
                <a:solidFill>
                  <a:srgbClr val="EAF7FF"/>
                </a:solidFill>
                <a:latin typeface="Arial"/>
                <a:ea typeface="Microsoft YaHei"/>
                <a:cs typeface="Arial"/>
              </a:rPr>
              <a:t>Operator training complete</a:t>
            </a:r>
          </a:p>
        </p:txBody>
      </p:sp>
      <p:sp>
        <p:nvSpPr>
          <p:cNvPr id="96" name="Rectangle 96"/>
          <p:cNvSpPr/>
          <p:nvPr/>
        </p:nvSpPr>
        <p:spPr>
          <a:xfrm>
            <a:off x="857250" y="4533900"/>
            <a:ext cx="4762500" cy="514350"/>
          </a:xfrm>
          <a:prstGeom prst="roundRect">
            <a:avLst>
              <a:gd name="adj" fmla="val 18519"/>
            </a:avLst>
          </a:prstGeom>
          <a:solidFill>
            <a:srgbClr val="0A1A2D"/>
          </a:solidFill>
          <a:ln w="9525">
            <a:solidFill>
              <a:srgbClr val="27D8FF"/>
            </a:solidFill>
          </a:ln>
        </p:spPr>
      </p:sp>
      <p:sp>
        <p:nvSpPr>
          <p:cNvPr id="97" name="TextBox 97"/>
          <p:cNvSpPr txBox="1"/>
          <p:nvPr/>
        </p:nvSpPr>
        <p:spPr>
          <a:xfrm>
            <a:off x="1049655" y="4721542"/>
            <a:ext cx="35961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2E58F"/>
                </a:solidFill>
                <a:latin typeface="Consolas"/>
                <a:ea typeface="Microsoft YaHei"/>
                <a:cs typeface="Consolas"/>
              </a:rPr>
              <a:t>[✓]</a:t>
            </a:r>
          </a:p>
        </p:txBody>
      </p:sp>
      <p:sp>
        <p:nvSpPr>
          <p:cNvPr id="98" name="TextBox 98"/>
          <p:cNvSpPr txBox="1"/>
          <p:nvPr/>
        </p:nvSpPr>
        <p:spPr>
          <a:xfrm>
            <a:off x="1505902" y="4713446"/>
            <a:ext cx="3210044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dirty="0">
                <a:solidFill>
                  <a:srgbClr val="EAF7FF"/>
                </a:solidFill>
                <a:latin typeface="Arial"/>
                <a:ea typeface="Microsoft YaHei"/>
                <a:cs typeface="Arial"/>
              </a:rPr>
              <a:t>Agronomist escalation path live</a:t>
            </a:r>
          </a:p>
        </p:txBody>
      </p:sp>
      <p:sp>
        <p:nvSpPr>
          <p:cNvPr id="99" name="Rectangle 99"/>
          <p:cNvSpPr/>
          <p:nvPr/>
        </p:nvSpPr>
        <p:spPr>
          <a:xfrm>
            <a:off x="6191250" y="4533900"/>
            <a:ext cx="4762500" cy="514350"/>
          </a:xfrm>
          <a:prstGeom prst="roundRect">
            <a:avLst>
              <a:gd name="adj" fmla="val 18519"/>
            </a:avLst>
          </a:prstGeom>
          <a:solidFill>
            <a:srgbClr val="0A1A2D"/>
          </a:solidFill>
          <a:ln w="9525">
            <a:solidFill>
              <a:srgbClr val="27D8FF"/>
            </a:solidFill>
          </a:ln>
        </p:spPr>
      </p:sp>
      <p:sp>
        <p:nvSpPr>
          <p:cNvPr id="100" name="TextBox 100"/>
          <p:cNvSpPr txBox="1"/>
          <p:nvPr/>
        </p:nvSpPr>
        <p:spPr>
          <a:xfrm>
            <a:off x="6383655" y="4721542"/>
            <a:ext cx="35961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62E58F"/>
                </a:solidFill>
                <a:latin typeface="Consolas"/>
                <a:ea typeface="Microsoft YaHei"/>
                <a:cs typeface="Consolas"/>
              </a:rPr>
              <a:t>[✓]</a:t>
            </a:r>
          </a:p>
        </p:txBody>
      </p:sp>
      <p:sp>
        <p:nvSpPr>
          <p:cNvPr id="101" name="TextBox 101"/>
          <p:cNvSpPr txBox="1"/>
          <p:nvPr/>
        </p:nvSpPr>
        <p:spPr>
          <a:xfrm>
            <a:off x="6839902" y="4713446"/>
            <a:ext cx="3158014" cy="289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25" dirty="0">
                <a:solidFill>
                  <a:srgbClr val="EAF7FF"/>
                </a:solidFill>
                <a:latin typeface="Arial"/>
                <a:ea typeface="Microsoft YaHei"/>
                <a:cs typeface="Arial"/>
              </a:rPr>
              <a:t>Data retention policy approved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11F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7524750" y="-1333500"/>
            <a:ext cx="4953000" cy="4953000"/>
          </a:xfrm>
          <a:prstGeom prst="ellipse">
            <a:avLst/>
          </a:prstGeom>
          <a:solidFill>
            <a:srgbClr val="27D8FF">
              <a:alpha val="55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-381000" y="3714750"/>
            <a:ext cx="4191000" cy="4191000"/>
          </a:xfrm>
          <a:prstGeom prst="ellipse">
            <a:avLst/>
          </a:prstGeom>
          <a:solidFill>
            <a:srgbClr val="62E58F">
              <a:alpha val="3500"/>
            </a:srgbClr>
          </a:solidFill>
          <a:ln>
            <a:noFill/>
          </a:ln>
        </p:spPr>
      </p:sp>
      <p:grpSp>
        <p:nvGrpSpPr>
          <p:cNvPr id="71" name="Group 71"/>
          <p:cNvGrpSpPr/>
          <p:nvPr/>
        </p:nvGrpSpPr>
        <p:grpSpPr>
          <a:xfrm>
            <a:off x="0" y="0"/>
            <a:ext cx="12201525" cy="6867525"/>
            <a:chOff x="0" y="0"/>
            <a:chExt cx="12201525" cy="6867525"/>
          </a:xfrm>
        </p:grpSpPr>
        <p:sp>
          <p:nvSpPr>
            <p:cNvPr id="5" name="Line 5"/>
            <p:cNvSpPr/>
            <p:nvPr/>
          </p:nvSpPr>
          <p:spPr>
            <a:xfrm>
              <a:off x="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381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762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1143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152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1905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228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2667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304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3429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3810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4191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4572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4953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533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5715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609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6477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685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24" name="Line 24"/>
            <p:cNvSpPr/>
            <p:nvPr/>
          </p:nvSpPr>
          <p:spPr>
            <a:xfrm>
              <a:off x="7239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7620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26" name="Line 26"/>
            <p:cNvSpPr/>
            <p:nvPr/>
          </p:nvSpPr>
          <p:spPr>
            <a:xfrm>
              <a:off x="8001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27" name="Line 27"/>
            <p:cNvSpPr/>
            <p:nvPr/>
          </p:nvSpPr>
          <p:spPr>
            <a:xfrm>
              <a:off x="8382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28" name="Line 28"/>
            <p:cNvSpPr/>
            <p:nvPr/>
          </p:nvSpPr>
          <p:spPr>
            <a:xfrm>
              <a:off x="8763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29" name="Line 29"/>
            <p:cNvSpPr/>
            <p:nvPr/>
          </p:nvSpPr>
          <p:spPr>
            <a:xfrm>
              <a:off x="914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30" name="Line 30"/>
            <p:cNvSpPr/>
            <p:nvPr/>
          </p:nvSpPr>
          <p:spPr>
            <a:xfrm>
              <a:off x="9525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31" name="Line 31"/>
            <p:cNvSpPr/>
            <p:nvPr/>
          </p:nvSpPr>
          <p:spPr>
            <a:xfrm>
              <a:off x="990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32" name="Line 32"/>
            <p:cNvSpPr/>
            <p:nvPr/>
          </p:nvSpPr>
          <p:spPr>
            <a:xfrm>
              <a:off x="10287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33" name="Line 33"/>
            <p:cNvSpPr/>
            <p:nvPr/>
          </p:nvSpPr>
          <p:spPr>
            <a:xfrm>
              <a:off x="1066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34" name="Line 34"/>
            <p:cNvSpPr/>
            <p:nvPr/>
          </p:nvSpPr>
          <p:spPr>
            <a:xfrm>
              <a:off x="11049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35" name="Line 35"/>
            <p:cNvSpPr/>
            <p:nvPr/>
          </p:nvSpPr>
          <p:spPr>
            <a:xfrm>
              <a:off x="11430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36" name="Line 36"/>
            <p:cNvSpPr/>
            <p:nvPr/>
          </p:nvSpPr>
          <p:spPr>
            <a:xfrm>
              <a:off x="11811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37" name="Line 37"/>
            <p:cNvSpPr/>
            <p:nvPr/>
          </p:nvSpPr>
          <p:spPr>
            <a:xfrm>
              <a:off x="12192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38" name="Line 38"/>
            <p:cNvSpPr/>
            <p:nvPr/>
          </p:nvSpPr>
          <p:spPr>
            <a:xfrm>
              <a:off x="0" y="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39" name="Line 39"/>
            <p:cNvSpPr/>
            <p:nvPr/>
          </p:nvSpPr>
          <p:spPr>
            <a:xfrm>
              <a:off x="0" y="381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40" name="Line 40"/>
            <p:cNvSpPr/>
            <p:nvPr/>
          </p:nvSpPr>
          <p:spPr>
            <a:xfrm>
              <a:off x="0" y="762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41" name="Line 41"/>
            <p:cNvSpPr/>
            <p:nvPr/>
          </p:nvSpPr>
          <p:spPr>
            <a:xfrm>
              <a:off x="0" y="1143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42" name="Line 42"/>
            <p:cNvSpPr/>
            <p:nvPr/>
          </p:nvSpPr>
          <p:spPr>
            <a:xfrm>
              <a:off x="0" y="1524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43" name="Line 43"/>
            <p:cNvSpPr/>
            <p:nvPr/>
          </p:nvSpPr>
          <p:spPr>
            <a:xfrm>
              <a:off x="0" y="1905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44" name="Line 44"/>
            <p:cNvSpPr/>
            <p:nvPr/>
          </p:nvSpPr>
          <p:spPr>
            <a:xfrm>
              <a:off x="0" y="2286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45" name="Line 45"/>
            <p:cNvSpPr/>
            <p:nvPr/>
          </p:nvSpPr>
          <p:spPr>
            <a:xfrm>
              <a:off x="0" y="2667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46" name="Line 46"/>
            <p:cNvSpPr/>
            <p:nvPr/>
          </p:nvSpPr>
          <p:spPr>
            <a:xfrm>
              <a:off x="0" y="3048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47" name="Line 47"/>
            <p:cNvSpPr/>
            <p:nvPr/>
          </p:nvSpPr>
          <p:spPr>
            <a:xfrm>
              <a:off x="0" y="3429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48" name="Line 48"/>
            <p:cNvSpPr/>
            <p:nvPr/>
          </p:nvSpPr>
          <p:spPr>
            <a:xfrm>
              <a:off x="0" y="3810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49" name="Line 49"/>
            <p:cNvSpPr/>
            <p:nvPr/>
          </p:nvSpPr>
          <p:spPr>
            <a:xfrm>
              <a:off x="0" y="4191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50" name="Line 50"/>
            <p:cNvSpPr/>
            <p:nvPr/>
          </p:nvSpPr>
          <p:spPr>
            <a:xfrm>
              <a:off x="0" y="4572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51" name="Line 51"/>
            <p:cNvSpPr/>
            <p:nvPr/>
          </p:nvSpPr>
          <p:spPr>
            <a:xfrm>
              <a:off x="0" y="4953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52" name="Line 52"/>
            <p:cNvSpPr/>
            <p:nvPr/>
          </p:nvSpPr>
          <p:spPr>
            <a:xfrm>
              <a:off x="0" y="5334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53" name="Line 53"/>
            <p:cNvSpPr/>
            <p:nvPr/>
          </p:nvSpPr>
          <p:spPr>
            <a:xfrm>
              <a:off x="0" y="5715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54" name="Line 54"/>
            <p:cNvSpPr/>
            <p:nvPr/>
          </p:nvSpPr>
          <p:spPr>
            <a:xfrm>
              <a:off x="0" y="6096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55" name="Line 55"/>
            <p:cNvSpPr/>
            <p:nvPr/>
          </p:nvSpPr>
          <p:spPr>
            <a:xfrm>
              <a:off x="0" y="6477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56" name="Line 56"/>
            <p:cNvSpPr/>
            <p:nvPr/>
          </p:nvSpPr>
          <p:spPr>
            <a:xfrm>
              <a:off x="0" y="6858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57" name="Line 57"/>
            <p:cNvSpPr/>
            <p:nvPr/>
          </p:nvSpPr>
          <p:spPr>
            <a:xfrm>
              <a:off x="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5715">
              <a:solidFill>
                <a:srgbClr val="27D8FF">
                  <a:alpha val="16000"/>
                </a:srgbClr>
              </a:solidFill>
            </a:ln>
          </p:spPr>
        </p:sp>
        <p:sp>
          <p:nvSpPr>
            <p:cNvPr id="58" name="Line 58"/>
            <p:cNvSpPr/>
            <p:nvPr/>
          </p:nvSpPr>
          <p:spPr>
            <a:xfrm>
              <a:off x="152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5715">
              <a:solidFill>
                <a:srgbClr val="27D8FF">
                  <a:alpha val="16000"/>
                </a:srgbClr>
              </a:solidFill>
            </a:ln>
          </p:spPr>
        </p:sp>
        <p:sp>
          <p:nvSpPr>
            <p:cNvPr id="59" name="Line 59"/>
            <p:cNvSpPr/>
            <p:nvPr/>
          </p:nvSpPr>
          <p:spPr>
            <a:xfrm>
              <a:off x="304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5715">
              <a:solidFill>
                <a:srgbClr val="27D8FF">
                  <a:alpha val="16000"/>
                </a:srgbClr>
              </a:solidFill>
            </a:ln>
          </p:spPr>
        </p:sp>
        <p:sp>
          <p:nvSpPr>
            <p:cNvPr id="60" name="Line 60"/>
            <p:cNvSpPr/>
            <p:nvPr/>
          </p:nvSpPr>
          <p:spPr>
            <a:xfrm>
              <a:off x="4572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5715">
              <a:solidFill>
                <a:srgbClr val="27D8FF">
                  <a:alpha val="16000"/>
                </a:srgbClr>
              </a:solidFill>
            </a:ln>
          </p:spPr>
        </p:sp>
        <p:sp>
          <p:nvSpPr>
            <p:cNvPr id="61" name="Line 61"/>
            <p:cNvSpPr/>
            <p:nvPr/>
          </p:nvSpPr>
          <p:spPr>
            <a:xfrm>
              <a:off x="609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5715">
              <a:solidFill>
                <a:srgbClr val="27D8FF">
                  <a:alpha val="16000"/>
                </a:srgbClr>
              </a:solidFill>
            </a:ln>
          </p:spPr>
        </p:sp>
        <p:sp>
          <p:nvSpPr>
            <p:cNvPr id="62" name="Line 62"/>
            <p:cNvSpPr/>
            <p:nvPr/>
          </p:nvSpPr>
          <p:spPr>
            <a:xfrm>
              <a:off x="7620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5715">
              <a:solidFill>
                <a:srgbClr val="27D8FF">
                  <a:alpha val="16000"/>
                </a:srgbClr>
              </a:solidFill>
            </a:ln>
          </p:spPr>
        </p:sp>
        <p:sp>
          <p:nvSpPr>
            <p:cNvPr id="63" name="Line 63"/>
            <p:cNvSpPr/>
            <p:nvPr/>
          </p:nvSpPr>
          <p:spPr>
            <a:xfrm>
              <a:off x="914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5715">
              <a:solidFill>
                <a:srgbClr val="27D8FF">
                  <a:alpha val="16000"/>
                </a:srgbClr>
              </a:solidFill>
            </a:ln>
          </p:spPr>
        </p:sp>
        <p:sp>
          <p:nvSpPr>
            <p:cNvPr id="64" name="Line 64"/>
            <p:cNvSpPr/>
            <p:nvPr/>
          </p:nvSpPr>
          <p:spPr>
            <a:xfrm>
              <a:off x="1066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5715">
              <a:solidFill>
                <a:srgbClr val="27D8FF">
                  <a:alpha val="16000"/>
                </a:srgbClr>
              </a:solidFill>
            </a:ln>
          </p:spPr>
        </p:sp>
        <p:sp>
          <p:nvSpPr>
            <p:cNvPr id="65" name="Line 65"/>
            <p:cNvSpPr/>
            <p:nvPr/>
          </p:nvSpPr>
          <p:spPr>
            <a:xfrm>
              <a:off x="12192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5715">
              <a:solidFill>
                <a:srgbClr val="27D8FF">
                  <a:alpha val="16000"/>
                </a:srgbClr>
              </a:solidFill>
            </a:ln>
          </p:spPr>
        </p:sp>
        <p:sp>
          <p:nvSpPr>
            <p:cNvPr id="66" name="Line 66"/>
            <p:cNvSpPr/>
            <p:nvPr/>
          </p:nvSpPr>
          <p:spPr>
            <a:xfrm>
              <a:off x="0" y="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5715">
              <a:solidFill>
                <a:srgbClr val="27D8FF">
                  <a:alpha val="16000"/>
                </a:srgbClr>
              </a:solidFill>
            </a:ln>
          </p:spPr>
        </p:sp>
        <p:sp>
          <p:nvSpPr>
            <p:cNvPr id="67" name="Line 67"/>
            <p:cNvSpPr/>
            <p:nvPr/>
          </p:nvSpPr>
          <p:spPr>
            <a:xfrm>
              <a:off x="0" y="1524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5715">
              <a:solidFill>
                <a:srgbClr val="27D8FF">
                  <a:alpha val="16000"/>
                </a:srgbClr>
              </a:solidFill>
            </a:ln>
          </p:spPr>
        </p:sp>
        <p:sp>
          <p:nvSpPr>
            <p:cNvPr id="68" name="Line 68"/>
            <p:cNvSpPr/>
            <p:nvPr/>
          </p:nvSpPr>
          <p:spPr>
            <a:xfrm>
              <a:off x="0" y="3048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5715">
              <a:solidFill>
                <a:srgbClr val="27D8FF">
                  <a:alpha val="16000"/>
                </a:srgbClr>
              </a:solidFill>
            </a:ln>
          </p:spPr>
        </p:sp>
        <p:sp>
          <p:nvSpPr>
            <p:cNvPr id="69" name="Line 69"/>
            <p:cNvSpPr/>
            <p:nvPr/>
          </p:nvSpPr>
          <p:spPr>
            <a:xfrm>
              <a:off x="0" y="4572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5715">
              <a:solidFill>
                <a:srgbClr val="27D8FF">
                  <a:alpha val="16000"/>
                </a:srgbClr>
              </a:solidFill>
            </a:ln>
          </p:spPr>
        </p:sp>
        <p:sp>
          <p:nvSpPr>
            <p:cNvPr id="70" name="Line 70"/>
            <p:cNvSpPr/>
            <p:nvPr/>
          </p:nvSpPr>
          <p:spPr>
            <a:xfrm>
              <a:off x="0" y="6096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5715">
              <a:solidFill>
                <a:srgbClr val="27D8FF">
                  <a:alpha val="16000"/>
                </a:srgbClr>
              </a:solidFill>
            </a:ln>
          </p:spPr>
        </p:sp>
      </p:grpSp>
      <p:sp>
        <p:nvSpPr>
          <p:cNvPr id="72" name="TextBox 72"/>
          <p:cNvSpPr txBox="1"/>
          <p:nvPr/>
        </p:nvSpPr>
        <p:spPr>
          <a:xfrm>
            <a:off x="347662" y="240506"/>
            <a:ext cx="221384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27D8FF">
                    <a:alphaMod val="88000"/>
                  </a:srgbClr>
                </a:solidFill>
                <a:latin typeface="Consolas"/>
                <a:ea typeface="Microsoft YaHei"/>
                <a:cs typeface="Consolas"/>
              </a:rPr>
              <a:t>AGRI_AI_OS // BLUEPRINT::11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10606088" y="240506"/>
            <a:ext cx="71044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8CB5CC"/>
                </a:solidFill>
                <a:latin typeface="Consolas"/>
                <a:ea typeface="Microsoft YaHei"/>
                <a:cs typeface="Consolas"/>
              </a:rPr>
              <a:t>1280×720</a:t>
            </a:r>
          </a:p>
        </p:txBody>
      </p:sp>
      <p:sp>
        <p:nvSpPr>
          <p:cNvPr id="74" name="Line 74"/>
          <p:cNvSpPr/>
          <p:nvPr/>
        </p:nvSpPr>
        <p:spPr>
          <a:xfrm>
            <a:off x="361950" y="495300"/>
            <a:ext cx="11468100" cy="9525"/>
          </a:xfrm>
          <a:custGeom>
            <a:avLst/>
            <a:gdLst/>
            <a:ahLst/>
            <a:cxnLst/>
            <a:rect l="l" t="t" r="r" b="b"/>
            <a:pathLst>
              <a:path w="11468100" h="9525">
                <a:moveTo>
                  <a:pt x="0" y="0"/>
                </a:moveTo>
                <a:lnTo>
                  <a:pt x="11468100" y="0"/>
                </a:lnTo>
              </a:path>
            </a:pathLst>
          </a:custGeom>
          <a:noFill/>
          <a:ln w="9525">
            <a:solidFill>
              <a:srgbClr val="27D8FF">
                <a:alpha val="45000"/>
              </a:srgbClr>
            </a:solidFill>
          </a:ln>
        </p:spPr>
      </p:sp>
      <p:sp>
        <p:nvSpPr>
          <p:cNvPr id="75" name="TextBox 75"/>
          <p:cNvSpPr txBox="1"/>
          <p:nvPr/>
        </p:nvSpPr>
        <p:spPr>
          <a:xfrm>
            <a:off x="521970" y="731520"/>
            <a:ext cx="9685363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EAF7FF"/>
                </a:solidFill>
                <a:latin typeface="Arial"/>
                <a:ea typeface="Microsoft YaHei"/>
                <a:cs typeface="Arial"/>
              </a:rPr>
              <a:t>Managed rollout starts narrow, monitors drift, then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521970" y="1112520"/>
            <a:ext cx="1477937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EAF7FF"/>
                </a:solidFill>
                <a:latin typeface="Arial"/>
                <a:ea typeface="Microsoft YaHei"/>
                <a:cs typeface="Arial"/>
              </a:rPr>
              <a:t>expands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554355" y="1511618"/>
            <a:ext cx="1189391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8CB5CC"/>
                </a:solidFill>
                <a:latin typeface="Arial"/>
                <a:ea typeface="Microsoft YaHei"/>
                <a:cs typeface="Arial"/>
              </a:rPr>
              <a:t>The release path moves from pilot blocks to multi-farm scale only after telemetry, outcomes, and governance pass gates.</a:t>
            </a:r>
          </a:p>
        </p:txBody>
      </p:sp>
      <p:sp>
        <p:nvSpPr>
          <p:cNvPr id="78" name="Rectangle 78"/>
          <p:cNvSpPr/>
          <p:nvPr/>
        </p:nvSpPr>
        <p:spPr>
          <a:xfrm>
            <a:off x="1000125" y="3028950"/>
            <a:ext cx="2143125" cy="876300"/>
          </a:xfrm>
          <a:prstGeom prst="roundRect">
            <a:avLst>
              <a:gd name="adj" fmla="val 15217"/>
            </a:avLst>
          </a:prstGeom>
          <a:solidFill>
            <a:srgbClr val="0A1A2D">
              <a:alpha val="96000"/>
            </a:srgbClr>
          </a:solidFill>
          <a:ln w="13335">
            <a:solidFill>
              <a:srgbClr val="27D8FF">
                <a:alpha val="96000"/>
              </a:srgbClr>
            </a:solidFill>
          </a:ln>
        </p:spPr>
      </p:sp>
      <p:sp>
        <p:nvSpPr>
          <p:cNvPr id="79" name="TextBox 79"/>
          <p:cNvSpPr txBox="1"/>
          <p:nvPr/>
        </p:nvSpPr>
        <p:spPr>
          <a:xfrm>
            <a:off x="1152525" y="3162300"/>
            <a:ext cx="119974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EAF7FF"/>
                </a:solidFill>
                <a:latin typeface="Arial"/>
                <a:ea typeface="Microsoft YaHei"/>
                <a:cs typeface="Arial"/>
              </a:rPr>
              <a:t>Pilot block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1159192" y="3476149"/>
            <a:ext cx="113547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8CB5CC"/>
                </a:solidFill>
                <a:latin typeface="Consolas"/>
                <a:ea typeface="Microsoft YaHei"/>
                <a:cs typeface="Consolas"/>
              </a:rPr>
              <a:t>single crop zone</a:t>
            </a:r>
          </a:p>
        </p:txBody>
      </p:sp>
      <p:sp>
        <p:nvSpPr>
          <p:cNvPr id="81" name="Line 81"/>
          <p:cNvSpPr/>
          <p:nvPr/>
        </p:nvSpPr>
        <p:spPr>
          <a:xfrm>
            <a:off x="3143250" y="3467100"/>
            <a:ext cx="571500" cy="1"/>
          </a:xfrm>
          <a:prstGeom prst="line">
            <a:avLst/>
          </a:prstGeom>
          <a:noFill/>
          <a:ln w="19050">
            <a:solidFill>
              <a:srgbClr val="27D8FF">
                <a:alpha val="90000"/>
              </a:srgbClr>
            </a:solidFill>
            <a:tailEnd type="triangle" w="lg" len="lg"/>
          </a:ln>
        </p:spPr>
      </p:sp>
      <p:sp>
        <p:nvSpPr>
          <p:cNvPr id="82" name="Rectangle 82"/>
          <p:cNvSpPr/>
          <p:nvPr/>
        </p:nvSpPr>
        <p:spPr>
          <a:xfrm>
            <a:off x="3714750" y="3028950"/>
            <a:ext cx="2143125" cy="876300"/>
          </a:xfrm>
          <a:prstGeom prst="roundRect">
            <a:avLst>
              <a:gd name="adj" fmla="val 15217"/>
            </a:avLst>
          </a:prstGeom>
          <a:solidFill>
            <a:srgbClr val="0A1A2D">
              <a:alpha val="96000"/>
            </a:srgbClr>
          </a:solidFill>
          <a:ln w="13335">
            <a:solidFill>
              <a:srgbClr val="FFB84D">
                <a:alpha val="96000"/>
              </a:srgbClr>
            </a:solidFill>
          </a:ln>
        </p:spPr>
      </p:sp>
      <p:sp>
        <p:nvSpPr>
          <p:cNvPr id="83" name="TextBox 83"/>
          <p:cNvSpPr txBox="1"/>
          <p:nvPr/>
        </p:nvSpPr>
        <p:spPr>
          <a:xfrm>
            <a:off x="3867150" y="3162300"/>
            <a:ext cx="146427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EAF7FF"/>
                </a:solidFill>
                <a:latin typeface="Arial"/>
                <a:ea typeface="Microsoft YaHei"/>
                <a:cs typeface="Arial"/>
              </a:rPr>
              <a:t>Shadow mode</a:t>
            </a:r>
          </a:p>
        </p:txBody>
      </p:sp>
      <p:sp>
        <p:nvSpPr>
          <p:cNvPr id="84" name="TextBox 84"/>
          <p:cNvSpPr txBox="1"/>
          <p:nvPr/>
        </p:nvSpPr>
        <p:spPr>
          <a:xfrm>
            <a:off x="3873818" y="3476149"/>
            <a:ext cx="161963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8CB5CC"/>
                </a:solidFill>
                <a:latin typeface="Consolas"/>
                <a:ea typeface="Microsoft YaHei"/>
                <a:cs typeface="Consolas"/>
              </a:rPr>
              <a:t>recommend, do not act</a:t>
            </a:r>
          </a:p>
        </p:txBody>
      </p:sp>
      <p:sp>
        <p:nvSpPr>
          <p:cNvPr id="85" name="Line 85"/>
          <p:cNvSpPr/>
          <p:nvPr/>
        </p:nvSpPr>
        <p:spPr>
          <a:xfrm>
            <a:off x="5857875" y="3467100"/>
            <a:ext cx="571500" cy="1"/>
          </a:xfrm>
          <a:prstGeom prst="line">
            <a:avLst/>
          </a:prstGeom>
          <a:noFill/>
          <a:ln w="19050">
            <a:solidFill>
              <a:srgbClr val="27D8FF">
                <a:alpha val="90000"/>
              </a:srgbClr>
            </a:solidFill>
            <a:tailEnd type="triangle" w="lg" len="lg"/>
          </a:ln>
        </p:spPr>
      </p:sp>
      <p:sp>
        <p:nvSpPr>
          <p:cNvPr id="86" name="Rectangle 86"/>
          <p:cNvSpPr/>
          <p:nvPr/>
        </p:nvSpPr>
        <p:spPr>
          <a:xfrm>
            <a:off x="6429375" y="3028950"/>
            <a:ext cx="2143125" cy="876300"/>
          </a:xfrm>
          <a:prstGeom prst="roundRect">
            <a:avLst>
              <a:gd name="adj" fmla="val 15217"/>
            </a:avLst>
          </a:prstGeom>
          <a:solidFill>
            <a:srgbClr val="0A1A2D">
              <a:alpha val="96000"/>
            </a:srgbClr>
          </a:solidFill>
          <a:ln w="13335">
            <a:solidFill>
              <a:srgbClr val="62E58F">
                <a:alpha val="96000"/>
              </a:srgbClr>
            </a:solidFill>
          </a:ln>
        </p:spPr>
      </p:sp>
      <p:sp>
        <p:nvSpPr>
          <p:cNvPr id="87" name="TextBox 87"/>
          <p:cNvSpPr txBox="1"/>
          <p:nvPr/>
        </p:nvSpPr>
        <p:spPr>
          <a:xfrm>
            <a:off x="6581775" y="3162300"/>
            <a:ext cx="205085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EAF7FF"/>
                </a:solidFill>
                <a:latin typeface="Arial"/>
                <a:ea typeface="Microsoft YaHei"/>
                <a:cs typeface="Arial"/>
              </a:rPr>
              <a:t>Guarded autonomy</a:t>
            </a:r>
          </a:p>
        </p:txBody>
      </p:sp>
      <p:sp>
        <p:nvSpPr>
          <p:cNvPr id="88" name="TextBox 88"/>
          <p:cNvSpPr txBox="1"/>
          <p:nvPr/>
        </p:nvSpPr>
        <p:spPr>
          <a:xfrm>
            <a:off x="6588442" y="3476149"/>
            <a:ext cx="129923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8CB5CC"/>
                </a:solidFill>
                <a:latin typeface="Consolas"/>
                <a:ea typeface="Microsoft YaHei"/>
                <a:cs typeface="Consolas"/>
              </a:rPr>
              <a:t>bounded commands</a:t>
            </a:r>
          </a:p>
        </p:txBody>
      </p:sp>
      <p:sp>
        <p:nvSpPr>
          <p:cNvPr id="89" name="Line 89"/>
          <p:cNvSpPr/>
          <p:nvPr/>
        </p:nvSpPr>
        <p:spPr>
          <a:xfrm>
            <a:off x="8572500" y="3467100"/>
            <a:ext cx="571500" cy="1"/>
          </a:xfrm>
          <a:prstGeom prst="line">
            <a:avLst/>
          </a:prstGeom>
          <a:noFill/>
          <a:ln w="19050">
            <a:solidFill>
              <a:srgbClr val="27D8FF">
                <a:alpha val="90000"/>
              </a:srgbClr>
            </a:solidFill>
            <a:tailEnd type="triangle" w="lg" len="lg"/>
          </a:ln>
        </p:spPr>
      </p:sp>
      <p:sp>
        <p:nvSpPr>
          <p:cNvPr id="90" name="Rectangle 90"/>
          <p:cNvSpPr/>
          <p:nvPr/>
        </p:nvSpPr>
        <p:spPr>
          <a:xfrm>
            <a:off x="9144000" y="3028950"/>
            <a:ext cx="2143125" cy="876300"/>
          </a:xfrm>
          <a:prstGeom prst="roundRect">
            <a:avLst>
              <a:gd name="adj" fmla="val 15217"/>
            </a:avLst>
          </a:prstGeom>
          <a:solidFill>
            <a:srgbClr val="0A1A2D">
              <a:alpha val="96000"/>
            </a:srgbClr>
          </a:solidFill>
          <a:ln w="13335">
            <a:solidFill>
              <a:srgbClr val="FF4FD8">
                <a:alpha val="96000"/>
              </a:srgbClr>
            </a:solidFill>
          </a:ln>
        </p:spPr>
      </p:sp>
      <p:sp>
        <p:nvSpPr>
          <p:cNvPr id="91" name="TextBox 91"/>
          <p:cNvSpPr txBox="1"/>
          <p:nvPr/>
        </p:nvSpPr>
        <p:spPr>
          <a:xfrm>
            <a:off x="9296400" y="3162300"/>
            <a:ext cx="192433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EAF7FF"/>
                </a:solidFill>
                <a:latin typeface="Arial"/>
                <a:ea typeface="Microsoft YaHei"/>
                <a:cs typeface="Arial"/>
              </a:rPr>
              <a:t>Multi-farm scale</a:t>
            </a:r>
          </a:p>
        </p:txBody>
      </p:sp>
      <p:sp>
        <p:nvSpPr>
          <p:cNvPr id="92" name="TextBox 92"/>
          <p:cNvSpPr txBox="1"/>
          <p:nvPr/>
        </p:nvSpPr>
        <p:spPr>
          <a:xfrm>
            <a:off x="9303068" y="3476149"/>
            <a:ext cx="136331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8CB5CC"/>
                </a:solidFill>
                <a:latin typeface="Consolas"/>
                <a:ea typeface="Microsoft YaHei"/>
                <a:cs typeface="Consolas"/>
              </a:rPr>
              <a:t>governed expansion</a:t>
            </a:r>
          </a:p>
        </p:txBody>
      </p:sp>
      <p:sp>
        <p:nvSpPr>
          <p:cNvPr id="93" name="Polyline 93"/>
          <p:cNvSpPr/>
          <p:nvPr/>
        </p:nvSpPr>
        <p:spPr>
          <a:xfrm>
            <a:off x="1143000" y="4333875"/>
            <a:ext cx="8953500" cy="1000125"/>
          </a:xfrm>
          <a:custGeom>
            <a:avLst/>
            <a:gdLst/>
            <a:ahLst/>
            <a:cxnLst/>
            <a:rect l="l" t="t" r="r" b="b"/>
            <a:pathLst>
              <a:path w="8953500" h="1000125">
                <a:moveTo>
                  <a:pt x="0" y="1000125"/>
                </a:moveTo>
                <a:lnTo>
                  <a:pt x="2000250" y="619125"/>
                </a:lnTo>
                <a:lnTo>
                  <a:pt x="4191000" y="762000"/>
                </a:lnTo>
                <a:lnTo>
                  <a:pt x="6381750" y="238125"/>
                </a:lnTo>
                <a:lnTo>
                  <a:pt x="8953500" y="0"/>
                </a:lnTo>
              </a:path>
            </a:pathLst>
          </a:custGeom>
          <a:noFill/>
          <a:ln w="28575">
            <a:solidFill>
              <a:srgbClr val="62E58F"/>
            </a:solidFill>
          </a:ln>
        </p:spPr>
      </p:sp>
      <p:sp>
        <p:nvSpPr>
          <p:cNvPr id="94" name="TextBox 94"/>
          <p:cNvSpPr txBox="1"/>
          <p:nvPr/>
        </p:nvSpPr>
        <p:spPr>
          <a:xfrm>
            <a:off x="1125855" y="5664518"/>
            <a:ext cx="779283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27D8FF"/>
                </a:solidFill>
                <a:latin typeface="Consolas"/>
                <a:ea typeface="Microsoft YaHei"/>
                <a:cs typeface="Consolas"/>
              </a:rPr>
              <a:t>Gate metrics: uptime • action accuracy • override rate • drift • operator trust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11F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7524750" y="-1333500"/>
            <a:ext cx="4953000" cy="4953000"/>
          </a:xfrm>
          <a:prstGeom prst="ellipse">
            <a:avLst/>
          </a:prstGeom>
          <a:solidFill>
            <a:srgbClr val="27D8FF">
              <a:alpha val="55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-381000" y="3714750"/>
            <a:ext cx="4191000" cy="4191000"/>
          </a:xfrm>
          <a:prstGeom prst="ellipse">
            <a:avLst/>
          </a:prstGeom>
          <a:solidFill>
            <a:srgbClr val="62E58F">
              <a:alpha val="3500"/>
            </a:srgbClr>
          </a:solidFill>
          <a:ln>
            <a:noFill/>
          </a:ln>
        </p:spPr>
      </p:sp>
      <p:grpSp>
        <p:nvGrpSpPr>
          <p:cNvPr id="71" name="Group 71"/>
          <p:cNvGrpSpPr/>
          <p:nvPr/>
        </p:nvGrpSpPr>
        <p:grpSpPr>
          <a:xfrm>
            <a:off x="0" y="0"/>
            <a:ext cx="12201525" cy="6867525"/>
            <a:chOff x="0" y="0"/>
            <a:chExt cx="12201525" cy="6867525"/>
          </a:xfrm>
        </p:grpSpPr>
        <p:sp>
          <p:nvSpPr>
            <p:cNvPr id="5" name="Line 5"/>
            <p:cNvSpPr/>
            <p:nvPr/>
          </p:nvSpPr>
          <p:spPr>
            <a:xfrm>
              <a:off x="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381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762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1143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152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1905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228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2667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304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3429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3810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4191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4572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4953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533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5715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609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6477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685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24" name="Line 24"/>
            <p:cNvSpPr/>
            <p:nvPr/>
          </p:nvSpPr>
          <p:spPr>
            <a:xfrm>
              <a:off x="7239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7620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26" name="Line 26"/>
            <p:cNvSpPr/>
            <p:nvPr/>
          </p:nvSpPr>
          <p:spPr>
            <a:xfrm>
              <a:off x="8001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27" name="Line 27"/>
            <p:cNvSpPr/>
            <p:nvPr/>
          </p:nvSpPr>
          <p:spPr>
            <a:xfrm>
              <a:off x="8382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28" name="Line 28"/>
            <p:cNvSpPr/>
            <p:nvPr/>
          </p:nvSpPr>
          <p:spPr>
            <a:xfrm>
              <a:off x="8763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29" name="Line 29"/>
            <p:cNvSpPr/>
            <p:nvPr/>
          </p:nvSpPr>
          <p:spPr>
            <a:xfrm>
              <a:off x="914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30" name="Line 30"/>
            <p:cNvSpPr/>
            <p:nvPr/>
          </p:nvSpPr>
          <p:spPr>
            <a:xfrm>
              <a:off x="9525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31" name="Line 31"/>
            <p:cNvSpPr/>
            <p:nvPr/>
          </p:nvSpPr>
          <p:spPr>
            <a:xfrm>
              <a:off x="990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32" name="Line 32"/>
            <p:cNvSpPr/>
            <p:nvPr/>
          </p:nvSpPr>
          <p:spPr>
            <a:xfrm>
              <a:off x="10287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33" name="Line 33"/>
            <p:cNvSpPr/>
            <p:nvPr/>
          </p:nvSpPr>
          <p:spPr>
            <a:xfrm>
              <a:off x="1066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34" name="Line 34"/>
            <p:cNvSpPr/>
            <p:nvPr/>
          </p:nvSpPr>
          <p:spPr>
            <a:xfrm>
              <a:off x="11049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35" name="Line 35"/>
            <p:cNvSpPr/>
            <p:nvPr/>
          </p:nvSpPr>
          <p:spPr>
            <a:xfrm>
              <a:off x="11430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36" name="Line 36"/>
            <p:cNvSpPr/>
            <p:nvPr/>
          </p:nvSpPr>
          <p:spPr>
            <a:xfrm>
              <a:off x="11811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37" name="Line 37"/>
            <p:cNvSpPr/>
            <p:nvPr/>
          </p:nvSpPr>
          <p:spPr>
            <a:xfrm>
              <a:off x="12192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38" name="Line 38"/>
            <p:cNvSpPr/>
            <p:nvPr/>
          </p:nvSpPr>
          <p:spPr>
            <a:xfrm>
              <a:off x="0" y="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39" name="Line 39"/>
            <p:cNvSpPr/>
            <p:nvPr/>
          </p:nvSpPr>
          <p:spPr>
            <a:xfrm>
              <a:off x="0" y="381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40" name="Line 40"/>
            <p:cNvSpPr/>
            <p:nvPr/>
          </p:nvSpPr>
          <p:spPr>
            <a:xfrm>
              <a:off x="0" y="762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41" name="Line 41"/>
            <p:cNvSpPr/>
            <p:nvPr/>
          </p:nvSpPr>
          <p:spPr>
            <a:xfrm>
              <a:off x="0" y="1143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42" name="Line 42"/>
            <p:cNvSpPr/>
            <p:nvPr/>
          </p:nvSpPr>
          <p:spPr>
            <a:xfrm>
              <a:off x="0" y="1524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43" name="Line 43"/>
            <p:cNvSpPr/>
            <p:nvPr/>
          </p:nvSpPr>
          <p:spPr>
            <a:xfrm>
              <a:off x="0" y="1905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44" name="Line 44"/>
            <p:cNvSpPr/>
            <p:nvPr/>
          </p:nvSpPr>
          <p:spPr>
            <a:xfrm>
              <a:off x="0" y="2286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45" name="Line 45"/>
            <p:cNvSpPr/>
            <p:nvPr/>
          </p:nvSpPr>
          <p:spPr>
            <a:xfrm>
              <a:off x="0" y="2667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46" name="Line 46"/>
            <p:cNvSpPr/>
            <p:nvPr/>
          </p:nvSpPr>
          <p:spPr>
            <a:xfrm>
              <a:off x="0" y="3048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47" name="Line 47"/>
            <p:cNvSpPr/>
            <p:nvPr/>
          </p:nvSpPr>
          <p:spPr>
            <a:xfrm>
              <a:off x="0" y="3429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48" name="Line 48"/>
            <p:cNvSpPr/>
            <p:nvPr/>
          </p:nvSpPr>
          <p:spPr>
            <a:xfrm>
              <a:off x="0" y="3810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49" name="Line 49"/>
            <p:cNvSpPr/>
            <p:nvPr/>
          </p:nvSpPr>
          <p:spPr>
            <a:xfrm>
              <a:off x="0" y="4191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50" name="Line 50"/>
            <p:cNvSpPr/>
            <p:nvPr/>
          </p:nvSpPr>
          <p:spPr>
            <a:xfrm>
              <a:off x="0" y="4572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51" name="Line 51"/>
            <p:cNvSpPr/>
            <p:nvPr/>
          </p:nvSpPr>
          <p:spPr>
            <a:xfrm>
              <a:off x="0" y="4953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52" name="Line 52"/>
            <p:cNvSpPr/>
            <p:nvPr/>
          </p:nvSpPr>
          <p:spPr>
            <a:xfrm>
              <a:off x="0" y="5334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53" name="Line 53"/>
            <p:cNvSpPr/>
            <p:nvPr/>
          </p:nvSpPr>
          <p:spPr>
            <a:xfrm>
              <a:off x="0" y="5715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54" name="Line 54"/>
            <p:cNvSpPr/>
            <p:nvPr/>
          </p:nvSpPr>
          <p:spPr>
            <a:xfrm>
              <a:off x="0" y="6096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55" name="Line 55"/>
            <p:cNvSpPr/>
            <p:nvPr/>
          </p:nvSpPr>
          <p:spPr>
            <a:xfrm>
              <a:off x="0" y="6477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56" name="Line 56"/>
            <p:cNvSpPr/>
            <p:nvPr/>
          </p:nvSpPr>
          <p:spPr>
            <a:xfrm>
              <a:off x="0" y="6858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286">
              <a:solidFill>
                <a:srgbClr val="12314F">
                  <a:alpha val="45000"/>
                </a:srgbClr>
              </a:solidFill>
            </a:ln>
          </p:spPr>
        </p:sp>
        <p:sp>
          <p:nvSpPr>
            <p:cNvPr id="57" name="Line 57"/>
            <p:cNvSpPr/>
            <p:nvPr/>
          </p:nvSpPr>
          <p:spPr>
            <a:xfrm>
              <a:off x="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5715">
              <a:solidFill>
                <a:srgbClr val="27D8FF">
                  <a:alpha val="16000"/>
                </a:srgbClr>
              </a:solidFill>
            </a:ln>
          </p:spPr>
        </p:sp>
        <p:sp>
          <p:nvSpPr>
            <p:cNvPr id="58" name="Line 58"/>
            <p:cNvSpPr/>
            <p:nvPr/>
          </p:nvSpPr>
          <p:spPr>
            <a:xfrm>
              <a:off x="152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5715">
              <a:solidFill>
                <a:srgbClr val="27D8FF">
                  <a:alpha val="16000"/>
                </a:srgbClr>
              </a:solidFill>
            </a:ln>
          </p:spPr>
        </p:sp>
        <p:sp>
          <p:nvSpPr>
            <p:cNvPr id="59" name="Line 59"/>
            <p:cNvSpPr/>
            <p:nvPr/>
          </p:nvSpPr>
          <p:spPr>
            <a:xfrm>
              <a:off x="304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5715">
              <a:solidFill>
                <a:srgbClr val="27D8FF">
                  <a:alpha val="16000"/>
                </a:srgbClr>
              </a:solidFill>
            </a:ln>
          </p:spPr>
        </p:sp>
        <p:sp>
          <p:nvSpPr>
            <p:cNvPr id="60" name="Line 60"/>
            <p:cNvSpPr/>
            <p:nvPr/>
          </p:nvSpPr>
          <p:spPr>
            <a:xfrm>
              <a:off x="4572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5715">
              <a:solidFill>
                <a:srgbClr val="27D8FF">
                  <a:alpha val="16000"/>
                </a:srgbClr>
              </a:solidFill>
            </a:ln>
          </p:spPr>
        </p:sp>
        <p:sp>
          <p:nvSpPr>
            <p:cNvPr id="61" name="Line 61"/>
            <p:cNvSpPr/>
            <p:nvPr/>
          </p:nvSpPr>
          <p:spPr>
            <a:xfrm>
              <a:off x="609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5715">
              <a:solidFill>
                <a:srgbClr val="27D8FF">
                  <a:alpha val="16000"/>
                </a:srgbClr>
              </a:solidFill>
            </a:ln>
          </p:spPr>
        </p:sp>
        <p:sp>
          <p:nvSpPr>
            <p:cNvPr id="62" name="Line 62"/>
            <p:cNvSpPr/>
            <p:nvPr/>
          </p:nvSpPr>
          <p:spPr>
            <a:xfrm>
              <a:off x="7620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5715">
              <a:solidFill>
                <a:srgbClr val="27D8FF">
                  <a:alpha val="16000"/>
                </a:srgbClr>
              </a:solidFill>
            </a:ln>
          </p:spPr>
        </p:sp>
        <p:sp>
          <p:nvSpPr>
            <p:cNvPr id="63" name="Line 63"/>
            <p:cNvSpPr/>
            <p:nvPr/>
          </p:nvSpPr>
          <p:spPr>
            <a:xfrm>
              <a:off x="9144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5715">
              <a:solidFill>
                <a:srgbClr val="27D8FF">
                  <a:alpha val="16000"/>
                </a:srgbClr>
              </a:solidFill>
            </a:ln>
          </p:spPr>
        </p:sp>
        <p:sp>
          <p:nvSpPr>
            <p:cNvPr id="64" name="Line 64"/>
            <p:cNvSpPr/>
            <p:nvPr/>
          </p:nvSpPr>
          <p:spPr>
            <a:xfrm>
              <a:off x="1066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5715">
              <a:solidFill>
                <a:srgbClr val="27D8FF">
                  <a:alpha val="16000"/>
                </a:srgbClr>
              </a:solidFill>
            </a:ln>
          </p:spPr>
        </p:sp>
        <p:sp>
          <p:nvSpPr>
            <p:cNvPr id="65" name="Line 65"/>
            <p:cNvSpPr/>
            <p:nvPr/>
          </p:nvSpPr>
          <p:spPr>
            <a:xfrm>
              <a:off x="12192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5715">
              <a:solidFill>
                <a:srgbClr val="27D8FF">
                  <a:alpha val="16000"/>
                </a:srgbClr>
              </a:solidFill>
            </a:ln>
          </p:spPr>
        </p:sp>
        <p:sp>
          <p:nvSpPr>
            <p:cNvPr id="66" name="Line 66"/>
            <p:cNvSpPr/>
            <p:nvPr/>
          </p:nvSpPr>
          <p:spPr>
            <a:xfrm>
              <a:off x="0" y="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5715">
              <a:solidFill>
                <a:srgbClr val="27D8FF">
                  <a:alpha val="16000"/>
                </a:srgbClr>
              </a:solidFill>
            </a:ln>
          </p:spPr>
        </p:sp>
        <p:sp>
          <p:nvSpPr>
            <p:cNvPr id="67" name="Line 67"/>
            <p:cNvSpPr/>
            <p:nvPr/>
          </p:nvSpPr>
          <p:spPr>
            <a:xfrm>
              <a:off x="0" y="1524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5715">
              <a:solidFill>
                <a:srgbClr val="27D8FF">
                  <a:alpha val="16000"/>
                </a:srgbClr>
              </a:solidFill>
            </a:ln>
          </p:spPr>
        </p:sp>
        <p:sp>
          <p:nvSpPr>
            <p:cNvPr id="68" name="Line 68"/>
            <p:cNvSpPr/>
            <p:nvPr/>
          </p:nvSpPr>
          <p:spPr>
            <a:xfrm>
              <a:off x="0" y="3048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5715">
              <a:solidFill>
                <a:srgbClr val="27D8FF">
                  <a:alpha val="16000"/>
                </a:srgbClr>
              </a:solidFill>
            </a:ln>
          </p:spPr>
        </p:sp>
        <p:sp>
          <p:nvSpPr>
            <p:cNvPr id="69" name="Line 69"/>
            <p:cNvSpPr/>
            <p:nvPr/>
          </p:nvSpPr>
          <p:spPr>
            <a:xfrm>
              <a:off x="0" y="4572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5715">
              <a:solidFill>
                <a:srgbClr val="27D8FF">
                  <a:alpha val="16000"/>
                </a:srgbClr>
              </a:solidFill>
            </a:ln>
          </p:spPr>
        </p:sp>
        <p:sp>
          <p:nvSpPr>
            <p:cNvPr id="70" name="Line 70"/>
            <p:cNvSpPr/>
            <p:nvPr/>
          </p:nvSpPr>
          <p:spPr>
            <a:xfrm>
              <a:off x="0" y="6096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5715">
              <a:solidFill>
                <a:srgbClr val="27D8FF">
                  <a:alpha val="16000"/>
                </a:srgbClr>
              </a:solidFill>
            </a:ln>
          </p:spPr>
        </p:sp>
      </p:grpSp>
      <p:sp>
        <p:nvSpPr>
          <p:cNvPr id="72" name="TextBox 72"/>
          <p:cNvSpPr txBox="1"/>
          <p:nvPr/>
        </p:nvSpPr>
        <p:spPr>
          <a:xfrm>
            <a:off x="347662" y="240506"/>
            <a:ext cx="225492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27D8FF">
                    <a:alphaMod val="88000"/>
                  </a:srgbClr>
                </a:solidFill>
                <a:latin typeface="Consolas"/>
                <a:ea typeface="Microsoft YaHei"/>
                <a:cs typeface="Consolas"/>
              </a:rPr>
              <a:t>AGRI_AI_OS // BLUEPRINT::12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10606088" y="240506"/>
            <a:ext cx="71044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8CB5CC"/>
                </a:solidFill>
                <a:latin typeface="Consolas"/>
                <a:ea typeface="Microsoft YaHei"/>
                <a:cs typeface="Consolas"/>
              </a:rPr>
              <a:t>1280×720</a:t>
            </a:r>
          </a:p>
        </p:txBody>
      </p:sp>
      <p:sp>
        <p:nvSpPr>
          <p:cNvPr id="74" name="Line 74"/>
          <p:cNvSpPr/>
          <p:nvPr/>
        </p:nvSpPr>
        <p:spPr>
          <a:xfrm>
            <a:off x="361950" y="495300"/>
            <a:ext cx="11468100" cy="9525"/>
          </a:xfrm>
          <a:custGeom>
            <a:avLst/>
            <a:gdLst/>
            <a:ahLst/>
            <a:cxnLst/>
            <a:rect l="l" t="t" r="r" b="b"/>
            <a:pathLst>
              <a:path w="11468100" h="9525">
                <a:moveTo>
                  <a:pt x="0" y="0"/>
                </a:moveTo>
                <a:lnTo>
                  <a:pt x="11468100" y="0"/>
                </a:lnTo>
              </a:path>
            </a:pathLst>
          </a:custGeom>
          <a:noFill/>
          <a:ln w="9525">
            <a:solidFill>
              <a:srgbClr val="27D8FF">
                <a:alpha val="45000"/>
              </a:srgbClr>
            </a:solidFill>
          </a:ln>
        </p:spPr>
      </p:sp>
      <p:sp>
        <p:nvSpPr>
          <p:cNvPr id="75" name="TextBox 75"/>
          <p:cNvSpPr txBox="1"/>
          <p:nvPr/>
        </p:nvSpPr>
        <p:spPr>
          <a:xfrm>
            <a:off x="521970" y="731520"/>
            <a:ext cx="7937144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EAF7FF"/>
                </a:solidFill>
                <a:latin typeface="Arial"/>
                <a:ea typeface="Microsoft YaHei"/>
                <a:cs typeface="Arial"/>
              </a:rPr>
              <a:t>Terminal close: farm intelligence loop online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554355" y="1511618"/>
            <a:ext cx="1018841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8CB5CC"/>
                </a:solidFill>
                <a:latin typeface="Arial"/>
                <a:ea typeface="Microsoft YaHei"/>
                <a:cs typeface="Arial"/>
              </a:rPr>
              <a:t>The system enters managed production with live telemetry, bounded autonomy, and reviewable decisions.</a:t>
            </a:r>
          </a:p>
        </p:txBody>
      </p:sp>
      <p:sp>
        <p:nvSpPr>
          <p:cNvPr id="77" name="Rectangle 77"/>
          <p:cNvSpPr/>
          <p:nvPr/>
        </p:nvSpPr>
        <p:spPr>
          <a:xfrm>
            <a:off x="1143000" y="2095500"/>
            <a:ext cx="9906000" cy="3714750"/>
          </a:xfrm>
          <a:prstGeom prst="roundRect">
            <a:avLst>
              <a:gd name="adj" fmla="val 4615"/>
            </a:avLst>
          </a:prstGeom>
          <a:solidFill>
            <a:srgbClr val="02070D"/>
          </a:solidFill>
          <a:ln w="19050">
            <a:solidFill>
              <a:srgbClr val="27D8FF"/>
            </a:solidFill>
          </a:ln>
        </p:spPr>
      </p:sp>
      <p:sp>
        <p:nvSpPr>
          <p:cNvPr id="78" name="Ellipse 78"/>
          <p:cNvSpPr/>
          <p:nvPr/>
        </p:nvSpPr>
        <p:spPr>
          <a:xfrm>
            <a:off x="1371600" y="2286000"/>
            <a:ext cx="114300" cy="114300"/>
          </a:xfrm>
          <a:prstGeom prst="ellipse">
            <a:avLst/>
          </a:prstGeom>
          <a:solidFill>
            <a:srgbClr val="FF5B6E"/>
          </a:solidFill>
          <a:ln>
            <a:noFill/>
          </a:ln>
        </p:spPr>
      </p:sp>
      <p:sp>
        <p:nvSpPr>
          <p:cNvPr id="79" name="Ellipse 79"/>
          <p:cNvSpPr/>
          <p:nvPr/>
        </p:nvSpPr>
        <p:spPr>
          <a:xfrm>
            <a:off x="1600200" y="2286000"/>
            <a:ext cx="114300" cy="114300"/>
          </a:xfrm>
          <a:prstGeom prst="ellipse">
            <a:avLst/>
          </a:prstGeom>
          <a:solidFill>
            <a:srgbClr val="FFB84D"/>
          </a:solidFill>
          <a:ln>
            <a:noFill/>
          </a:ln>
        </p:spPr>
      </p:sp>
      <p:sp>
        <p:nvSpPr>
          <p:cNvPr id="80" name="Ellipse 80"/>
          <p:cNvSpPr/>
          <p:nvPr/>
        </p:nvSpPr>
        <p:spPr>
          <a:xfrm>
            <a:off x="1828800" y="2286000"/>
            <a:ext cx="114300" cy="114300"/>
          </a:xfrm>
          <a:prstGeom prst="ellipse">
            <a:avLst/>
          </a:prstGeom>
          <a:solidFill>
            <a:srgbClr val="62E58F"/>
          </a:solidFill>
          <a:ln>
            <a:noFill/>
          </a:ln>
        </p:spPr>
      </p:sp>
      <p:sp>
        <p:nvSpPr>
          <p:cNvPr id="81" name="TextBox 81"/>
          <p:cNvSpPr txBox="1"/>
          <p:nvPr/>
        </p:nvSpPr>
        <p:spPr>
          <a:xfrm>
            <a:off x="1407795" y="2727008"/>
            <a:ext cx="6668929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27D8FF"/>
                </a:solidFill>
                <a:latin typeface="Consolas"/>
                <a:ea typeface="Microsoft YaHei"/>
                <a:cs typeface="Consolas"/>
              </a:rPr>
              <a:t>$ agri-ai-os deploy --farm network --autonomy bounded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1407795" y="3203258"/>
            <a:ext cx="3090339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62E58F"/>
                </a:solidFill>
                <a:latin typeface="Consolas"/>
                <a:ea typeface="Microsoft YaHei"/>
                <a:cs typeface="Consolas"/>
              </a:rPr>
              <a:t>✓ telemetry stream online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1407795" y="3679508"/>
            <a:ext cx="2740914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62E58F"/>
                </a:solidFill>
                <a:latin typeface="Consolas"/>
                <a:ea typeface="Microsoft YaHei"/>
                <a:cs typeface="Consolas"/>
              </a:rPr>
              <a:t>✓ decision policy loaded</a:t>
            </a:r>
          </a:p>
        </p:txBody>
      </p:sp>
      <p:sp>
        <p:nvSpPr>
          <p:cNvPr id="84" name="TextBox 84"/>
          <p:cNvSpPr txBox="1"/>
          <p:nvPr/>
        </p:nvSpPr>
        <p:spPr>
          <a:xfrm>
            <a:off x="1407795" y="4155758"/>
            <a:ext cx="3933777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62E58F"/>
                </a:solidFill>
                <a:latin typeface="Consolas"/>
                <a:ea typeface="Microsoft YaHei"/>
                <a:cs typeface="Consolas"/>
              </a:rPr>
              <a:t>✓ agronomist review queue armed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1407795" y="4632008"/>
            <a:ext cx="4716971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7BE8FF"/>
                </a:solidFill>
                <a:latin typeface="Consolas"/>
                <a:ea typeface="Microsoft YaHei"/>
                <a:cs typeface="Consolas"/>
              </a:rPr>
              <a:t>STATUS: FARM INTELLIGENCE LOOP ONLINE</a:t>
            </a:r>
          </a:p>
        </p:txBody>
      </p:sp>
      <p:sp>
        <p:nvSpPr>
          <p:cNvPr id="86" name="TextBox 86"/>
          <p:cNvSpPr txBox="1"/>
          <p:nvPr/>
        </p:nvSpPr>
        <p:spPr>
          <a:xfrm>
            <a:off x="1411605" y="5140642"/>
            <a:ext cx="579158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8CB5CC"/>
                </a:solidFill>
                <a:latin typeface="Consolas"/>
                <a:ea typeface="Microsoft YaHei"/>
                <a:cs typeface="Consolas"/>
              </a:rPr>
              <a:t>next_tick: sense → infer → decide → review → execute → learn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