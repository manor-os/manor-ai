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Opening premise: this deck is for leadership teams choosing a governed operating model for AI work.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supplied the title, audience, communication job, visual direction, and six-slide structure. No external source URLs were provided.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Use this slide to move the discussion from abstract AI enthusiasm to a concrete operating-model decision.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supplied the communication job. Claims are executive framing guidance, not sourced factual claims.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comparison is intentionally concise. Scores are illustrative and should be adapted to an organization’s risk profile and delivery context.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required a comparison matrix of three operating models. Illustrative scores are labeled on-slide and are not benchmark data.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checkpoints are a governance design pattern for accountable AI work: intake, design, validation, release, and monitoring.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required governance checkpoints. No external source URLs were provided.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Recommendation: accountable hybrid. The rationale is that AI work scales best when business ownership, shared standards, and risk-based checkpoints reinforce one another.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requested a recommendation with rationale. This is presentation guidance, not an externally sourced claim.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Close by moving the leadership team to a concrete pilot charter. The 30-day timeline is illustrative and labeled as such.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User prompt requested a decisive next-step close. The timeline is illustrative and not benchmark data.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914400" y="8382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9525">
            <a:solidFill>
              <a:srgbClr val="D8CFC2"/>
            </a:solidFill>
          </a:ln>
        </p:spPr>
      </p:sp>
      <p:sp>
        <p:nvSpPr>
          <p:cNvPr id="4" name="Line 4"/>
          <p:cNvSpPr/>
          <p:nvPr/>
        </p:nvSpPr>
        <p:spPr>
          <a:xfrm>
            <a:off x="914400" y="60198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9525">
            <a:solidFill>
              <a:srgbClr val="D8CFC2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914400" y="1104900"/>
            <a:ext cx="114300" cy="3314700"/>
          </a:xfrm>
          <a:prstGeom prst="rect">
            <a:avLst/>
          </a:prstGeom>
          <a:solidFill>
            <a:srgbClr val="E3422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02055" y="1187768"/>
            <a:ext cx="30016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3422E"/>
                </a:solidFill>
                <a:latin typeface="Arial"/>
                <a:ea typeface="Microsoft YaHei"/>
                <a:cs typeface="Arial"/>
              </a:rPr>
              <a:t>MANOR AI · EXECUTIVE TEMPLATE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0145" y="1841182"/>
            <a:ext cx="6642875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THE EXECUTIVE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0145" y="2546032"/>
            <a:ext cx="6108059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FOR ACCOUNTABLE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0145" y="3250882"/>
            <a:ext cx="2792194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AI 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6340" y="4453890"/>
            <a:ext cx="763009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A leadership deck for choosing a governed operating model.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10500" y="1543050"/>
            <a:ext cx="2857500" cy="2857500"/>
            <a:chOff x="7810500" y="1543050"/>
            <a:chExt cx="2857500" cy="2857500"/>
          </a:xfrm>
        </p:grpSpPr>
        <p:sp>
          <p:nvSpPr>
            <p:cNvPr id="11" name="Rectangle 11"/>
            <p:cNvSpPr/>
            <p:nvPr/>
          </p:nvSpPr>
          <p:spPr>
            <a:xfrm>
              <a:off x="7810500" y="1543050"/>
              <a:ext cx="2857500" cy="2857500"/>
            </a:xfrm>
            <a:prstGeom prst="roundRect">
              <a:avLst>
                <a:gd name="adj" fmla="val 50000"/>
              </a:avLst>
            </a:prstGeom>
            <a:solidFill>
              <a:srgbClr val="FBF7EF"/>
            </a:solidFill>
            <a:ln w="9525">
              <a:solidFill>
                <a:srgbClr val="D8CFC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534400" y="2343150"/>
              <a:ext cx="1409700" cy="1352550"/>
            </a:xfrm>
            <a:custGeom>
              <a:avLst/>
              <a:gdLst/>
              <a:ahLst/>
              <a:cxnLst/>
              <a:rect l="l" t="t" r="r" b="b"/>
              <a:pathLst>
                <a:path w="1409700" h="1352550">
                  <a:moveTo>
                    <a:pt x="0" y="762000"/>
                  </a:moveTo>
                  <a:cubicBezTo>
                    <a:pt x="400050" y="0"/>
                    <a:pt x="1085850" y="0"/>
                    <a:pt x="1409700" y="628650"/>
                  </a:cubicBezTo>
                  <a:cubicBezTo>
                    <a:pt x="1162050" y="1333500"/>
                    <a:pt x="381000" y="1352550"/>
                    <a:pt x="0" y="762000"/>
                  </a:cubicBezTo>
                  <a:close/>
                </a:path>
              </a:pathLst>
            </a:custGeom>
            <a:noFill/>
            <a:ln w="47625">
              <a:solidFill>
                <a:srgbClr val="E3422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839200" y="2571750"/>
              <a:ext cx="800100" cy="800100"/>
            </a:xfrm>
            <a:prstGeom prst="ellipse">
              <a:avLst/>
            </a:prstGeom>
            <a:solidFill>
              <a:srgbClr val="F6D6CF"/>
            </a:solidFill>
            <a:ln w="28575">
              <a:solidFill>
                <a:srgbClr val="E3422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239250" y="20955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24211D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239250" y="34480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24211D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62950" y="29718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24211D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715500" y="29718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24211D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00112" y="6222206"/>
            <a:ext cx="36268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Public template gallery · editable PowerPoint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9862" y="6222206"/>
            <a:ext cx="5379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0112" y="697706"/>
            <a:ext cx="1375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3422E"/>
                </a:solidFill>
                <a:latin typeface="Arial"/>
                <a:ea typeface="Microsoft YaHei"/>
                <a:cs typeface="Arial"/>
              </a:rPr>
              <a:t>DECISION FRAMING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4395" y="1041083"/>
            <a:ext cx="725345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The choice is not “AI or no AI.”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4395" y="1526858"/>
            <a:ext cx="821957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It is how accountable work scales.</a:t>
            </a:r>
          </a:p>
        </p:txBody>
      </p:sp>
      <p:sp>
        <p:nvSpPr>
          <p:cNvPr id="6" name="Line 6"/>
          <p:cNvSpPr/>
          <p:nvPr/>
        </p:nvSpPr>
        <p:spPr>
          <a:xfrm>
            <a:off x="914400" y="22479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9525">
            <a:solidFill>
              <a:srgbClr val="D8CFC2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914400" y="2724150"/>
            <a:ext cx="3397758" cy="2362200"/>
            <a:chOff x="914400" y="2724150"/>
            <a:chExt cx="3397758" cy="2362200"/>
          </a:xfrm>
        </p:grpSpPr>
        <p:sp>
          <p:nvSpPr>
            <p:cNvPr id="7" name="Rectangle 7"/>
            <p:cNvSpPr/>
            <p:nvPr/>
          </p:nvSpPr>
          <p:spPr>
            <a:xfrm>
              <a:off x="914400" y="2724150"/>
              <a:ext cx="3048000" cy="2362200"/>
            </a:xfrm>
            <a:prstGeom prst="rect">
              <a:avLst/>
            </a:prstGeom>
            <a:solidFill>
              <a:srgbClr val="FBF7EF"/>
            </a:solidFill>
            <a:ln w="9525">
              <a:solidFill>
                <a:srgbClr val="D8CFC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104900" y="2952750"/>
              <a:ext cx="342900" cy="342900"/>
            </a:xfrm>
            <a:prstGeom prst="ellipse">
              <a:avLst/>
            </a:prstGeom>
            <a:solidFill>
              <a:srgbClr val="E342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0150" y="30289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F7E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0625" y="3433762"/>
              <a:ext cx="16270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Who owns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0625" y="3776662"/>
              <a:ext cx="23171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the outcome?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2055" y="4331018"/>
              <a:ext cx="2755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Accountability must sit with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2055" y="4578668"/>
              <a:ext cx="3110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the business, not only the tool.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2724150"/>
            <a:ext cx="3348466" cy="2362200"/>
            <a:chOff x="4572000" y="2724150"/>
            <a:chExt cx="3348466" cy="2362200"/>
          </a:xfrm>
        </p:grpSpPr>
        <p:sp>
          <p:nvSpPr>
            <p:cNvPr id="15" name="Rectangle 15"/>
            <p:cNvSpPr/>
            <p:nvPr/>
          </p:nvSpPr>
          <p:spPr>
            <a:xfrm>
              <a:off x="4572000" y="2724150"/>
              <a:ext cx="3048000" cy="2362200"/>
            </a:xfrm>
            <a:prstGeom prst="rect">
              <a:avLst/>
            </a:prstGeom>
            <a:solidFill>
              <a:srgbClr val="FBF7EF"/>
            </a:solidFill>
            <a:ln w="9525">
              <a:solidFill>
                <a:srgbClr val="D8CFC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762500" y="2952750"/>
              <a:ext cx="342900" cy="342900"/>
            </a:xfrm>
            <a:prstGeom prst="ellipse">
              <a:avLst/>
            </a:prstGeom>
            <a:solidFill>
              <a:srgbClr val="E3422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57750" y="30289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F7E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8225" y="3433762"/>
              <a:ext cx="174786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Where are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8225" y="3776662"/>
              <a:ext cx="18686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the gates?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9655" y="433101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Risk review belongs at moments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59655" y="45786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of commitment and release.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2724150"/>
            <a:ext cx="3309033" cy="2362200"/>
            <a:chOff x="8229600" y="2724150"/>
            <a:chExt cx="3309033" cy="2362200"/>
          </a:xfrm>
        </p:grpSpPr>
        <p:sp>
          <p:nvSpPr>
            <p:cNvPr id="23" name="Rectangle 23"/>
            <p:cNvSpPr/>
            <p:nvPr/>
          </p:nvSpPr>
          <p:spPr>
            <a:xfrm>
              <a:off x="8229600" y="2724150"/>
              <a:ext cx="3048000" cy="2362200"/>
            </a:xfrm>
            <a:prstGeom prst="rect">
              <a:avLst/>
            </a:prstGeom>
            <a:solidFill>
              <a:srgbClr val="FBF7EF"/>
            </a:solidFill>
            <a:ln w="9525">
              <a:solidFill>
                <a:srgbClr val="D8CFC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420100" y="2952750"/>
              <a:ext cx="342900" cy="342900"/>
            </a:xfrm>
            <a:prstGeom prst="ellipse">
              <a:avLst/>
            </a:prstGeom>
            <a:solidFill>
              <a:srgbClr val="E342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15350" y="30289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F7E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5825" y="3433762"/>
              <a:ext cx="22309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How fast can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5825" y="3776662"/>
              <a:ext cx="22309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teams learn?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7255" y="4331018"/>
              <a:ext cx="25876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Governance should improve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7255" y="4578668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judgment, not create theater.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0112" y="6222206"/>
            <a:ext cx="4579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Frame the operating model as a leadership design choice.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29862" y="62222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0112" y="678656"/>
            <a:ext cx="24110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3422E"/>
                </a:solidFill>
                <a:latin typeface="Arial"/>
                <a:ea typeface="Microsoft YaHei"/>
                <a:cs typeface="Arial"/>
              </a:rPr>
              <a:t>OPERATING MODEL COMPARISON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990600"/>
            <a:ext cx="1035848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Three models create different failure modes.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7255" y="1530668"/>
            <a:ext cx="76646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Scores are illustrative: 1 = weaker fit, 5 = stronger fit for accountable scale.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3429000"/>
          </a:xfrm>
          <a:prstGeom prst="rect">
            <a:avLst/>
          </a:prstGeom>
          <a:solidFill>
            <a:srgbClr val="FBF7EF"/>
          </a:solidFill>
          <a:ln w="9525">
            <a:solidFill>
              <a:srgbClr val="D8CFC2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14400" y="2095500"/>
            <a:ext cx="10363200" cy="552450"/>
          </a:xfrm>
          <a:prstGeom prst="rect">
            <a:avLst/>
          </a:prstGeom>
          <a:solidFill>
            <a:srgbClr val="24211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4910" y="2308860"/>
            <a:ext cx="6101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32810" y="2308860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SPEED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94910" y="2308860"/>
            <a:ext cx="8125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CONTROL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5610" y="2308860"/>
            <a:ext cx="867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ADOPTION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71560" y="2308860"/>
            <a:ext cx="932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BEST WHEN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14400" y="2095500"/>
            <a:ext cx="10363200" cy="3429000"/>
            <a:chOff x="914400" y="2095500"/>
            <a:chExt cx="10363200" cy="3429000"/>
          </a:xfrm>
        </p:grpSpPr>
        <p:sp>
          <p:nvSpPr>
            <p:cNvPr id="13" name="Line 13"/>
            <p:cNvSpPr/>
            <p:nvPr/>
          </p:nvSpPr>
          <p:spPr>
            <a:xfrm>
              <a:off x="914400" y="32194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14400" y="43624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05150" y="2095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686300" y="2095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477000" y="2095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382000" y="2095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77290" y="2796540"/>
            <a:ext cx="157771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Centralized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7290" y="3920490"/>
            <a:ext cx="14120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Federated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7290" y="5063490"/>
            <a:ext cx="2571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Accountable hybrid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93770" y="2731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7514A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13020" y="2731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3422E"/>
                </a:solidFill>
                <a:latin typeface="Georgia"/>
                <a:ea typeface="SimSun"/>
                <a:cs typeface="Georgia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03720" y="2731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7514A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89658" y="2757964"/>
            <a:ext cx="209004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High-risk domains need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89658" y="2986564"/>
            <a:ext cx="19317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tight expert review.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93770" y="3874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3422E"/>
                </a:solidFill>
                <a:latin typeface="Georgia"/>
                <a:ea typeface="SimSun"/>
                <a:cs typeface="Georgia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13020" y="3874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7514A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03720" y="3874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7514A"/>
                </a:solidFill>
                <a:latin typeface="Georgia"/>
                <a:ea typeface="SimSun"/>
                <a:cs typeface="Georgia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89658" y="3900964"/>
            <a:ext cx="21552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Many teams experiment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89658" y="4129564"/>
            <a:ext cx="2211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inside clear boundaries.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93770" y="5017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3422E"/>
                </a:solidFill>
                <a:latin typeface="Georgia"/>
                <a:ea typeface="SimSun"/>
                <a:cs typeface="Georgia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13020" y="5017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3422E"/>
                </a:solidFill>
                <a:latin typeface="Georgia"/>
                <a:ea typeface="SimSun"/>
                <a:cs typeface="Georgia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3720" y="50177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3422E"/>
                </a:solidFill>
                <a:latin typeface="Georgia"/>
                <a:ea typeface="SimSun"/>
                <a:cs typeface="Georgia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89658" y="5043964"/>
            <a:ext cx="23414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Business ownership needs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9658" y="5272564"/>
            <a:ext cx="18293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shared governance.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05150" y="4362450"/>
            <a:ext cx="5276850" cy="1162050"/>
          </a:xfrm>
          <a:prstGeom prst="rect">
            <a:avLst/>
          </a:prstGeom>
          <a:noFill/>
          <a:ln w="28575">
            <a:solidFill>
              <a:srgbClr val="E3422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00112" y="6222206"/>
            <a:ext cx="54096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Illustrative scoring for executive discussion, not benchmark data.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29862" y="62222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0112" y="6786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3422E"/>
                </a:solidFill>
                <a:latin typeface="Arial"/>
                <a:ea typeface="Microsoft YaHei"/>
                <a:cs typeface="Arial"/>
              </a:rPr>
              <a:t>GOVERNANCE CHECKPOINTS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4395" y="1012508"/>
            <a:ext cx="1189083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Governance works when gates match commitment.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6302" y="1598771"/>
            <a:ext cx="793439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Use checkpoints to make accountable decisions visible before risk compounds.</a:t>
            </a:r>
          </a:p>
        </p:txBody>
      </p:sp>
      <p:sp>
        <p:nvSpPr>
          <p:cNvPr id="6" name="Line 6"/>
          <p:cNvSpPr/>
          <p:nvPr/>
        </p:nvSpPr>
        <p:spPr>
          <a:xfrm>
            <a:off x="1619250" y="360045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D8CFC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889635" y="3200400"/>
            <a:ext cx="1642396" cy="1826419"/>
            <a:chOff x="889635" y="3200400"/>
            <a:chExt cx="1642396" cy="1826419"/>
          </a:xfrm>
        </p:grpSpPr>
        <p:sp>
          <p:nvSpPr>
            <p:cNvPr id="7" name="Ellipse 7"/>
            <p:cNvSpPr/>
            <p:nvPr/>
          </p:nvSpPr>
          <p:spPr>
            <a:xfrm>
              <a:off x="1219200" y="3200400"/>
              <a:ext cx="800100" cy="800100"/>
            </a:xfrm>
            <a:prstGeom prst="ellipse">
              <a:avLst/>
            </a:prstGeom>
            <a:solidFill>
              <a:srgbClr val="FBF7EF"/>
            </a:solidFill>
            <a:ln w="38100">
              <a:solidFill>
                <a:srgbClr val="E3422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40180" y="346900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3422E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635" y="4151948"/>
              <a:ext cx="961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Intake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8208" y="4548664"/>
              <a:ext cx="16338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Classify purpose,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8208" y="4767739"/>
              <a:ext cx="161520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data, and owner.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75635" y="3200400"/>
            <a:ext cx="1688950" cy="1826419"/>
            <a:chOff x="3175635" y="3200400"/>
            <a:chExt cx="1688950" cy="1826419"/>
          </a:xfrm>
        </p:grpSpPr>
        <p:sp>
          <p:nvSpPr>
            <p:cNvPr id="13" name="Ellipse 13"/>
            <p:cNvSpPr/>
            <p:nvPr/>
          </p:nvSpPr>
          <p:spPr>
            <a:xfrm>
              <a:off x="3505200" y="3200400"/>
              <a:ext cx="800100" cy="800100"/>
            </a:xfrm>
            <a:prstGeom prst="ellipse">
              <a:avLst/>
            </a:prstGeom>
            <a:solidFill>
              <a:srgbClr val="FBF7EF"/>
            </a:solidFill>
            <a:ln w="38100">
              <a:solidFill>
                <a:srgbClr val="E3422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26180" y="34690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3422E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75635" y="4151948"/>
              <a:ext cx="961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Design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4208" y="4548664"/>
              <a:ext cx="16710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Confirm controls,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4208" y="4767739"/>
              <a:ext cx="1680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scope, and limits.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61635" y="3200400"/>
            <a:ext cx="1754124" cy="1826419"/>
            <a:chOff x="5461635" y="3200400"/>
            <a:chExt cx="1754124" cy="1826419"/>
          </a:xfrm>
        </p:grpSpPr>
        <p:sp>
          <p:nvSpPr>
            <p:cNvPr id="19" name="Ellipse 19"/>
            <p:cNvSpPr/>
            <p:nvPr/>
          </p:nvSpPr>
          <p:spPr>
            <a:xfrm>
              <a:off x="5791200" y="3200400"/>
              <a:ext cx="800100" cy="800100"/>
            </a:xfrm>
            <a:prstGeom prst="ellipse">
              <a:avLst/>
            </a:prstGeom>
            <a:solidFill>
              <a:srgbClr val="FBF7EF"/>
            </a:solidFill>
            <a:ln w="38100">
              <a:solidFill>
                <a:srgbClr val="E3422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2180" y="34690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3422E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61635" y="4151948"/>
              <a:ext cx="12157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Validate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70208" y="4548664"/>
              <a:ext cx="17455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Test quality, risk,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70208" y="4767739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and human review.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47635" y="3200400"/>
            <a:ext cx="2117241" cy="1826419"/>
            <a:chOff x="7747635" y="3200400"/>
            <a:chExt cx="2117241" cy="1826419"/>
          </a:xfrm>
        </p:grpSpPr>
        <p:sp>
          <p:nvSpPr>
            <p:cNvPr id="25" name="Ellipse 25"/>
            <p:cNvSpPr/>
            <p:nvPr/>
          </p:nvSpPr>
          <p:spPr>
            <a:xfrm>
              <a:off x="8077200" y="3200400"/>
              <a:ext cx="800100" cy="800100"/>
            </a:xfrm>
            <a:prstGeom prst="ellipse">
              <a:avLst/>
            </a:prstGeom>
            <a:solidFill>
              <a:srgbClr val="FBF7EF"/>
            </a:solidFill>
            <a:ln w="38100">
              <a:solidFill>
                <a:srgbClr val="E3422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8180" y="34690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3422E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7635" y="4151948"/>
              <a:ext cx="11260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Release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6208" y="4548664"/>
              <a:ext cx="145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Approve owner,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6208" y="4767739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training, and rollback.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33635" y="3200400"/>
            <a:ext cx="1847231" cy="1826419"/>
            <a:chOff x="10033635" y="3200400"/>
            <a:chExt cx="1847231" cy="1826419"/>
          </a:xfrm>
        </p:grpSpPr>
        <p:sp>
          <p:nvSpPr>
            <p:cNvPr id="31" name="Ellipse 31"/>
            <p:cNvSpPr/>
            <p:nvPr/>
          </p:nvSpPr>
          <p:spPr>
            <a:xfrm>
              <a:off x="10363200" y="3200400"/>
              <a:ext cx="800100" cy="800100"/>
            </a:xfrm>
            <a:prstGeom prst="ellipse">
              <a:avLst/>
            </a:prstGeom>
            <a:solidFill>
              <a:srgbClr val="FBF7EF"/>
            </a:solidFill>
            <a:ln w="38100">
              <a:solidFill>
                <a:srgbClr val="E3422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84180" y="34690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3422E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33635" y="4151948"/>
              <a:ext cx="118587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Monitor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42208" y="4548664"/>
              <a:ext cx="18386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Track drift, usage,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42208" y="4767739"/>
              <a:ext cx="13265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and incidents.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914400" y="5581650"/>
            <a:ext cx="10363200" cy="419100"/>
          </a:xfrm>
          <a:prstGeom prst="rect">
            <a:avLst/>
          </a:prstGeom>
          <a:solidFill>
            <a:srgbClr val="24211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44905" y="5702618"/>
            <a:ext cx="93504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Checkpoint discipline: fewer gates than compliance theater, more evidence than informal trust.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29862" y="62222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04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238625" cy="6858000"/>
          </a:xfrm>
          <a:prstGeom prst="rect">
            <a:avLst/>
          </a:prstGeom>
          <a:solidFill>
            <a:srgbClr val="24211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9612" y="716756"/>
            <a:ext cx="13841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6D6CF"/>
                </a:solidFill>
                <a:latin typeface="Arial"/>
                <a:ea typeface="Microsoft YaHei"/>
                <a:cs typeface="Arial"/>
              </a:rPr>
              <a:t>RECOMMENDATION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6275" y="1233488"/>
            <a:ext cx="279808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BF7EF"/>
                </a:solidFill>
                <a:latin typeface="Georgia"/>
                <a:ea typeface="SimSun"/>
                <a:cs typeface="Georgia"/>
              </a:rPr>
              <a:t>Choose 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275" y="1804988"/>
            <a:ext cx="3430667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BF7EF"/>
                </a:solidFill>
                <a:latin typeface="Georgia"/>
                <a:ea typeface="SimSun"/>
                <a:cs typeface="Georgia"/>
              </a:rPr>
              <a:t>accountable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6275" y="2376488"/>
            <a:ext cx="389072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BF7EF"/>
                </a:solidFill>
                <a:latin typeface="Georgia"/>
                <a:ea typeface="SimSun"/>
                <a:cs typeface="Georgia"/>
              </a:rPr>
              <a:t>hybrid model.</a:t>
            </a:r>
          </a:p>
        </p:txBody>
      </p:sp>
      <p:sp>
        <p:nvSpPr>
          <p:cNvPr id="8" name="Rectangle 8"/>
          <p:cNvSpPr/>
          <p:nvPr/>
        </p:nvSpPr>
        <p:spPr>
          <a:xfrm>
            <a:off x="723900" y="3257550"/>
            <a:ext cx="876300" cy="76200"/>
          </a:xfrm>
          <a:prstGeom prst="rect">
            <a:avLst/>
          </a:prstGeom>
          <a:solidFill>
            <a:srgbClr val="E3422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3898" y="3716179"/>
            <a:ext cx="220227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Central standards.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898" y="4020979"/>
            <a:ext cx="231729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Business ownership.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3898" y="4325779"/>
            <a:ext cx="207575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Risk-based gates.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825365" y="639128"/>
            <a:ext cx="6785896" cy="4104322"/>
            <a:chOff x="4825365" y="639128"/>
            <a:chExt cx="6785896" cy="4104322"/>
          </a:xfrm>
        </p:grpSpPr>
        <p:sp>
          <p:nvSpPr>
            <p:cNvPr id="12" name="TextBox 12"/>
            <p:cNvSpPr txBox="1"/>
            <p:nvPr/>
          </p:nvSpPr>
          <p:spPr>
            <a:xfrm>
              <a:off x="4825365" y="639128"/>
              <a:ext cx="55003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Why this is the executive fit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4857750" y="1581150"/>
              <a:ext cx="6753511" cy="876300"/>
              <a:chOff x="4857750" y="1581150"/>
              <a:chExt cx="6753511" cy="876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857750" y="1581150"/>
                <a:ext cx="5905500" cy="876300"/>
              </a:xfrm>
              <a:prstGeom prst="rect">
                <a:avLst/>
              </a:prstGeom>
              <a:solidFill>
                <a:srgbClr val="FBF7EF"/>
              </a:solidFill>
              <a:ln w="9525">
                <a:solidFill>
                  <a:srgbClr val="D8CFC2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5067300" y="1866900"/>
                <a:ext cx="304800" cy="304800"/>
              </a:xfrm>
              <a:prstGeom prst="ellipse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501640" y="1739265"/>
                <a:ext cx="455888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It keeps authority close to work.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508308" y="2072164"/>
                <a:ext cx="610295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7514A"/>
                    </a:solidFill>
                    <a:latin typeface="Arial"/>
                    <a:ea typeface="Microsoft YaHei"/>
                    <a:cs typeface="Arial"/>
                  </a:rPr>
                  <a:t>Leaders stay accountable for outcomes, adoption, and tradeoffs.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857750" y="2724150"/>
              <a:ext cx="6641783" cy="876300"/>
              <a:chOff x="4857750" y="2724150"/>
              <a:chExt cx="6641783" cy="8763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857750" y="2724150"/>
                <a:ext cx="5905500" cy="876300"/>
              </a:xfrm>
              <a:prstGeom prst="rect">
                <a:avLst/>
              </a:prstGeom>
              <a:solidFill>
                <a:srgbClr val="FBF7EF"/>
              </a:solidFill>
              <a:ln w="9525">
                <a:solidFill>
                  <a:srgbClr val="D8CFC2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5067300" y="3009900"/>
                <a:ext cx="304800" cy="304800"/>
              </a:xfrm>
              <a:prstGeom prst="ellipse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501640" y="2882265"/>
                <a:ext cx="513855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It uses governance where it matters.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508308" y="3215164"/>
                <a:ext cx="599122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7514A"/>
                    </a:solidFill>
                    <a:latin typeface="Arial"/>
                    <a:ea typeface="Microsoft YaHei"/>
                    <a:cs typeface="Arial"/>
                  </a:rPr>
                  <a:t>Common rules and checkpoints scale without central bottlenecks.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857750" y="3867150"/>
              <a:ext cx="6092452" cy="876300"/>
              <a:chOff x="4857750" y="3867150"/>
              <a:chExt cx="6092452" cy="8763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857750" y="3867150"/>
                <a:ext cx="5905500" cy="876300"/>
              </a:xfrm>
              <a:prstGeom prst="rect">
                <a:avLst/>
              </a:prstGeom>
              <a:solidFill>
                <a:srgbClr val="FBF7EF"/>
              </a:solidFill>
              <a:ln w="9525">
                <a:solidFill>
                  <a:srgbClr val="D8CFC2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067300" y="4152900"/>
                <a:ext cx="304800" cy="304800"/>
              </a:xfrm>
              <a:prstGeom prst="ellipse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01640" y="4025265"/>
                <a:ext cx="402061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It makes learning repeatable.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08308" y="4358164"/>
                <a:ext cx="54418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7514A"/>
                    </a:solidFill>
                    <a:latin typeface="Arial"/>
                    <a:ea typeface="Microsoft YaHei"/>
                    <a:cs typeface="Arial"/>
                  </a:rPr>
                  <a:t>Patterns, incidents, and controls become reusable assets.</a:t>
                </a:r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4840605" y="5950268"/>
            <a:ext cx="82758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Executive principle: distribute creation; centralize minimum standards and evidence.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29862" y="62222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05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0112" y="697706"/>
            <a:ext cx="8008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3422E"/>
                </a:solidFill>
                <a:latin typeface="Arial"/>
                <a:ea typeface="Microsoft YaHei"/>
                <a:cs typeface="Arial"/>
              </a:rPr>
              <a:t>NEXT STEP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2965" y="1086802"/>
            <a:ext cx="541308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Decide the model.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2965" y="1696402"/>
            <a:ext cx="10909621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Then prove it on one real workflow.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743200"/>
            <a:ext cx="10363200" cy="2190750"/>
          </a:xfrm>
          <a:prstGeom prst="rect">
            <a:avLst/>
          </a:prstGeom>
          <a:solidFill>
            <a:srgbClr val="FBF7EF"/>
          </a:solidFill>
          <a:ln w="9525">
            <a:solidFill>
              <a:srgbClr val="D8CFC2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1266825" y="2938462"/>
            <a:ext cx="10565511" cy="1766888"/>
            <a:chOff x="1266825" y="2938462"/>
            <a:chExt cx="10565511" cy="1766888"/>
          </a:xfrm>
        </p:grpSpPr>
        <p:sp>
          <p:nvSpPr>
            <p:cNvPr id="7" name="TextBox 7"/>
            <p:cNvSpPr txBox="1"/>
            <p:nvPr/>
          </p:nvSpPr>
          <p:spPr>
            <a:xfrm>
              <a:off x="1266825" y="2938462"/>
              <a:ext cx="35075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4211D"/>
                  </a:solidFill>
                  <a:latin typeface="Georgia"/>
                  <a:ea typeface="SimSun"/>
                  <a:cs typeface="Georgia"/>
                </a:rPr>
                <a:t>30-day pilot charter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8255" y="3435668"/>
              <a:ext cx="44705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14A"/>
                  </a:solidFill>
                  <a:latin typeface="Arial"/>
                  <a:ea typeface="Microsoft YaHei"/>
                  <a:cs typeface="Arial"/>
                </a:rPr>
                <a:t>Illustrative timeline for leadership alignment.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95400" y="39243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D8CFC2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95400" y="4038600"/>
              <a:ext cx="4298632" cy="666750"/>
              <a:chOff x="1295400" y="4038600"/>
              <a:chExt cx="4298632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295400" y="4038600"/>
                <a:ext cx="114300" cy="552450"/>
              </a:xfrm>
              <a:prstGeom prst="rect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46860" y="4118610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3422E"/>
                    </a:solidFill>
                    <a:latin typeface="Arial"/>
                    <a:ea typeface="Microsoft YaHei"/>
                    <a:cs typeface="Arial"/>
                  </a:rPr>
                  <a:t>WEEK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39240" y="4339590"/>
                <a:ext cx="405479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Name owners + select workflow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438650" y="4038600"/>
              <a:ext cx="4811268" cy="666750"/>
              <a:chOff x="4438650" y="4038600"/>
              <a:chExt cx="4811268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38650" y="4038600"/>
                <a:ext cx="114300" cy="552450"/>
              </a:xfrm>
              <a:prstGeom prst="rect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90110" y="4118610"/>
                <a:ext cx="9321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3422E"/>
                    </a:solidFill>
                    <a:latin typeface="Arial"/>
                    <a:ea typeface="Microsoft YaHei"/>
                    <a:cs typeface="Arial"/>
                  </a:rPr>
                  <a:t>WEEKS 2–3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82490" y="4339590"/>
                <a:ext cx="456742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Run checkpoints + capture evidence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020050" y="4038600"/>
              <a:ext cx="3812286" cy="666750"/>
              <a:chOff x="8020050" y="4038600"/>
              <a:chExt cx="3812286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020050" y="4038600"/>
                <a:ext cx="114300" cy="552450"/>
              </a:xfrm>
              <a:prstGeom prst="rect">
                <a:avLst/>
              </a:prstGeom>
              <a:solidFill>
                <a:srgbClr val="E3422E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271510" y="4118610"/>
                <a:ext cx="6285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3422E"/>
                    </a:solidFill>
                    <a:latin typeface="Arial"/>
                    <a:ea typeface="Microsoft YaHei"/>
                    <a:cs typeface="Arial"/>
                  </a:rPr>
                  <a:t>WEEK 4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63890" y="4339590"/>
                <a:ext cx="35684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4211D"/>
                    </a:solidFill>
                    <a:latin typeface="Georgia"/>
                    <a:ea typeface="SimSun"/>
                    <a:cs typeface="Georgia"/>
                  </a:rPr>
                  <a:t>Decide scale / stop / revise</a:t>
                </a:r>
              </a:p>
            </p:txBody>
          </p:sp>
        </p:grpSp>
      </p:grpSp>
      <p:sp>
        <p:nvSpPr>
          <p:cNvPr id="23" name="Rectangle 23"/>
          <p:cNvSpPr/>
          <p:nvPr/>
        </p:nvSpPr>
        <p:spPr>
          <a:xfrm>
            <a:off x="914400" y="5391150"/>
            <a:ext cx="4400550" cy="533400"/>
          </a:xfrm>
          <a:prstGeom prst="rect">
            <a:avLst/>
          </a:prstGeom>
          <a:solidFill>
            <a:srgbClr val="E3422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80148" y="5573554"/>
            <a:ext cx="599372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BF7EF"/>
                </a:solidFill>
                <a:latin typeface="Arial"/>
                <a:ea typeface="Microsoft YaHei"/>
                <a:cs typeface="Arial"/>
              </a:rPr>
              <a:t>Adopt the model through evidence, not aspiration.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0835" y="5523548"/>
            <a:ext cx="637203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i="1" dirty="0">
                <a:solidFill>
                  <a:srgbClr val="24211D"/>
                </a:solidFill>
                <a:latin typeface="Georgia"/>
                <a:ea typeface="SimSun"/>
                <a:cs typeface="Georgia"/>
              </a:rPr>
              <a:t>Accountable AI work is a management system.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29862" y="6222206"/>
            <a:ext cx="579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7514A"/>
                </a:solidFill>
                <a:latin typeface="Arial"/>
                <a:ea typeface="Microsoft YaHei"/>
                <a:cs typeface="Arial"/>
              </a:rPr>
              <a:t>06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