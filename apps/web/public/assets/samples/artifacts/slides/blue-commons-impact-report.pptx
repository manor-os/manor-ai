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2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5da8eadda2446f4" /><Relationship Type="http://schemas.openxmlformats.org/officeDocument/2006/relationships/extended-properties" Target="/docProps/app.xml" Id="R1c3ca9e63bec47bc" /><Relationship Type="http://schemas.openxmlformats.org/officeDocument/2006/relationships/officeDocument" Target="/ppt/presentation.xml" Id="R6ca244c7b3a44d6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9ecd68898f74113"/>
  </p:sldMasterIdLst>
  <p:notesMasterIdLst>
    <p:notesMasterId xmlns:r="http://schemas.openxmlformats.org/officeDocument/2006/relationships" r:id="R2bcdb70be7de4258"/>
  </p:notesMasterIdLst>
  <p:sldIdLst>
    <p:sldId xmlns:r="http://schemas.openxmlformats.org/officeDocument/2006/relationships" id="256" r:id="R21a3958a935b466c"/>
    <p:sldId xmlns:r="http://schemas.openxmlformats.org/officeDocument/2006/relationships" id="257" r:id="R053170eb6c1f4981"/>
    <p:sldId xmlns:r="http://schemas.openxmlformats.org/officeDocument/2006/relationships" id="258" r:id="Ra28751b3af474be2"/>
    <p:sldId xmlns:r="http://schemas.openxmlformats.org/officeDocument/2006/relationships" id="259" r:id="R413ed0c7bdac469a"/>
    <p:sldId xmlns:r="http://schemas.openxmlformats.org/officeDocument/2006/relationships" id="260" r:id="R108ee03e848f444b"/>
    <p:sldId xmlns:r="http://schemas.openxmlformats.org/officeDocument/2006/relationships" id="261" r:id="R2d6df91afa0b4299"/>
    <p:sldId xmlns:r="http://schemas.openxmlformats.org/officeDocument/2006/relationships" id="262" r:id="Rddf6e157aaf542a7"/>
    <p:sldId xmlns:r="http://schemas.openxmlformats.org/officeDocument/2006/relationships" id="263" r:id="R45ef05faba6f429e"/>
    <p:sldId xmlns:r="http://schemas.openxmlformats.org/officeDocument/2006/relationships" id="264" r:id="Rbccde657f6bb4f17"/>
    <p:sldId xmlns:r="http://schemas.openxmlformats.org/officeDocument/2006/relationships" id="265" r:id="R3939aceba2ef46b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7f35a81452c4d20" /><Relationship Type="http://schemas.openxmlformats.org/officeDocument/2006/relationships/slideMaster" Target="/ppt/slideMasters/slideMaster1.xml" Id="R69ecd68898f74113" /><Relationship Type="http://schemas.openxmlformats.org/officeDocument/2006/relationships/notesMaster" Target="/ppt/notesMasters/notesMaster1.xml" Id="R2bcdb70be7de4258" /><Relationship Type="http://schemas.openxmlformats.org/officeDocument/2006/relationships/presProps" Target="/ppt/presProps.xml" Id="R6f8a5871e0c148ff" /><Relationship Type="http://schemas.openxmlformats.org/officeDocument/2006/relationships/tableStyles" Target="/ppt/tableStyles.xml" Id="R3f2e424fe1594e95" /><Relationship Type="http://schemas.openxmlformats.org/officeDocument/2006/relationships/slide" Target="/ppt/slides/slide1.xml" Id="R21a3958a935b466c" /><Relationship Type="http://schemas.openxmlformats.org/officeDocument/2006/relationships/slide" Target="/ppt/slides/slide2.xml" Id="R053170eb6c1f4981" /><Relationship Type="http://schemas.openxmlformats.org/officeDocument/2006/relationships/slide" Target="/ppt/slides/slide3.xml" Id="Ra28751b3af474be2" /><Relationship Type="http://schemas.openxmlformats.org/officeDocument/2006/relationships/slide" Target="/ppt/slides/slide4.xml" Id="R413ed0c7bdac469a" /><Relationship Type="http://schemas.openxmlformats.org/officeDocument/2006/relationships/slide" Target="/ppt/slides/slide5.xml" Id="R108ee03e848f444b" /><Relationship Type="http://schemas.openxmlformats.org/officeDocument/2006/relationships/slide" Target="/ppt/slides/slide6.xml" Id="R2d6df91afa0b4299" /><Relationship Type="http://schemas.openxmlformats.org/officeDocument/2006/relationships/slide" Target="/ppt/slides/slide7.xml" Id="Rddf6e157aaf542a7" /><Relationship Type="http://schemas.openxmlformats.org/officeDocument/2006/relationships/slide" Target="/ppt/slides/slide8.xml" Id="R45ef05faba6f429e" /><Relationship Type="http://schemas.openxmlformats.org/officeDocument/2006/relationships/slide" Target="/ppt/slides/slide9.xml" Id="Rbccde657f6bb4f17" /><Relationship Type="http://schemas.openxmlformats.org/officeDocument/2006/relationships/slide" Target="/ppt/slides/slide10.xml" Id="R3939aceba2ef46b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28c6ee092fe41c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47584044eff42ce" /><Relationship Type="http://schemas.openxmlformats.org/officeDocument/2006/relationships/notesMaster" Target="/ppt/notesMasters/notesMaster1.xml" Id="R6f6f50362979497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7fca2931dbf484c" /><Relationship Type="http://schemas.openxmlformats.org/officeDocument/2006/relationships/notesMaster" Target="/ppt/notesMasters/notesMaster1.xml" Id="R8ca14704c2554b9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17cf30d43f245b7" /><Relationship Type="http://schemas.openxmlformats.org/officeDocument/2006/relationships/notesMaster" Target="/ppt/notesMasters/notesMaster1.xml" Id="R614f9318a996485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80defe4a48d4564" /><Relationship Type="http://schemas.openxmlformats.org/officeDocument/2006/relationships/notesMaster" Target="/ppt/notesMasters/notesMaster1.xml" Id="R1a18fdf16c5247b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bd9c05199e94be9" /><Relationship Type="http://schemas.openxmlformats.org/officeDocument/2006/relationships/notesMaster" Target="/ppt/notesMasters/notesMaster1.xml" Id="R66e20fbb0d3d4a2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d91023bfde34aaf" /><Relationship Type="http://schemas.openxmlformats.org/officeDocument/2006/relationships/notesMaster" Target="/ppt/notesMasters/notesMaster1.xml" Id="R20d5a49b59e0493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67c17f97afa45d1" /><Relationship Type="http://schemas.openxmlformats.org/officeDocument/2006/relationships/notesMaster" Target="/ppt/notesMasters/notesMaster1.xml" Id="R8e82a745d3cf414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33563ced4834113" /><Relationship Type="http://schemas.openxmlformats.org/officeDocument/2006/relationships/notesMaster" Target="/ppt/notesMasters/notesMaster1.xml" Id="R161a0575341448d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da1e6f7bcec4350" /><Relationship Type="http://schemas.openxmlformats.org/officeDocument/2006/relationships/notesMaster" Target="/ppt/notesMasters/notesMaster1.xml" Id="R2788cf9a5521432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a20aaee6290492f" /><Relationship Type="http://schemas.openxmlformats.org/officeDocument/2006/relationships/notesMaster" Target="/ppt/notesMasters/notesMaster1.xml" Id="R9a7f173518c4457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Manor source deck: BLUE COMMONS — 2027 Ocean Impact Report.</a:t>
            </a:r>
          </a:p>
          <a:p xmlns:a="http://schemas.openxmlformats.org/drawingml/2006/main">
            <a:r>
              <a:t>- Coastal hero image reused from the source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Manor source deck: BLUE COMMONS — 2027 Ocean Impact Report.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Manor source deck: BLUE COMMONS — 2027 Ocean Impact Report.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Manor source deck: BLUE COMMONS — 2027 Ocean Impact Report.</a:t>
            </a:r>
          </a:p>
          <a:p xmlns:a="http://schemas.openxmlformats.org/drawingml/2006/main">
            <a:r>
              <a:t>- Fieldwork image and story retained from the source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Manor source deck: BLUE COMMONS — 2027 Ocean Impact Report.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Manor source deck: BLUE COMMONS — 2027 Ocean Impact Report.</a:t>
            </a:r>
          </a:p>
          <a:p xmlns:a="http://schemas.openxmlformats.org/drawingml/2006/main">
            <a:r>
              <a:t>- Water-quality image reused from the source deck; chart values retained from the source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Manor source deck: BLUE COMMONS — 2027 Ocean Impact Report.</a:t>
            </a:r>
          </a:p>
          <a:p xmlns:a="http://schemas.openxmlformats.org/drawingml/2006/main">
            <a:r>
              <a:t>- Harbor livelihoods image and fictional indicators retained from the source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Manor source deck: BLUE COMMONS — 2027 Ocean Impact Report.</a:t>
            </a:r>
          </a:p>
          <a:p xmlns:a="http://schemas.openxmlformats.org/drawingml/2006/main">
            <a:r>
              <a:t>- Funding allocation values retained from the source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Manor source deck: BLUE COMMONS — 2027 Ocean Impact Report.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Manor source deck: BLUE COMMONS — 2027 Ocean Impact Report.</a:t>
            </a:r>
          </a:p>
          <a:p xmlns:a="http://schemas.openxmlformats.org/drawingml/2006/main">
            <a:r>
              <a:t>- Restoration image and donor call-to-action retained from the source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32dc5c22434be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4994a40bc3e4711" /><Relationship Type="http://schemas.openxmlformats.org/officeDocument/2006/relationships/slideLayout" Target="/ppt/slideLayouts/slideLayout1.xml" Id="R3de54cfa06fe491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de54cfa06fe491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1dc1e137874513" /><Relationship Type="http://schemas.openxmlformats.org/officeDocument/2006/relationships/image" Target="/ppt/media/image.png" Id="Ra06b75b07c564c7d" /><Relationship Type="http://schemas.openxmlformats.org/officeDocument/2006/relationships/notesSlide" Target="/ppt/notesSlides/notesSlide1.xml" Id="R94b69ec248b6482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9105ca485b420f" /><Relationship Type="http://schemas.openxmlformats.org/officeDocument/2006/relationships/notesSlide" Target="/ppt/notesSlides/notesSlide2.xml" Id="R32d6044155dc478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79f78d1ff64911" /><Relationship Type="http://schemas.openxmlformats.org/officeDocument/2006/relationships/notesSlide" Target="/ppt/notesSlides/notesSlide3.xml" Id="R0db42e8349f3403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4b635af2ee4cb9" /><Relationship Type="http://schemas.openxmlformats.org/officeDocument/2006/relationships/image" Target="/ppt/media/image2.png" Id="Rdc425d6c4089420e" /><Relationship Type="http://schemas.openxmlformats.org/officeDocument/2006/relationships/notesSlide" Target="/ppt/notesSlides/notesSlide4.xml" Id="R4316c1c590424d6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360b28365b438e" /><Relationship Type="http://schemas.openxmlformats.org/officeDocument/2006/relationships/notesSlide" Target="/ppt/notesSlides/notesSlide5.xml" Id="R18ac4673d52f457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5ae71e3fa148c6" /><Relationship Type="http://schemas.openxmlformats.org/officeDocument/2006/relationships/image" Target="/ppt/media/image3.png" Id="R762a7ad106c944fd" /><Relationship Type="http://schemas.openxmlformats.org/officeDocument/2006/relationships/chart" Target="/ppt/slides/charts/chart1.xml" Id="Re3c83ed177b34888" /><Relationship Type="http://schemas.openxmlformats.org/officeDocument/2006/relationships/notesSlide" Target="/ppt/notesSlides/notesSlide6.xml" Id="Raa77d3526cd84f9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1f7019f2ce4030" /><Relationship Type="http://schemas.openxmlformats.org/officeDocument/2006/relationships/image" Target="/ppt/media/image4.png" Id="R3de517364c9643e5" /><Relationship Type="http://schemas.openxmlformats.org/officeDocument/2006/relationships/notesSlide" Target="/ppt/notesSlides/notesSlide7.xml" Id="R5e2f76947dda45b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802f51d0d84b0c" /><Relationship Type="http://schemas.openxmlformats.org/officeDocument/2006/relationships/chart" Target="/ppt/slides/charts/chart2.xml" Id="R7d0aa418fa564754" /><Relationship Type="http://schemas.openxmlformats.org/officeDocument/2006/relationships/notesSlide" Target="/ppt/notesSlides/notesSlide8.xml" Id="R2c238f93c75643a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cb201d3dd34079" /><Relationship Type="http://schemas.openxmlformats.org/officeDocument/2006/relationships/notesSlide" Target="/ppt/notesSlides/notesSlide9.xml" Id="R21296add1e964bc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5b8a0c021540ee" /><Relationship Type="http://schemas.openxmlformats.org/officeDocument/2006/relationships/image" Target="/ppt/media/image5.png" Id="Rca59a0bf36c5429f" /><Relationship Type="http://schemas.openxmlformats.org/officeDocument/2006/relationships/notesSlide" Target="/ppt/notesSlides/notesSlide10.xml" Id="R97bdbec1808b45be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Turbidity index</c:v>
          </c:tx>
          <c:spPr>
            <a:solidFill xmlns:a="http://schemas.openxmlformats.org/drawingml/2006/main">
              <a:srgbClr val="51AE9C"/>
            </a:solidFill>
          </c:spPr>
          <c:dPt>
            <c:idx val="3"/>
            <c:invertIfNegative val="0"/>
            <c:spPr>
              <a:solidFill xmlns:a="http://schemas.openxmlformats.org/drawingml/2006/main">
                <a:srgbClr val="F07C67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F07C67"/>
              </a:solidFill>
            </c:spPr>
          </c:dPt>
          <c:dPt>
            <c:idx val="5"/>
            <c:invertIfNegative val="0"/>
            <c:spPr>
              <a:solidFill xmlns:a="http://schemas.openxmlformats.org/drawingml/2006/main">
                <a:srgbClr val="F07C67"/>
              </a:solidFill>
            </c:spPr>
          </c:dPt>
          <c:cat>
            <c:strLit>
              <c:ptCount val="6"/>
              <c:pt idx="0">
                <c:v>Jan</c:v>
              </c:pt>
              <c:pt idx="1">
                <c:v>Mar</c:v>
              </c:pt>
              <c:pt idx="2">
                <c:v>May</c:v>
              </c:pt>
              <c:pt idx="3">
                <c:v>Jul</c:v>
              </c:pt>
              <c:pt idx="4">
                <c:v>Sep</c:v>
              </c:pt>
              <c:pt idx="5">
                <c:v>Nov</c:v>
              </c:pt>
            </c:strLit>
          </c:cat>
          <c:val>
            <c:numLit>
              <c:formatCode>General</c:formatCode>
              <c:ptCount val="6"/>
              <c:pt idx="0">
                <c:v>58</c:v>
              </c:pt>
              <c:pt idx="1">
                <c:v>44</c:v>
              </c:pt>
              <c:pt idx="2">
                <c:v>36</c:v>
              </c:pt>
              <c:pt idx="3">
                <c:v>24</c:v>
              </c:pt>
              <c:pt idx="4">
                <c:v>19</c:v>
              </c:pt>
              <c:pt idx="5">
                <c:v>16</c:v>
              </c:pt>
            </c:numLit>
          </c:val>
        </c:ser>
        <c:gapWidth val="54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CD8D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82B49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70"/>
          <c:min val="0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1F6F4"/>
        </a:solidFill>
      </c:spPr>
    </c:plotArea>
    <c:plotVisOnly val="1"/>
  </c:chart>
  <c:spPr>
    <a:solidFill xmlns:a="http://schemas.openxmlformats.org/drawingml/2006/main">
      <a:srgbClr val="F1F6F4"/>
    </a:solidFill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Share</c:v>
          </c:tx>
          <c:spPr>
            <a:solidFill xmlns:a="http://schemas.openxmlformats.org/drawingml/2006/main">
              <a:srgbClr val="51AE9C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F07C67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EBD9B4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082B49"/>
              </a:solidFill>
            </c:spPr>
          </c:dPt>
          <c:cat>
            <c:strLit>
              <c:ptCount val="5"/>
              <c:pt idx="0">
                <c:v>Field restoration</c:v>
              </c:pt>
              <c:pt idx="1">
                <c:v>Community stipends</c:v>
              </c:pt>
              <c:pt idx="2">
                <c:v>Monitoring lab</c:v>
              </c:pt>
              <c:pt idx="3">
                <c:v>Education</c:v>
              </c:pt>
              <c:pt idx="4">
                <c:v>Administration</c:v>
              </c:pt>
            </c:strLit>
          </c:cat>
          <c:val>
            <c:numLit>
              <c:formatCode>General</c:formatCode>
              <c:ptCount val="5"/>
              <c:pt idx="0">
                <c:v>42</c:v>
              </c:pt>
              <c:pt idx="1">
                <c:v>18</c:v>
              </c:pt>
              <c:pt idx="2">
                <c:v>16</c:v>
              </c:pt>
              <c:pt idx="3">
                <c:v>14</c:v>
              </c:pt>
              <c:pt idx="4">
                <c:v>10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0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4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2DEDE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82B49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1F6F4"/>
        </a:solidFill>
      </c:spPr>
    </c:plotArea>
    <c:plotVisOnly val="1"/>
  </c:chart>
  <c:spPr>
    <a:solidFill xmlns:a="http://schemas.openxmlformats.org/drawingml/2006/main">
      <a:srgbClr val="F1F6F4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2B4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6b75b07c564c7d"/>
          <a:srcRect xmlns:a="http://schemas.openxmlformats.org/drawingml/2006/main" l="17952" t="0" r="1795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1500" y="0"/>
            <a:ext cx="78105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D91B98-DDC9-4912-AAD1-29B20218C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6858000"/>
          </a:xfrm>
          <a:prstGeom xmlns:a="http://schemas.openxmlformats.org/drawingml/2006/main" prst="roundRect">
            <a:avLst>
              <a:gd name="adj" fmla="val 1538"/>
            </a:avLst>
          </a:prstGeom>
          <a:solidFill xmlns:a="http://schemas.openxmlformats.org/drawingml/2006/main">
            <a:srgbClr val="082B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616804-B8AE-4A80-AA48-AFD4F56C2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37147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4950" b="1" i="0">
                <a:solidFill>
                  <a:srgbClr val="F1E6CB"/>
                </a:solidFill>
                <a:latin typeface="Georgia"/>
                <a:ea typeface="Georgia"/>
                <a:cs typeface="Georgia"/>
              </a:defRPr>
            </a:pPr>
            <a:r>
              <a:rPr sz="4950" b="1" i="0">
                <a:solidFill>
                  <a:srgbClr val="F1E6CB"/>
                </a:solidFill>
                <a:latin typeface="Georgia"/>
                <a:ea typeface="Georgia"/>
                <a:cs typeface="Georgia"/>
              </a:rPr>
              <a:t>BLUE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4950" b="1" i="0">
                <a:solidFill>
                  <a:srgbClr val="F1E6CB"/>
                </a:solidFill>
                <a:latin typeface="Georgia"/>
                <a:ea typeface="Georgia"/>
                <a:cs typeface="Georgia"/>
              </a:defRPr>
            </a:pPr>
            <a:r>
              <a:rPr sz="4950" b="1" i="0">
                <a:solidFill>
                  <a:srgbClr val="F1E6CB"/>
                </a:solidFill>
                <a:latin typeface="Georgia"/>
                <a:ea typeface="Georgia"/>
                <a:cs typeface="Georgia"/>
              </a:rPr>
              <a:t>COMMONS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4815C9-852D-4BB7-B85F-F79874E0C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0"/>
            <a:ext cx="3714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000" b="0" i="0">
                <a:solidFill>
                  <a:srgbClr val="F1E6CB"/>
                </a:solidFill>
                <a:latin typeface="Georgia"/>
                <a:ea typeface="Georgia"/>
                <a:cs typeface="Georgia"/>
              </a:defRPr>
            </a:pPr>
            <a:r>
              <a:rPr sz="3000" b="0" i="0">
                <a:solidFill>
                  <a:srgbClr val="F1E6CB"/>
                </a:solidFill>
                <a:latin typeface="Georgia"/>
                <a:ea typeface="Georgia"/>
                <a:cs typeface="Georgia"/>
              </a:rPr>
              <a:t>2027 OCEAN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3000" b="0" i="0">
                <a:solidFill>
                  <a:srgbClr val="F1E6CB"/>
                </a:solidFill>
                <a:latin typeface="Georgia"/>
                <a:ea typeface="Georgia"/>
                <a:cs typeface="Georgia"/>
              </a:defRPr>
            </a:pPr>
            <a:r>
              <a:rPr sz="3000" b="0" i="0">
                <a:solidFill>
                  <a:srgbClr val="F1E6CB"/>
                </a:solidFill>
                <a:latin typeface="Georgia"/>
                <a:ea typeface="Georgia"/>
                <a:cs typeface="Georgia"/>
              </a:rPr>
              <a:t>IMPACT REPORT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9D280C-9B32-42C6-A3ED-4E69FCC0B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14750"/>
            <a:ext cx="1200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07C6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10C3BA-8D93-4F0C-8951-E6693F88B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14800"/>
            <a:ext cx="3429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75" b="0" i="0">
                <a:solidFill>
                  <a:srgbClr val="D6E0DF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D6E0DF"/>
                </a:solidFill>
                <a:latin typeface="Arial"/>
                <a:ea typeface="Arial"/>
                <a:cs typeface="Arial"/>
              </a:rPr>
              <a:t>Coastal restoration, field evidence, and transparent donor action.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E7E014-D33A-4B87-BC3F-861257A61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6265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F07C67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07C67"/>
                </a:solidFill>
                <a:latin typeface="Arial"/>
                <a:ea typeface="Arial"/>
                <a:cs typeface="Arial"/>
              </a:rPr>
              <a:t>FICTIONAL 2027 REPORT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B956BC-CFBF-4326-B090-1C8283158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 i="0">
                <a:solidFill>
                  <a:srgbClr val="F1E6C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1E6CB"/>
                </a:solidFill>
                <a:latin typeface="Arial"/>
                <a:ea typeface="Arial"/>
                <a:cs typeface="Arial"/>
              </a:rPr>
              <a:t>01 / 10</a:t>
            </a:r>
          </a:p>
        </p:txBody>
      </p:sp>
    </p:spTree>
    <p:extLst>
      <p:ext uri="{BB962C8B-B14F-4D97-AF65-F5344CB8AC3E}">
        <p14:creationId xmlns:p14="http://schemas.microsoft.com/office/powerpoint/2010/main" val="13123399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1F6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2D6874-1E4A-4E4E-8E0F-8067837C1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082B49"/>
                </a:solidFill>
                <a:latin typeface="Georgia"/>
                <a:ea typeface="Georgia"/>
                <a:cs typeface="Georgia"/>
              </a:defRPr>
            </a:pPr>
            <a:r>
              <a:rPr sz="1275" b="1" i="0">
                <a:solidFill>
                  <a:srgbClr val="082B49"/>
                </a:solidFill>
                <a:latin typeface="Georgia"/>
                <a:ea typeface="Georgia"/>
                <a:cs typeface="Georgia"/>
              </a:rPr>
              <a:t>BLUE COMMONS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F4E29A-141D-4E03-992A-D1CEE6C2E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619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 i="0">
                <a:solidFill>
                  <a:srgbClr val="F07C67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07C67"/>
                </a:solidFill>
                <a:latin typeface="Arial"/>
                <a:ea typeface="Arial"/>
                <a:cs typeface="Arial"/>
              </a:rPr>
              <a:t>2027 OCEAN IMPACT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D2CF2E-178A-4A29-B779-24AE823C4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7D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7E95EB-F623-4554-A4D7-6F9CD4079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 i="0">
                <a:solidFill>
                  <a:srgbClr val="082B49"/>
                </a:solidFill>
                <a:latin typeface="Georgia"/>
                <a:ea typeface="Georgia"/>
                <a:cs typeface="Georgia"/>
              </a:defRPr>
            </a:pPr>
            <a:r>
              <a:rPr sz="1125" b="1" i="0">
                <a:solidFill>
                  <a:srgbClr val="082B49"/>
                </a:solidFill>
                <a:latin typeface="Georgia"/>
                <a:ea typeface="Georgia"/>
                <a:cs typeface="Georgia"/>
              </a:rPr>
              <a:t>02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E8D65F-0742-422A-A694-328BF3F9B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23950"/>
            <a:ext cx="762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750" b="1" i="0">
                <a:solidFill>
                  <a:srgbClr val="082B49"/>
                </a:solidFill>
                <a:latin typeface="Georgia"/>
                <a:ea typeface="Georgia"/>
                <a:cs typeface="Georgia"/>
              </a:defRPr>
            </a:pPr>
            <a:r>
              <a:rPr sz="3750" b="1" i="0">
                <a:solidFill>
                  <a:srgbClr val="082B49"/>
                </a:solidFill>
                <a:latin typeface="Georgia"/>
                <a:ea typeface="Georgia"/>
                <a:cs typeface="Georgia"/>
              </a:rPr>
              <a:t>Nurseries build abundance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6419CD-5490-4545-A517-DD487A83E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1930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0" i="0">
                <a:solidFill>
                  <a:srgbClr val="344B55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344B55"/>
                </a:solidFill>
                <a:latin typeface="Arial"/>
                <a:ea typeface="Arial"/>
                <a:cs typeface="Arial"/>
              </a:rPr>
              <a:t>Quiet coves shelter young marine life before it moves into open water.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8FF51B-78D1-4128-9039-BA024F72C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62300"/>
            <a:ext cx="819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 i="0">
                <a:solidFill>
                  <a:srgbClr val="51AE9C"/>
                </a:solidFill>
                <a:latin typeface="Georgia"/>
                <a:ea typeface="Georgia"/>
                <a:cs typeface="Georgia"/>
              </a:defRPr>
            </a:pPr>
            <a:r>
              <a:rPr sz="3600" b="1" i="0">
                <a:solidFill>
                  <a:srgbClr val="51AE9C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D29595-5CFA-4AB5-B6DA-29872C9C5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43350"/>
            <a:ext cx="276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1AE9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332FC6-1EEA-4655-AED1-B689C09F1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6720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 i="0">
                <a:solidFill>
                  <a:srgbClr val="082B49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82B49"/>
                </a:solidFill>
                <a:latin typeface="Arial"/>
                <a:ea typeface="Arial"/>
                <a:cs typeface="Arial"/>
              </a:rPr>
              <a:t>SHELTER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4C2A10-531E-489A-B1F7-6A7933935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86300"/>
            <a:ext cx="276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 i="0">
                <a:solidFill>
                  <a:srgbClr val="5269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26970"/>
                </a:solidFill>
                <a:latin typeface="Arial"/>
                <a:ea typeface="Arial"/>
                <a:cs typeface="Arial"/>
              </a:rPr>
              <a:t>Complex roots reduce predation.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01EADA-6E38-4295-81A9-D67A63F04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162300"/>
            <a:ext cx="819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 i="0">
                <a:solidFill>
                  <a:srgbClr val="F07C67"/>
                </a:solidFill>
                <a:latin typeface="Georgia"/>
                <a:ea typeface="Georgia"/>
                <a:cs typeface="Georgia"/>
              </a:defRPr>
            </a:pPr>
            <a:r>
              <a:rPr sz="3600" b="1" i="0">
                <a:solidFill>
                  <a:srgbClr val="F07C67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59E8FE-0F48-4484-ADBC-84CC7FD52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943350"/>
            <a:ext cx="276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07C6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8B2DE3-F4C7-4F53-8A19-24DEF8EE5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26720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 i="0">
                <a:solidFill>
                  <a:srgbClr val="082B49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82B49"/>
                </a:solidFill>
                <a:latin typeface="Arial"/>
                <a:ea typeface="Arial"/>
                <a:cs typeface="Arial"/>
              </a:rPr>
              <a:t>FOOD WEB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1D90D7-3266-4EF4-9E8C-8F2389683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686300"/>
            <a:ext cx="276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 i="0">
                <a:solidFill>
                  <a:srgbClr val="5269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26970"/>
                </a:solidFill>
                <a:latin typeface="Arial"/>
                <a:ea typeface="Arial"/>
                <a:cs typeface="Arial"/>
              </a:rPr>
              <a:t>Small species feed larger ones.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8234A0-3864-41E4-A5E9-E9D85F6B1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162300"/>
            <a:ext cx="819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 i="0">
                <a:solidFill>
                  <a:srgbClr val="51AE9C"/>
                </a:solidFill>
                <a:latin typeface="Georgia"/>
                <a:ea typeface="Georgia"/>
                <a:cs typeface="Georgia"/>
              </a:defRPr>
            </a:pPr>
            <a:r>
              <a:rPr sz="3600" b="1" i="0">
                <a:solidFill>
                  <a:srgbClr val="51AE9C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9A83BA-EEBE-476C-8DBA-B61AFBB6E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943350"/>
            <a:ext cx="276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1AE9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F0E3B6-5C9C-40C6-A6F3-B0F6EFE77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26720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 i="0">
                <a:solidFill>
                  <a:srgbClr val="082B49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82B49"/>
                </a:solidFill>
                <a:latin typeface="Arial"/>
                <a:ea typeface="Arial"/>
                <a:cs typeface="Arial"/>
              </a:rPr>
              <a:t>RESILIENCE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305A4A-8B99-4098-B49E-3FA12DE78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686300"/>
            <a:ext cx="276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 i="0">
                <a:solidFill>
                  <a:srgbClr val="5269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26970"/>
                </a:solidFill>
                <a:latin typeface="Arial"/>
                <a:ea typeface="Arial"/>
                <a:cs typeface="Arial"/>
              </a:rPr>
              <a:t>Living shorelines soften storms.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FB0AC1-AC0D-4518-AFCE-C264F26FA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552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F07C67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07C67"/>
                </a:solidFill>
                <a:latin typeface="Arial"/>
                <a:ea typeface="Arial"/>
                <a:cs typeface="Arial"/>
              </a:rPr>
              <a:t>Demonstration framing — not a scientific estimate.</a:t>
            </a:r>
          </a:p>
        </p:txBody>
      </p:sp>
    </p:spTree>
    <p:extLst>
      <p:ext uri="{BB962C8B-B14F-4D97-AF65-F5344CB8AC3E}">
        <p14:creationId xmlns:p14="http://schemas.microsoft.com/office/powerpoint/2010/main" val="17881400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2B4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47751C-289C-468C-9B9B-0CDC1BE6A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E8DFC9"/>
                </a:solidFill>
                <a:latin typeface="Georgia"/>
                <a:ea typeface="Georgia"/>
                <a:cs typeface="Georgia"/>
              </a:defRPr>
            </a:pPr>
            <a:r>
              <a:rPr sz="1275" b="1" i="0">
                <a:solidFill>
                  <a:srgbClr val="E8DFC9"/>
                </a:solidFill>
                <a:latin typeface="Georgia"/>
                <a:ea typeface="Georgia"/>
                <a:cs typeface="Georgia"/>
              </a:rPr>
              <a:t>BLUE COMMONS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96C701-13C3-41DD-B091-A8876F405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619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 i="0">
                <a:solidFill>
                  <a:srgbClr val="51AE9C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1AE9C"/>
                </a:solidFill>
                <a:latin typeface="Arial"/>
                <a:ea typeface="Arial"/>
                <a:cs typeface="Arial"/>
              </a:rPr>
              <a:t>2027 OCEAN IMPACT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65AB8A-8037-45AD-BECA-CAE3490B3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F547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3688DB-1E69-4C91-B71B-4215D736D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 i="0">
                <a:solidFill>
                  <a:srgbClr val="E8DFC9"/>
                </a:solidFill>
                <a:latin typeface="Georgia"/>
                <a:ea typeface="Georgia"/>
                <a:cs typeface="Georgia"/>
              </a:defRPr>
            </a:pPr>
            <a:r>
              <a:rPr sz="1125" b="1" i="0">
                <a:solidFill>
                  <a:srgbClr val="E8DFC9"/>
                </a:solidFill>
                <a:latin typeface="Georgia"/>
                <a:ea typeface="Georgia"/>
                <a:cs typeface="Georgia"/>
              </a:rPr>
              <a:t>03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749147-40C3-4A39-BBCD-1F6AAF320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43000"/>
            <a:ext cx="723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750" b="1" i="0">
                <a:solidFill>
                  <a:srgbClr val="F1E6CB"/>
                </a:solidFill>
                <a:latin typeface="Georgia"/>
                <a:ea typeface="Georgia"/>
                <a:cs typeface="Georgia"/>
              </a:defRPr>
            </a:pPr>
            <a:r>
              <a:rPr sz="3750" b="1" i="0">
                <a:solidFill>
                  <a:srgbClr val="F1E6CB"/>
                </a:solidFill>
                <a:latin typeface="Georgia"/>
                <a:ea typeface="Georgia"/>
                <a:cs typeface="Georgia"/>
              </a:rPr>
              <a:t>2027 coastal momentum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08BB32-B0CB-4245-B1D5-DB00387ED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86050"/>
            <a:ext cx="2362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800" b="1" i="0">
                <a:solidFill>
                  <a:srgbClr val="F1E6CB"/>
                </a:solidFill>
                <a:latin typeface="Georgia"/>
                <a:ea typeface="Georgia"/>
                <a:cs typeface="Georgia"/>
              </a:defRPr>
            </a:pPr>
            <a:r>
              <a:rPr sz="4800" b="1" i="0">
                <a:solidFill>
                  <a:srgbClr val="F1E6CB"/>
                </a:solidFill>
                <a:latin typeface="Georgia"/>
                <a:ea typeface="Georgia"/>
                <a:cs typeface="Georgia"/>
              </a:rPr>
              <a:t>1,240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878E0E-F993-48EE-BCDA-F1CA16A6D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76650"/>
            <a:ext cx="2209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1AE9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4E6E34-A036-487D-A0C0-791333E6E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0"/>
            <a:ext cx="2209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 i="0">
                <a:solidFill>
                  <a:srgbClr val="D6E0D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D6E0DF"/>
                </a:solidFill>
                <a:latin typeface="Arial"/>
                <a:ea typeface="Arial"/>
                <a:cs typeface="Arial"/>
              </a:rPr>
              <a:t>volunteer hours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DEC60C-586F-4DB1-8300-19DC9CA85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686050"/>
            <a:ext cx="2362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800" b="1" i="0">
                <a:solidFill>
                  <a:srgbClr val="F1E6CB"/>
                </a:solidFill>
                <a:latin typeface="Georgia"/>
                <a:ea typeface="Georgia"/>
                <a:cs typeface="Georgia"/>
              </a:defRPr>
            </a:pPr>
            <a:r>
              <a:rPr sz="4800" b="1" i="0">
                <a:solidFill>
                  <a:srgbClr val="F1E6CB"/>
                </a:solidFill>
                <a:latin typeface="Georgia"/>
                <a:ea typeface="Georgia"/>
                <a:cs typeface="Georgia"/>
              </a:rPr>
              <a:t>86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148687-B171-4454-8DE4-C4DBFEB15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676650"/>
            <a:ext cx="2209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1AE9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A1F2F7-B6B1-4C4A-8048-5E3104C7B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000500"/>
            <a:ext cx="2209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 i="0">
                <a:solidFill>
                  <a:srgbClr val="D6E0D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D6E0DF"/>
                </a:solidFill>
                <a:latin typeface="Arial"/>
                <a:ea typeface="Arial"/>
                <a:cs typeface="Arial"/>
              </a:rPr>
              <a:t>hectares restored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2F9C71-88F1-411A-BEC8-82FA1F83A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86050"/>
            <a:ext cx="2362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800" b="1" i="0">
                <a:solidFill>
                  <a:srgbClr val="F1E6CB"/>
                </a:solidFill>
                <a:latin typeface="Georgia"/>
                <a:ea typeface="Georgia"/>
                <a:cs typeface="Georgia"/>
              </a:defRPr>
            </a:pPr>
            <a:r>
              <a:rPr sz="4800" b="1" i="0">
                <a:solidFill>
                  <a:srgbClr val="F1E6CB"/>
                </a:solidFill>
                <a:latin typeface="Georgia"/>
                <a:ea typeface="Georgia"/>
                <a:cs typeface="Georgia"/>
              </a:rPr>
              <a:t>14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A68988-86B7-45FD-B365-10AB397AC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676650"/>
            <a:ext cx="2209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1AE9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2B79F2-752A-4656-B849-E6D48BA85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0"/>
            <a:ext cx="2209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 i="0">
                <a:solidFill>
                  <a:srgbClr val="D6E0D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D6E0DF"/>
                </a:solidFill>
                <a:latin typeface="Arial"/>
                <a:ea typeface="Arial"/>
                <a:cs typeface="Arial"/>
              </a:rPr>
              <a:t>nursery coves monitored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EC146C-EB4B-4C61-81F2-1D27859BC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686050"/>
            <a:ext cx="2362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800" b="1" i="0">
                <a:solidFill>
                  <a:srgbClr val="F07C67"/>
                </a:solidFill>
                <a:latin typeface="Georgia"/>
                <a:ea typeface="Georgia"/>
                <a:cs typeface="Georgia"/>
              </a:defRPr>
            </a:pPr>
            <a:r>
              <a:rPr sz="4800" b="1" i="0">
                <a:solidFill>
                  <a:srgbClr val="F07C67"/>
                </a:solidFill>
                <a:latin typeface="Georgia"/>
                <a:ea typeface="Georgia"/>
                <a:cs typeface="Georgia"/>
              </a:rPr>
              <a:t>72%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F4CF71-7576-4A98-A2D7-893A0E171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676650"/>
            <a:ext cx="2209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07C6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2437FE-0047-4FA6-AA7C-94EE27A2D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000500"/>
            <a:ext cx="2209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 i="0">
                <a:solidFill>
                  <a:srgbClr val="D6E0D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D6E0DF"/>
                </a:solidFill>
                <a:latin typeface="Arial"/>
                <a:ea typeface="Arial"/>
                <a:cs typeface="Arial"/>
              </a:rPr>
              <a:t>funding to field delivery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9DA9BA-E026-42F6-8A66-80B884A15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3880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8FB0B2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8FB0B2"/>
                </a:solidFill>
                <a:latin typeface="Arial"/>
                <a:ea typeface="Arial"/>
                <a:cs typeface="Arial"/>
              </a:rPr>
              <a:t>All figures are fictional demonstration values for template evaluation.</a:t>
            </a:r>
          </a:p>
        </p:txBody>
      </p:sp>
    </p:spTree>
    <p:extLst>
      <p:ext uri="{BB962C8B-B14F-4D97-AF65-F5344CB8AC3E}">
        <p14:creationId xmlns:p14="http://schemas.microsoft.com/office/powerpoint/2010/main" val="16479215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FDFB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425d6c4089420e"/>
          <a:srcRect xmlns:a="http://schemas.openxmlformats.org/drawingml/2006/main" l="25768" t="0" r="2576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0" y="0"/>
            <a:ext cx="59055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DD253C-8C37-4BA5-9B98-B813F8739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082B49"/>
                </a:solidFill>
                <a:latin typeface="Georgia"/>
                <a:ea typeface="Georgia"/>
                <a:cs typeface="Georgia"/>
              </a:defRPr>
            </a:pPr>
            <a:r>
              <a:rPr sz="1275" b="1" i="0">
                <a:solidFill>
                  <a:srgbClr val="082B49"/>
                </a:solidFill>
                <a:latin typeface="Georgia"/>
                <a:ea typeface="Georgia"/>
                <a:cs typeface="Georgia"/>
              </a:rPr>
              <a:t>BLUE COMMONS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09ABFE-9930-4458-BF9E-9277A480A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619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 i="0">
                <a:solidFill>
                  <a:srgbClr val="F07C67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07C67"/>
                </a:solidFill>
                <a:latin typeface="Arial"/>
                <a:ea typeface="Arial"/>
                <a:cs typeface="Arial"/>
              </a:rPr>
              <a:t>2027 OCEAN IMPACT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047A26-FD51-471A-80DA-4E641EDA1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7D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549B81-C1B4-4174-A9C5-88D70E2C9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 i="0">
                <a:solidFill>
                  <a:srgbClr val="082B49"/>
                </a:solidFill>
                <a:latin typeface="Georgia"/>
                <a:ea typeface="Georgia"/>
                <a:cs typeface="Georgia"/>
              </a:defRPr>
            </a:pPr>
            <a:r>
              <a:rPr sz="1125" b="1" i="0">
                <a:solidFill>
                  <a:srgbClr val="082B49"/>
                </a:solidFill>
                <a:latin typeface="Georgia"/>
                <a:ea typeface="Georgia"/>
                <a:cs typeface="Georgia"/>
              </a:rPr>
              <a:t>04 /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CBD0B3-8F09-49C7-98A4-3178175F5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43000"/>
            <a:ext cx="5143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 i="0">
                <a:solidFill>
                  <a:srgbClr val="082B49"/>
                </a:solidFill>
                <a:latin typeface="Georgia"/>
                <a:ea typeface="Georgia"/>
                <a:cs typeface="Georgia"/>
              </a:defRPr>
            </a:pPr>
            <a:r>
              <a:rPr sz="3600" b="1" i="0">
                <a:solidFill>
                  <a:srgbClr val="082B49"/>
                </a:solidFill>
                <a:latin typeface="Georgia"/>
                <a:ea typeface="Georgia"/>
                <a:cs typeface="Georgia"/>
              </a:rPr>
              <a:t>Residents lead the method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D37AAE-BC53-4354-B458-1B5D96598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52650"/>
            <a:ext cx="476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0" i="1">
                <a:solidFill>
                  <a:srgbClr val="082B49"/>
                </a:solidFill>
                <a:latin typeface="Georgia"/>
                <a:ea typeface="Georgia"/>
                <a:cs typeface="Georgia"/>
              </a:defRPr>
            </a:pPr>
            <a:r>
              <a:rPr sz="2400" b="0" i="1">
                <a:solidFill>
                  <a:srgbClr val="082B49"/>
                </a:solidFill>
                <a:latin typeface="Georgia"/>
                <a:ea typeface="Georgia"/>
                <a:cs typeface="Georgia"/>
              </a:rPr>
              <a:t>“We count the coast first.”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03EBF9-0432-4171-931B-F412648B3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00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800" b="0" i="0">
                <a:solidFill>
                  <a:srgbClr val="324A52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324A52"/>
                </a:solidFill>
                <a:latin typeface="Arial"/>
                <a:ea typeface="Arial"/>
                <a:cs typeface="Arial"/>
              </a:rPr>
              <a:t>Local guides paired youth volunteers with restoration staff to map tide windows, flag safe access routes, and log nursery sightings.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BD0B5C-FC17-4975-AB32-A1E498138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0"/>
            <a:ext cx="104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07C6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A06135-B3D9-4B15-97FB-3EDAAB7B7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9115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 i="0">
                <a:solidFill>
                  <a:srgbClr val="082B49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82B49"/>
                </a:solidFill>
                <a:latin typeface="Arial"/>
                <a:ea typeface="Arial"/>
                <a:cs typeface="Arial"/>
              </a:rPr>
              <a:t>28 households joined shoreline walks.</a:t>
            </a:r>
          </a:p>
        </p:txBody>
      </p:sp>
    </p:spTree>
    <p:extLst>
      <p:ext uri="{BB962C8B-B14F-4D97-AF65-F5344CB8AC3E}">
        <p14:creationId xmlns:p14="http://schemas.microsoft.com/office/powerpoint/2010/main" val="62625754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1F6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950DD9-C509-43D9-A304-4E05760CC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082B49"/>
                </a:solidFill>
                <a:latin typeface="Georgia"/>
                <a:ea typeface="Georgia"/>
                <a:cs typeface="Georgia"/>
              </a:defRPr>
            </a:pPr>
            <a:r>
              <a:rPr sz="1275" b="1" i="0">
                <a:solidFill>
                  <a:srgbClr val="082B49"/>
                </a:solidFill>
                <a:latin typeface="Georgia"/>
                <a:ea typeface="Georgia"/>
                <a:cs typeface="Georgia"/>
              </a:rPr>
              <a:t>BLUE COMMONS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2E47BA-4515-4FB2-934C-33695A2B0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619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 i="0">
                <a:solidFill>
                  <a:srgbClr val="F07C67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07C67"/>
                </a:solidFill>
                <a:latin typeface="Arial"/>
                <a:ea typeface="Arial"/>
                <a:cs typeface="Arial"/>
              </a:rPr>
              <a:t>2027 OCEAN IMPACT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F7AB33-53A4-4D79-A631-649CC7232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7D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242B25-EB9F-4C17-84D7-EB3219519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 i="0">
                <a:solidFill>
                  <a:srgbClr val="082B49"/>
                </a:solidFill>
                <a:latin typeface="Georgia"/>
                <a:ea typeface="Georgia"/>
                <a:cs typeface="Georgia"/>
              </a:defRPr>
            </a:pPr>
            <a:r>
              <a:rPr sz="1125" b="1" i="0">
                <a:solidFill>
                  <a:srgbClr val="082B49"/>
                </a:solidFill>
                <a:latin typeface="Georgia"/>
                <a:ea typeface="Georgia"/>
                <a:cs typeface="Georgia"/>
              </a:rPr>
              <a:t>05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13019A-D8CB-4F35-A4A1-4EC037A6C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723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750" b="1" i="0">
                <a:solidFill>
                  <a:srgbClr val="082B49"/>
                </a:solidFill>
                <a:latin typeface="Georgia"/>
                <a:ea typeface="Georgia"/>
                <a:cs typeface="Georgia"/>
              </a:defRPr>
            </a:pPr>
            <a:r>
              <a:rPr sz="3750" b="1" i="0">
                <a:solidFill>
                  <a:srgbClr val="082B49"/>
                </a:solidFill>
                <a:latin typeface="Georgia"/>
                <a:ea typeface="Georgia"/>
                <a:cs typeface="Georgia"/>
              </a:rPr>
              <a:t>Coves and crews connect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4F16EE-6A1F-4CB0-86BB-55A07D399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04800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1AE9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7BDD0C-A3CD-4F25-8AF5-37689DB12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86250"/>
            <a:ext cx="247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07C6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F3B119-F48F-4834-874C-499366946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38500"/>
            <a:ext cx="276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82B4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4222AB-F6A1-4790-A27B-9DF29A4A9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9337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1AE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F73C74-4C06-47D3-BF28-6EE67E906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147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082B49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2B49"/>
                </a:solidFill>
                <a:latin typeface="Arial"/>
                <a:ea typeface="Arial"/>
                <a:cs typeface="Arial"/>
              </a:rPr>
              <a:t>North Cove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DF8E88-54D6-4516-A3F2-3FEA9F16C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1719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7C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2CE08D-9755-4D8E-916C-FFB137186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5529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082B49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2B49"/>
                </a:solidFill>
                <a:latin typeface="Arial"/>
                <a:ea typeface="Arial"/>
                <a:cs typeface="Arial"/>
              </a:rPr>
              <a:t>Market Pier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5B20D4-E43B-45FA-8E26-B999A0329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1242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1AE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C9E2EC-BB4C-4F6C-BE6C-C6347431B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5052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082B49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2B49"/>
                </a:solidFill>
                <a:latin typeface="Arial"/>
                <a:ea typeface="Arial"/>
                <a:cs typeface="Arial"/>
              </a:rPr>
              <a:t>East Flats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BB4673-32EF-4D28-B23D-F7E546B0C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6482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1AE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76847D-56DE-410F-9FEC-673338792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0292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082B49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2B49"/>
                </a:solidFill>
                <a:latin typeface="Arial"/>
                <a:ea typeface="Arial"/>
                <a:cs typeface="Arial"/>
              </a:rPr>
              <a:t>Lagoon Edge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4A9D85-76E0-473B-B384-8817E6DB7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721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63777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3777D"/>
                </a:solidFill>
                <a:latin typeface="Arial"/>
                <a:ea typeface="Arial"/>
                <a:cs typeface="Arial"/>
              </a:rPr>
              <a:t>Illustrative monitoring route — not a geographic map.</a:t>
            </a:r>
          </a:p>
        </p:txBody>
      </p:sp>
    </p:spTree>
    <p:extLst>
      <p:ext uri="{BB962C8B-B14F-4D97-AF65-F5344CB8AC3E}">
        <p14:creationId xmlns:p14="http://schemas.microsoft.com/office/powerpoint/2010/main" val="15677401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1F6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2a7ad106c944fd"/>
          <a:srcRect xmlns:a="http://schemas.openxmlformats.org/drawingml/2006/main" l="29677" t="0" r="2967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4953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919C56-979E-4BC7-BA2E-C0DD69E8E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082B49"/>
                </a:solidFill>
                <a:latin typeface="Georgia"/>
                <a:ea typeface="Georgia"/>
                <a:cs typeface="Georgia"/>
              </a:defRPr>
            </a:pPr>
            <a:r>
              <a:rPr sz="1275" b="1" i="0">
                <a:solidFill>
                  <a:srgbClr val="082B49"/>
                </a:solidFill>
                <a:latin typeface="Georgia"/>
                <a:ea typeface="Georgia"/>
                <a:cs typeface="Georgia"/>
              </a:rPr>
              <a:t>BLUE COMMONS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2E38AB-5CCF-4548-9C39-9C5D5F8E6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619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 i="0">
                <a:solidFill>
                  <a:srgbClr val="F07C67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07C67"/>
                </a:solidFill>
                <a:latin typeface="Arial"/>
                <a:ea typeface="Arial"/>
                <a:cs typeface="Arial"/>
              </a:rPr>
              <a:t>2027 OCEAN IMPACT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E941A8-7A45-4AF3-B537-790AFE66C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7D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E4F539-D6F1-436B-AC41-FAE2F89D1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 i="0">
                <a:solidFill>
                  <a:srgbClr val="082B49"/>
                </a:solidFill>
                <a:latin typeface="Georgia"/>
                <a:ea typeface="Georgia"/>
                <a:cs typeface="Georgia"/>
              </a:defRPr>
            </a:pPr>
            <a:r>
              <a:rPr sz="1125" b="1" i="0">
                <a:solidFill>
                  <a:srgbClr val="082B49"/>
                </a:solidFill>
                <a:latin typeface="Georgia"/>
                <a:ea typeface="Georgia"/>
                <a:cs typeface="Georgia"/>
              </a:rPr>
              <a:t>06 /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A47A95-8329-457E-9943-9BB14AFB8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104900"/>
            <a:ext cx="561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 i="0">
                <a:solidFill>
                  <a:srgbClr val="082B49"/>
                </a:solidFill>
                <a:latin typeface="Georgia"/>
                <a:ea typeface="Georgia"/>
                <a:cs typeface="Georgia"/>
              </a:defRPr>
            </a:pPr>
            <a:r>
              <a:rPr sz="3600" b="1" i="0">
                <a:solidFill>
                  <a:srgbClr val="082B49"/>
                </a:solidFill>
                <a:latin typeface="Georgia"/>
                <a:ea typeface="Georgia"/>
                <a:cs typeface="Georgia"/>
              </a:rPr>
              <a:t>Evidence guides timing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5619750" y="2305050"/>
          <a:ext xmlns:a="http://schemas.openxmlformats.org/drawingml/2006/main" cx="5524500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3c83ed177b34888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B55F06-D456-4741-B57A-F43A7D5B7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4673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F07C67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07C67"/>
                </a:solidFill>
                <a:latin typeface="Arial"/>
                <a:ea typeface="Arial"/>
                <a:cs typeface="Arial"/>
              </a:rPr>
              <a:t>PLANTING WINDOW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0B1F42-717A-4CDA-9210-1012F9176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292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082B49"/>
                </a:solidFill>
                <a:latin typeface="Georgia"/>
                <a:ea typeface="Georgia"/>
                <a:cs typeface="Georgia"/>
              </a:defRPr>
            </a:pPr>
            <a:r>
              <a:rPr sz="1725" b="1" i="0">
                <a:solidFill>
                  <a:srgbClr val="082B49"/>
                </a:solidFill>
                <a:latin typeface="Georgia"/>
                <a:ea typeface="Georgia"/>
                <a:cs typeface="Georgia"/>
              </a:rPr>
              <a:t>July–November</a:t>
            </a:r>
          </a:p>
        </p:txBody>
      </p:sp>
    </p:spTree>
    <p:extLst>
      <p:ext uri="{BB962C8B-B14F-4D97-AF65-F5344CB8AC3E}">
        <p14:creationId xmlns:p14="http://schemas.microsoft.com/office/powerpoint/2010/main" val="209811431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2B4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e517364c9643e5"/>
          <a:srcRect xmlns:a="http://schemas.openxmlformats.org/drawingml/2006/main" l="25378" t="0" r="2537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0"/>
            <a:ext cx="6000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09677B-DA9E-42D3-9AD0-CEF80C3B7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E8DFC9"/>
                </a:solidFill>
                <a:latin typeface="Georgia"/>
                <a:ea typeface="Georgia"/>
                <a:cs typeface="Georgia"/>
              </a:defRPr>
            </a:pPr>
            <a:r>
              <a:rPr sz="1275" b="1" i="0">
                <a:solidFill>
                  <a:srgbClr val="E8DFC9"/>
                </a:solidFill>
                <a:latin typeface="Georgia"/>
                <a:ea typeface="Georgia"/>
                <a:cs typeface="Georgia"/>
              </a:rPr>
              <a:t>BLUE COMMONS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48D293-3B6B-4202-842E-E2F1553CB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619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 i="0">
                <a:solidFill>
                  <a:srgbClr val="51AE9C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1AE9C"/>
                </a:solidFill>
                <a:latin typeface="Arial"/>
                <a:ea typeface="Arial"/>
                <a:cs typeface="Arial"/>
              </a:rPr>
              <a:t>2027 OCEAN IMPACT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0D61B4-E69A-4150-9AF0-6F778BA93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F547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E0B006-54F0-4ECB-8684-9BDA640DB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 i="0">
                <a:solidFill>
                  <a:srgbClr val="E8DFC9"/>
                </a:solidFill>
                <a:latin typeface="Georgia"/>
                <a:ea typeface="Georgia"/>
                <a:cs typeface="Georgia"/>
              </a:defRPr>
            </a:pPr>
            <a:r>
              <a:rPr sz="1125" b="1" i="0">
                <a:solidFill>
                  <a:srgbClr val="E8DFC9"/>
                </a:solidFill>
                <a:latin typeface="Georgia"/>
                <a:ea typeface="Georgia"/>
                <a:cs typeface="Georgia"/>
              </a:rPr>
              <a:t>07 /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3BBBBA-AC7E-4C04-94AA-0081F7ADA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5048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600" b="1" i="0">
                <a:solidFill>
                  <a:srgbClr val="F1E6CB"/>
                </a:solidFill>
                <a:latin typeface="Georgia"/>
                <a:ea typeface="Georgia"/>
                <a:cs typeface="Georgia"/>
              </a:defRPr>
            </a:pPr>
            <a:r>
              <a:rPr sz="3600" b="1" i="0">
                <a:solidFill>
                  <a:srgbClr val="F1E6CB"/>
                </a:solidFill>
                <a:latin typeface="Georgia"/>
                <a:ea typeface="Georgia"/>
                <a:cs typeface="Georgia"/>
              </a:rPr>
              <a:t>Livelihoods grow with the shoreline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FFEB64-6DBD-442F-8DE2-11892A088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1460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0" i="1">
                <a:solidFill>
                  <a:srgbClr val="D6E0DF"/>
                </a:solidFill>
                <a:latin typeface="Georgia"/>
                <a:ea typeface="Georgia"/>
                <a:cs typeface="Georgia"/>
              </a:defRPr>
            </a:pPr>
            <a:r>
              <a:rPr sz="2100" b="0" i="1">
                <a:solidFill>
                  <a:srgbClr val="D6E0DF"/>
                </a:solidFill>
                <a:latin typeface="Georgia"/>
                <a:ea typeface="Georgia"/>
                <a:cs typeface="Georgia"/>
              </a:rPr>
              <a:t>“Good restoration keeps work local.”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D43CE4-F06E-4E32-91C5-501400445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71900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 i="0">
                <a:solidFill>
                  <a:srgbClr val="F07C67"/>
                </a:solidFill>
                <a:latin typeface="Georgia"/>
                <a:ea typeface="Georgia"/>
                <a:cs typeface="Georgia"/>
              </a:defRPr>
            </a:pPr>
            <a:r>
              <a:rPr sz="3450" b="1" i="0">
                <a:solidFill>
                  <a:srgbClr val="F07C67"/>
                </a:solidFill>
                <a:latin typeface="Georgia"/>
                <a:ea typeface="Georgia"/>
                <a:cs typeface="Georgia"/>
              </a:rPr>
              <a:t>46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DDBDB2-5733-49E1-A2EA-E78984233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14850"/>
            <a:ext cx="142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 i="0">
                <a:solidFill>
                  <a:srgbClr val="D6E0DF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D6E0DF"/>
                </a:solidFill>
                <a:latin typeface="Arial"/>
                <a:ea typeface="Arial"/>
                <a:cs typeface="Arial"/>
              </a:rPr>
              <a:t>paid field days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3B898C-6A51-4259-A582-0C79897AA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771900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 i="0">
                <a:solidFill>
                  <a:srgbClr val="F07C67"/>
                </a:solidFill>
                <a:latin typeface="Georgia"/>
                <a:ea typeface="Georgia"/>
                <a:cs typeface="Georgia"/>
              </a:defRPr>
            </a:pPr>
            <a:r>
              <a:rPr sz="3450" b="1" i="0">
                <a:solidFill>
                  <a:srgbClr val="F07C67"/>
                </a:solidFill>
                <a:latin typeface="Georgia"/>
                <a:ea typeface="Georgia"/>
                <a:cs typeface="Georgia"/>
              </a:rPr>
              <a:t>12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524753-D231-4B64-BEAB-5321AF5A0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514850"/>
            <a:ext cx="142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 i="0">
                <a:solidFill>
                  <a:srgbClr val="D6E0DF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D6E0DF"/>
                </a:solidFill>
                <a:latin typeface="Arial"/>
                <a:ea typeface="Arial"/>
                <a:cs typeface="Arial"/>
              </a:rPr>
              <a:t>local suppliers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E740C4-B1B8-415E-9D2D-D5490B58C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771900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 i="0">
                <a:solidFill>
                  <a:srgbClr val="F07C67"/>
                </a:solidFill>
                <a:latin typeface="Georgia"/>
                <a:ea typeface="Georgia"/>
                <a:cs typeface="Georgia"/>
              </a:defRPr>
            </a:pPr>
            <a:r>
              <a:rPr sz="3450" b="1" i="0">
                <a:solidFill>
                  <a:srgbClr val="F07C67"/>
                </a:solidFill>
                <a:latin typeface="Georgia"/>
                <a:ea typeface="Georgia"/>
                <a:cs typeface="Georgia"/>
              </a:rPr>
              <a:t>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6704DA-03C7-4583-9B69-E5C3A4C4F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514850"/>
            <a:ext cx="142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 i="0">
                <a:solidFill>
                  <a:srgbClr val="D6E0DF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D6E0DF"/>
                </a:solidFill>
                <a:latin typeface="Arial"/>
                <a:ea typeface="Arial"/>
                <a:cs typeface="Arial"/>
              </a:rPr>
              <a:t>youth stipends</a:t>
            </a:r>
          </a:p>
        </p:txBody>
      </p:sp>
    </p:spTree>
    <p:extLst>
      <p:ext uri="{BB962C8B-B14F-4D97-AF65-F5344CB8AC3E}">
        <p14:creationId xmlns:p14="http://schemas.microsoft.com/office/powerpoint/2010/main" val="31016816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1F6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6038EF-479D-4DE1-846F-0B9F713D5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082B49"/>
                </a:solidFill>
                <a:latin typeface="Georgia"/>
                <a:ea typeface="Georgia"/>
                <a:cs typeface="Georgia"/>
              </a:defRPr>
            </a:pPr>
            <a:r>
              <a:rPr sz="1275" b="1" i="0">
                <a:solidFill>
                  <a:srgbClr val="082B49"/>
                </a:solidFill>
                <a:latin typeface="Georgia"/>
                <a:ea typeface="Georgia"/>
                <a:cs typeface="Georgia"/>
              </a:rPr>
              <a:t>BLUE COMMONS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5DF934-3AB9-4336-9DEA-278EAF0E3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619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 i="0">
                <a:solidFill>
                  <a:srgbClr val="F07C67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07C67"/>
                </a:solidFill>
                <a:latin typeface="Arial"/>
                <a:ea typeface="Arial"/>
                <a:cs typeface="Arial"/>
              </a:rPr>
              <a:t>2027 OCEAN IMPACT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C9C4EC-FE1E-4BA5-B0E1-1214638DE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7D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1AFE43-4EDF-48C1-BFC7-885AD25A0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 i="0">
                <a:solidFill>
                  <a:srgbClr val="082B49"/>
                </a:solidFill>
                <a:latin typeface="Georgia"/>
                <a:ea typeface="Georgia"/>
                <a:cs typeface="Georgia"/>
              </a:defRPr>
            </a:pPr>
            <a:r>
              <a:rPr sz="1125" b="1" i="0">
                <a:solidFill>
                  <a:srgbClr val="082B49"/>
                </a:solidFill>
                <a:latin typeface="Georgia"/>
                <a:ea typeface="Georgia"/>
                <a:cs typeface="Georgia"/>
              </a:rPr>
              <a:t>08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DB10D2-FDE7-468C-9C44-9FC07153D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723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750" b="1" i="0">
                <a:solidFill>
                  <a:srgbClr val="082B49"/>
                </a:solidFill>
                <a:latin typeface="Georgia"/>
                <a:ea typeface="Georgia"/>
                <a:cs typeface="Georgia"/>
              </a:defRPr>
            </a:pPr>
            <a:r>
              <a:rPr sz="3750" b="1" i="0">
                <a:solidFill>
                  <a:srgbClr val="082B49"/>
                </a:solidFill>
                <a:latin typeface="Georgia"/>
                <a:ea typeface="Georgia"/>
                <a:cs typeface="Georgia"/>
              </a:rPr>
              <a:t>Funds favor field delivery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800100" y="2247900"/>
          <a:ext xmlns:a="http://schemas.openxmlformats.org/drawingml/2006/main" cx="91440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d0aa418fa564754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8E908D-5164-47EF-82A3-27F744303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057650"/>
            <a:ext cx="1714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650" b="1" i="0">
                <a:solidFill>
                  <a:srgbClr val="F07C67"/>
                </a:solidFill>
                <a:latin typeface="Georgia"/>
                <a:ea typeface="Georgia"/>
                <a:cs typeface="Georgia"/>
              </a:defRPr>
            </a:pPr>
            <a:r>
              <a:rPr sz="1650" b="1" i="0">
                <a:solidFill>
                  <a:srgbClr val="F07C67"/>
                </a:solidFill>
                <a:latin typeface="Georgia"/>
                <a:ea typeface="Georgia"/>
                <a:cs typeface="Georgia"/>
              </a:rPr>
              <a:t>$2.4M fictional annual budget</a:t>
            </a:r>
          </a:p>
        </p:txBody>
      </p:sp>
    </p:spTree>
    <p:extLst>
      <p:ext uri="{BB962C8B-B14F-4D97-AF65-F5344CB8AC3E}">
        <p14:creationId xmlns:p14="http://schemas.microsoft.com/office/powerpoint/2010/main" val="98238250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EFDFB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D96520-4DCD-4CB7-B9EE-59059D6B8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082B49"/>
                </a:solidFill>
                <a:latin typeface="Georgia"/>
                <a:ea typeface="Georgia"/>
                <a:cs typeface="Georgia"/>
              </a:defRPr>
            </a:pPr>
            <a:r>
              <a:rPr sz="1275" b="1" i="0">
                <a:solidFill>
                  <a:srgbClr val="082B49"/>
                </a:solidFill>
                <a:latin typeface="Georgia"/>
                <a:ea typeface="Georgia"/>
                <a:cs typeface="Georgia"/>
              </a:rPr>
              <a:t>BLUE COMMONS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6563CB-A652-4E5A-A5D9-79228F231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619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 i="0">
                <a:solidFill>
                  <a:srgbClr val="F07C67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07C67"/>
                </a:solidFill>
                <a:latin typeface="Arial"/>
                <a:ea typeface="Arial"/>
                <a:cs typeface="Arial"/>
              </a:rPr>
              <a:t>2027 OCEAN IMPACT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7FF1DC-9671-4010-B9E8-882DC6D20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7D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A835FF-61AA-4CEC-ADA0-13F85271B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 i="0">
                <a:solidFill>
                  <a:srgbClr val="082B49"/>
                </a:solidFill>
                <a:latin typeface="Georgia"/>
                <a:ea typeface="Georgia"/>
                <a:cs typeface="Georgia"/>
              </a:defRPr>
            </a:pPr>
            <a:r>
              <a:rPr sz="1125" b="1" i="0">
                <a:solidFill>
                  <a:srgbClr val="082B49"/>
                </a:solidFill>
                <a:latin typeface="Georgia"/>
                <a:ea typeface="Georgia"/>
                <a:cs typeface="Georgia"/>
              </a:rPr>
              <a:t>09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3B8A11-D1A4-4684-83AC-601D9C50F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723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750" b="1" i="0">
                <a:solidFill>
                  <a:srgbClr val="082B49"/>
                </a:solidFill>
                <a:latin typeface="Georgia"/>
                <a:ea typeface="Georgia"/>
                <a:cs typeface="Georgia"/>
              </a:defRPr>
            </a:pPr>
            <a:r>
              <a:rPr sz="3750" b="1" i="0">
                <a:solidFill>
                  <a:srgbClr val="082B49"/>
                </a:solidFill>
                <a:latin typeface="Georgia"/>
                <a:ea typeface="Georgia"/>
                <a:cs typeface="Georgia"/>
              </a:rPr>
              <a:t>Priorities for 2028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34AF65-77EA-427A-A36B-FD4CFC996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33650"/>
            <a:ext cx="857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050" b="1" i="0">
                <a:solidFill>
                  <a:srgbClr val="51AE9C"/>
                </a:solidFill>
                <a:latin typeface="Georgia"/>
                <a:ea typeface="Georgia"/>
                <a:cs typeface="Georgia"/>
              </a:defRPr>
            </a:pPr>
            <a:r>
              <a:rPr sz="4050" b="1" i="0">
                <a:solidFill>
                  <a:srgbClr val="51AE9C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56FFF4-6E6B-4EB5-B209-373A8FAF4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71850"/>
            <a:ext cx="3028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1AE9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6963CC-388D-467C-B7DD-AFDB060E1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14750"/>
            <a:ext cx="3028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082B49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82B49"/>
                </a:solidFill>
                <a:latin typeface="Arial"/>
                <a:ea typeface="Arial"/>
                <a:cs typeface="Arial"/>
              </a:rPr>
              <a:t>VERIFY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FFF4B8-397F-435F-8B50-80E7165FA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29100"/>
            <a:ext cx="30289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 i="0">
                <a:solidFill>
                  <a:srgbClr val="445B63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445B63"/>
                </a:solidFill>
                <a:latin typeface="Arial"/>
                <a:ea typeface="Arial"/>
                <a:cs typeface="Arial"/>
              </a:rPr>
              <a:t>Publish open monitoring summaries each quarter.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986DD3-5D3F-4DC4-936B-761C1F492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533650"/>
            <a:ext cx="857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050" b="1" i="0">
                <a:solidFill>
                  <a:srgbClr val="F07C67"/>
                </a:solidFill>
                <a:latin typeface="Georgia"/>
                <a:ea typeface="Georgia"/>
                <a:cs typeface="Georgia"/>
              </a:defRPr>
            </a:pPr>
            <a:r>
              <a:rPr sz="4050" b="1" i="0">
                <a:solidFill>
                  <a:srgbClr val="F07C67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D87BF8-D755-4017-8CAE-7DD009326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371850"/>
            <a:ext cx="3028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07C6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707F9E-1AA2-4D39-B8B5-0D194AD8E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714750"/>
            <a:ext cx="3028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082B49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82B49"/>
                </a:solidFill>
                <a:latin typeface="Arial"/>
                <a:ea typeface="Arial"/>
                <a:cs typeface="Arial"/>
              </a:rPr>
              <a:t>PROTECT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0DF691-666C-4F28-9D6D-0BEBFB702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229100"/>
            <a:ext cx="30289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 i="0">
                <a:solidFill>
                  <a:srgbClr val="445B63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445B63"/>
                </a:solidFill>
                <a:latin typeface="Arial"/>
                <a:ea typeface="Arial"/>
                <a:cs typeface="Arial"/>
              </a:rPr>
              <a:t>Expand nursery buffers with town councils.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9CE7FF-E9F4-4ADD-8B0A-78CBBF002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533650"/>
            <a:ext cx="857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050" b="1" i="0">
                <a:solidFill>
                  <a:srgbClr val="51AE9C"/>
                </a:solidFill>
                <a:latin typeface="Georgia"/>
                <a:ea typeface="Georgia"/>
                <a:cs typeface="Georgia"/>
              </a:defRPr>
            </a:pPr>
            <a:r>
              <a:rPr sz="4050" b="1" i="0">
                <a:solidFill>
                  <a:srgbClr val="51AE9C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D7775E-C89F-48CA-B82A-4CD6666DA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371850"/>
            <a:ext cx="3028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1AE9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EC093A-6DBB-4F5E-BDDC-B5B7D915C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714750"/>
            <a:ext cx="3028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082B49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82B49"/>
                </a:solidFill>
                <a:latin typeface="Arial"/>
                <a:ea typeface="Arial"/>
                <a:cs typeface="Arial"/>
              </a:rPr>
              <a:t>GROW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333014-9102-4693-815E-894696500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229100"/>
            <a:ext cx="30289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 i="0">
                <a:solidFill>
                  <a:srgbClr val="445B63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445B63"/>
                </a:solidFill>
                <a:latin typeface="Arial"/>
                <a:ea typeface="Arial"/>
                <a:cs typeface="Arial"/>
              </a:rPr>
              <a:t>Train more local crew leads before peak season.</a:t>
            </a:r>
          </a:p>
        </p:txBody>
      </p:sp>
    </p:spTree>
    <p:extLst>
      <p:ext uri="{BB962C8B-B14F-4D97-AF65-F5344CB8AC3E}">
        <p14:creationId xmlns:p14="http://schemas.microsoft.com/office/powerpoint/2010/main" val="157621296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82B4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59a0bf36c5429f"/>
          <a:srcRect xmlns:a="http://schemas.openxmlformats.org/drawingml/2006/main" l="23423" t="0" r="2342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0" y="0"/>
            <a:ext cx="6477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91E9A0-B7EF-46D6-BF3D-DD2CF4D01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E8DFC9"/>
                </a:solidFill>
                <a:latin typeface="Georgia"/>
                <a:ea typeface="Georgia"/>
                <a:cs typeface="Georgia"/>
              </a:defRPr>
            </a:pPr>
            <a:r>
              <a:rPr sz="1275" b="1" i="0">
                <a:solidFill>
                  <a:srgbClr val="E8DFC9"/>
                </a:solidFill>
                <a:latin typeface="Georgia"/>
                <a:ea typeface="Georgia"/>
                <a:cs typeface="Georgia"/>
              </a:rPr>
              <a:t>BLUE COMMONS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2B2767-6926-4EA3-8E0A-1C9702F95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619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 i="0">
                <a:solidFill>
                  <a:srgbClr val="51AE9C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1AE9C"/>
                </a:solidFill>
                <a:latin typeface="Arial"/>
                <a:ea typeface="Arial"/>
                <a:cs typeface="Arial"/>
              </a:rPr>
              <a:t>2027 OCEAN IMPACT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9315E4-78B0-422C-8CE4-CD7D885FE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F547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64A158-6C76-4632-93B9-C8EF38CC7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 i="0">
                <a:solidFill>
                  <a:srgbClr val="E8DFC9"/>
                </a:solidFill>
                <a:latin typeface="Georgia"/>
                <a:ea typeface="Georgia"/>
                <a:cs typeface="Georgia"/>
              </a:defRPr>
            </a:pPr>
            <a:r>
              <a:rPr sz="1125" b="1" i="0">
                <a:solidFill>
                  <a:srgbClr val="E8DFC9"/>
                </a:solidFill>
                <a:latin typeface="Georgia"/>
                <a:ea typeface="Georgia"/>
                <a:cs typeface="Georgia"/>
              </a:rPr>
              <a:t>10 /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5E0B3C-6639-49E4-B520-7C697156E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4762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975" b="1" i="0">
                <a:solidFill>
                  <a:srgbClr val="F1E6CB"/>
                </a:solidFill>
                <a:latin typeface="Georgia"/>
                <a:ea typeface="Georgia"/>
                <a:cs typeface="Georgia"/>
              </a:defRPr>
            </a:pPr>
            <a:r>
              <a:rPr sz="3975" b="1" i="0">
                <a:solidFill>
                  <a:srgbClr val="F1E6CB"/>
                </a:solidFill>
                <a:latin typeface="Georgia"/>
                <a:ea typeface="Georgia"/>
                <a:cs typeface="Georgia"/>
              </a:rPr>
              <a:t>Help nurseries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3975" b="1" i="0">
                <a:solidFill>
                  <a:srgbClr val="F1E6CB"/>
                </a:solidFill>
                <a:latin typeface="Georgia"/>
                <a:ea typeface="Georgia"/>
                <a:cs typeface="Georgia"/>
              </a:defRPr>
            </a:pPr>
            <a:r>
              <a:rPr sz="3975" b="1" i="0">
                <a:solidFill>
                  <a:srgbClr val="F1E6CB"/>
                </a:solidFill>
                <a:latin typeface="Georgia"/>
                <a:ea typeface="Georgia"/>
                <a:cs typeface="Georgia"/>
              </a:rPr>
              <a:t>become commons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5E3A0F-0215-489F-80AE-8C5C07CD6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90850"/>
            <a:ext cx="4457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875" b="0" i="0">
                <a:solidFill>
                  <a:srgbClr val="D6E0DF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D6E0DF"/>
                </a:solidFill>
                <a:latin typeface="Arial"/>
                <a:ea typeface="Arial"/>
                <a:cs typeface="Arial"/>
              </a:rPr>
              <a:t>Your gift funds monitoring gear, local field days, and restoration plants for the next season.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58EBA1-1291-443B-A556-E6508FC88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48200"/>
            <a:ext cx="295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07C6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F01AF5-9D9E-498E-8B7F-F0913D46C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720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F07C67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07C67"/>
                </a:solidFill>
                <a:latin typeface="Arial"/>
                <a:ea typeface="Arial"/>
                <a:cs typeface="Arial"/>
              </a:rPr>
              <a:t>bluecommons.example/donate</a:t>
            </a:r>
          </a:p>
        </p:txBody>
      </p:sp>
    </p:spTree>
    <p:extLst>
      <p:ext uri="{BB962C8B-B14F-4D97-AF65-F5344CB8AC3E}">
        <p14:creationId xmlns:p14="http://schemas.microsoft.com/office/powerpoint/2010/main" val="6359248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2026-08-11T11:01:05.8220000Z</dcterms:created>
  <dcterms:modified xsi:type="dcterms:W3CDTF">2026-08-11T11:01:05.8220000Z</dcterms:modified>
</coreProperties>
</file>