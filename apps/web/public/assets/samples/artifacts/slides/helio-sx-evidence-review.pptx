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72ffb5ead64c3f" /><Relationship Type="http://schemas.openxmlformats.org/officeDocument/2006/relationships/extended-properties" Target="/docProps/app.xml" Id="R54f44c06af524559" /><Relationship Type="http://schemas.openxmlformats.org/officeDocument/2006/relationships/officeDocument" Target="/ppt/presentation.xml" Id="Rc06c9db20c694a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08d58e3a8d46b5"/>
  </p:sldMasterIdLst>
  <p:notesMasterIdLst>
    <p:notesMasterId xmlns:r="http://schemas.openxmlformats.org/officeDocument/2006/relationships" r:id="R9f536faf5c6c413d"/>
  </p:notesMasterIdLst>
  <p:sldIdLst>
    <p:sldId xmlns:r="http://schemas.openxmlformats.org/officeDocument/2006/relationships" id="256" r:id="Ra4897272fd6a4d09"/>
    <p:sldId xmlns:r="http://schemas.openxmlformats.org/officeDocument/2006/relationships" id="257" r:id="Rfe03cf33d6ce4291"/>
    <p:sldId xmlns:r="http://schemas.openxmlformats.org/officeDocument/2006/relationships" id="258" r:id="Re1001bedf45a44b0"/>
    <p:sldId xmlns:r="http://schemas.openxmlformats.org/officeDocument/2006/relationships" id="259" r:id="Re709b88dac0545ef"/>
    <p:sldId xmlns:r="http://schemas.openxmlformats.org/officeDocument/2006/relationships" id="260" r:id="Rdafef53b572d41f9"/>
    <p:sldId xmlns:r="http://schemas.openxmlformats.org/officeDocument/2006/relationships" id="261" r:id="Rba303a592f194a79"/>
    <p:sldId xmlns:r="http://schemas.openxmlformats.org/officeDocument/2006/relationships" id="262" r:id="R69920605d6a2446d"/>
    <p:sldId xmlns:r="http://schemas.openxmlformats.org/officeDocument/2006/relationships" id="263" r:id="R114f967b9fb048bb"/>
    <p:sldId xmlns:r="http://schemas.openxmlformats.org/officeDocument/2006/relationships" id="264" r:id="R5daed13207fa4df6"/>
    <p:sldId xmlns:r="http://schemas.openxmlformats.org/officeDocument/2006/relationships" id="265" r:id="R1bed0ded31414e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eab6fbd4c14bb5" /><Relationship Type="http://schemas.openxmlformats.org/officeDocument/2006/relationships/slideMaster" Target="/ppt/slideMasters/slideMaster1.xml" Id="Rb508d58e3a8d46b5" /><Relationship Type="http://schemas.openxmlformats.org/officeDocument/2006/relationships/notesMaster" Target="/ppt/notesMasters/notesMaster1.xml" Id="R9f536faf5c6c413d" /><Relationship Type="http://schemas.openxmlformats.org/officeDocument/2006/relationships/presProps" Target="/ppt/presProps.xml" Id="R8834bbaa68ee4cf8" /><Relationship Type="http://schemas.openxmlformats.org/officeDocument/2006/relationships/tableStyles" Target="/ppt/tableStyles.xml" Id="R1d4ad14256244fb3" /><Relationship Type="http://schemas.openxmlformats.org/officeDocument/2006/relationships/slide" Target="/ppt/slides/slide1.xml" Id="Ra4897272fd6a4d09" /><Relationship Type="http://schemas.openxmlformats.org/officeDocument/2006/relationships/slide" Target="/ppt/slides/slide2.xml" Id="Rfe03cf33d6ce4291" /><Relationship Type="http://schemas.openxmlformats.org/officeDocument/2006/relationships/slide" Target="/ppt/slides/slide3.xml" Id="Re1001bedf45a44b0" /><Relationship Type="http://schemas.openxmlformats.org/officeDocument/2006/relationships/slide" Target="/ppt/slides/slide4.xml" Id="Re709b88dac0545ef" /><Relationship Type="http://schemas.openxmlformats.org/officeDocument/2006/relationships/slide" Target="/ppt/slides/slide5.xml" Id="Rdafef53b572d41f9" /><Relationship Type="http://schemas.openxmlformats.org/officeDocument/2006/relationships/slide" Target="/ppt/slides/slide6.xml" Id="Rba303a592f194a79" /><Relationship Type="http://schemas.openxmlformats.org/officeDocument/2006/relationships/slide" Target="/ppt/slides/slide7.xml" Id="R69920605d6a2446d" /><Relationship Type="http://schemas.openxmlformats.org/officeDocument/2006/relationships/slide" Target="/ppt/slides/slide8.xml" Id="R114f967b9fb048bb" /><Relationship Type="http://schemas.openxmlformats.org/officeDocument/2006/relationships/slide" Target="/ppt/slides/slide9.xml" Id="R5daed13207fa4df6" /><Relationship Type="http://schemas.openxmlformats.org/officeDocument/2006/relationships/slide" Target="/ppt/slides/slide10.xml" Id="R1bed0ded31414e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12886d0d0b40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40a3de1162437a" /><Relationship Type="http://schemas.openxmlformats.org/officeDocument/2006/relationships/notesMaster" Target="/ppt/notesMasters/notesMaster1.xml" Id="R50450c9792c848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f505d8b44442d8" /><Relationship Type="http://schemas.openxmlformats.org/officeDocument/2006/relationships/notesMaster" Target="/ppt/notesMasters/notesMaster1.xml" Id="R3a4fa82170b34d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7f0ec855ae403c" /><Relationship Type="http://schemas.openxmlformats.org/officeDocument/2006/relationships/notesMaster" Target="/ppt/notesMasters/notesMaster1.xml" Id="R1cba4950e93743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b559caac8f4e57" /><Relationship Type="http://schemas.openxmlformats.org/officeDocument/2006/relationships/notesMaster" Target="/ppt/notesMasters/notesMaster1.xml" Id="R322b88d769d143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fc022273494ada" /><Relationship Type="http://schemas.openxmlformats.org/officeDocument/2006/relationships/notesMaster" Target="/ppt/notesMasters/notesMaster1.xml" Id="R963073584ff24f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3e93ece5fe4ca7" /><Relationship Type="http://schemas.openxmlformats.org/officeDocument/2006/relationships/notesMaster" Target="/ppt/notesMasters/notesMaster1.xml" Id="R488f916d8dc246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2f16c61d2d4b19" /><Relationship Type="http://schemas.openxmlformats.org/officeDocument/2006/relationships/notesMaster" Target="/ppt/notesMasters/notesMaster1.xml" Id="R1660c52fc7f34e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f9679f0ba64f9d" /><Relationship Type="http://schemas.openxmlformats.org/officeDocument/2006/relationships/notesMaster" Target="/ppt/notesMasters/notesMaster1.xml" Id="R7f553014ac6241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e8025bf30d40a3" /><Relationship Type="http://schemas.openxmlformats.org/officeDocument/2006/relationships/notesMaster" Target="/ppt/notesMasters/notesMaster1.xml" Id="R5860fd182d5c4d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8f5e85450246be" /><Relationship Type="http://schemas.openxmlformats.org/officeDocument/2006/relationships/notesMaster" Target="/ppt/notesMasters/notesMaster1.xml" Id="R397849e7c94a44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HELIO-SX — Surgical Robotics Evidence Review (Manor AI)..</a:t>
            </a:r>
          </a:p>
          <a:p xmlns:a="http://schemas.openxmlformats.org/drawingml/2006/main">
            <a:r>
              <a:t>- Device image reused from the source deck. All data are fictional demonstration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HELIO-SX — Surgical Robotics Evidence Review (Manor AI)..</a:t>
            </a:r>
          </a:p>
          <a:p xmlns:a="http://schemas.openxmlformats.org/drawingml/2006/main">
            <a:r>
              <a:t>- Fictional demonstration metrics retained and reframed for clarity.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HELIO-SX — Surgical Robotics Evidence Review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HELIO-SX — Surgical Robotics Evidence Review (Manor AI)..</a:t>
            </a:r>
          </a:p>
          <a:p xmlns:a="http://schemas.openxmlformats.org/drawingml/2006/main">
            <a:r>
              <a:t>- Fictional cohort table reconstructed as an editable native 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HELIO-SX — Surgical Robotics Evidence Review (Manor AI)..</a:t>
            </a:r>
          </a:p>
          <a:p xmlns:a="http://schemas.openxmlformats.org/drawingml/2006/main">
            <a:r>
              <a:t>- Fictional setup-time series visualized as an editable native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HELIO-SX — Surgical Robotics Evidence Review (Manor AI)..</a:t>
            </a:r>
          </a:p>
          <a:p xmlns:a="http://schemas.openxmlformats.org/drawingml/2006/main">
            <a:r>
              <a:t>- Fictional learning-curve values visualized as an editable native chart.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HELIO-SX — Surgical Robotics Evidence Review (Manor AI)..</a:t>
            </a:r>
          </a:p>
          <a:p xmlns:a="http://schemas.openxmlformats.org/drawingml/2006/main">
            <a:r>
              <a:t>- Fictional safety indicators retained for design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HELIO-SX — Surgical Robotics Evidence Review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HELIO-SX — Surgical Robotics Evidence Review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Manor source deck: Source deck: HELIO-SX — Surgical Robotics Evidence Review (Manor AI)..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8986393a44f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3f3eb126714957" /><Relationship Type="http://schemas.openxmlformats.org/officeDocument/2006/relationships/slideLayout" Target="/ppt/slideLayouts/slideLayout1.xml" Id="Rcdd6281bb2a34d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d6281bb2a34d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55820cb20b4983" /><Relationship Type="http://schemas.openxmlformats.org/officeDocument/2006/relationships/image" Target="/ppt/media/image.png" Id="R59e7ea100ea44e09" /><Relationship Type="http://schemas.openxmlformats.org/officeDocument/2006/relationships/notesSlide" Target="/ppt/notesSlides/notesSlide1.xml" Id="R7a14685de2f941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5fe2d39824718" /><Relationship Type="http://schemas.openxmlformats.org/officeDocument/2006/relationships/notesSlide" Target="/ppt/notesSlides/notesSlide2.xml" Id="R8fa8dd9c453e4e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d85bdb1ab4eae" /><Relationship Type="http://schemas.openxmlformats.org/officeDocument/2006/relationships/notesSlide" Target="/ppt/notesSlides/notesSlide3.xml" Id="R9beab02ab3ed4f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bbba666f448f4" /><Relationship Type="http://schemas.openxmlformats.org/officeDocument/2006/relationships/notesSlide" Target="/ppt/notesSlides/notesSlide4.xml" Id="R8e6d9286052a40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f3266e9ae4b04" /><Relationship Type="http://schemas.openxmlformats.org/officeDocument/2006/relationships/chart" Target="/ppt/slides/charts/chart1.xml" Id="R900b4c4ea71e4157" /><Relationship Type="http://schemas.openxmlformats.org/officeDocument/2006/relationships/notesSlide" Target="/ppt/notesSlides/notesSlide5.xml" Id="Re97bf8343fbb49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6aa0476d0442d" /><Relationship Type="http://schemas.openxmlformats.org/officeDocument/2006/relationships/chart" Target="/ppt/slides/charts/chart2.xml" Id="Ra71127cabe094a32" /><Relationship Type="http://schemas.openxmlformats.org/officeDocument/2006/relationships/notesSlide" Target="/ppt/notesSlides/notesSlide6.xml" Id="R3e34172fb94a4f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2a4e8cb0a4c9b" /><Relationship Type="http://schemas.openxmlformats.org/officeDocument/2006/relationships/notesSlide" Target="/ppt/notesSlides/notesSlide7.xml" Id="R5d81df1d70a244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f3b5fe4fc4a5d" /><Relationship Type="http://schemas.openxmlformats.org/officeDocument/2006/relationships/notesSlide" Target="/ppt/notesSlides/notesSlide8.xml" Id="R1b57ebba29a345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337d684d5491e" /><Relationship Type="http://schemas.openxmlformats.org/officeDocument/2006/relationships/notesSlide" Target="/ppt/notesSlides/notesSlide9.xml" Id="R0db43071cd9e4d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c2907aaeb42e1" /><Relationship Type="http://schemas.openxmlformats.org/officeDocument/2006/relationships/notesSlide" Target="/ppt/notesSlides/notesSlide10.xml" Id="R1a997c3eb1684a3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0099C8"/>
            </a:solidFill>
          </c:spPr>
          <c:dPt>
            <c:idx val="3"/>
            <c:invertIfNegative val="0"/>
            <c:spPr>
              <a:solidFill xmlns:a="http://schemas.openxmlformats.org/drawingml/2006/main">
                <a:srgbClr val="F06D5E"/>
              </a:solidFill>
            </c:spPr>
          </c:dPt>
          <c:cat>
            <c:strLit>
              <c:ptCount val="4"/>
              <c:pt idx="0">
                <c:v>Run-in A</c:v>
              </c:pt>
              <c:pt idx="1">
                <c:v>Run-in B</c:v>
              </c:pt>
              <c:pt idx="2">
                <c:v>Proctored</c:v>
              </c:pt>
              <c:pt idx="3">
                <c:v>Independent</c:v>
              </c:pt>
            </c:strLit>
          </c:cat>
          <c:val>
            <c:numLit>
              <c:formatCode>General</c:formatCode>
              <c:ptCount val="4"/>
              <c:pt idx="0">
                <c:v>34</c:v>
              </c:pt>
              <c:pt idx="1">
                <c:v>29</c:v>
              </c:pt>
              <c:pt idx="2">
                <c:v>24</c:v>
              </c:pt>
              <c:pt idx="3">
                <c:v>22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6324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E1E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42A3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CE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7C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Setup minutes</c:v>
          </c:tx>
          <c:spPr>
            <a:ln xmlns:a="http://schemas.openxmlformats.org/drawingml/2006/main" w="47625">
              <a:solidFill>
                <a:srgbClr val="0099C8"/>
              </a:solidFill>
            </a:ln>
          </c:spPr>
          <c:marker>
            <c:size val="10"/>
            <c:spPr>
              <a:solidFill xmlns:a="http://schemas.openxmlformats.org/drawingml/2006/main">
                <a:srgbClr val="FFFFFF"/>
              </a:solidFill>
            </c:spPr>
          </c:marker>
          <c:cat>
            <c:strLit>
              <c:ptCount val="5"/>
              <c:pt idx="0">
                <c:v>Case 1</c:v>
              </c:pt>
              <c:pt idx="1">
                <c:v>8</c:v>
              </c:pt>
              <c:pt idx="2">
                <c:v>16</c:v>
              </c:pt>
              <c:pt idx="3">
                <c:v>24</c:v>
              </c:pt>
              <c:pt idx="4">
                <c:v>32</c:v>
              </c:pt>
            </c:strLit>
          </c:cat>
          <c:val>
            <c:numLit>
              <c:formatCode>General</c:formatCode>
              <c:ptCount val="5"/>
              <c:pt idx="0">
                <c:v>52</c:v>
              </c:pt>
              <c:pt idx="1">
                <c:v>44</c:v>
              </c:pt>
              <c:pt idx="2">
                <c:v>39</c:v>
              </c:pt>
              <c:pt idx="3">
                <c:v>36</c:v>
              </c:pt>
              <c:pt idx="4">
                <c:v>35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3617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C7D7D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6"/>
          <c:min val="3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1506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C7D7DE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163244"/>
        </a:solidFill>
      </c:spPr>
    </c:plotArea>
    <c:plotVisOnly val="1"/>
  </c:chart>
  <c:spPr>
    <a:solidFill xmlns:a="http://schemas.openxmlformats.org/drawingml/2006/main">
      <a:srgbClr val="163244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7ea100ea44e09"/>
          <a:srcRect xmlns:a="http://schemas.openxmlformats.org/drawingml/2006/main" l="26550" t="0" r="265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185FF-8ED4-478B-B0D8-0717F4F6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00BA0-C010-4E7A-B781-996F3A65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FICTIONAL SURGICAL ROBOTICS CONFERENCE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4154A3-5B70-46C0-9CDC-7141D4F6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HELIO-SX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47A96-52D1-4569-AA60-69A812AF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0" i="0">
                <a:solidFill>
                  <a:srgbClr val="163244"/>
                </a:solidFill>
                <a:latin typeface="Arial"/>
                <a:ea typeface="Arial"/>
                <a:cs typeface="Arial"/>
              </a:defRPr>
            </a:pPr>
            <a:r>
              <a:rPr sz="3150" b="0" i="0">
                <a:solidFill>
                  <a:srgbClr val="163244"/>
                </a:solidFill>
                <a:latin typeface="Arial"/>
                <a:ea typeface="Arial"/>
                <a:cs typeface="Arial"/>
              </a:rPr>
              <a:t>Evidence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F2D26-EF1B-43BC-B261-77C61DD1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2100" b="0" i="0">
                <a:solidFill>
                  <a:srgbClr val="5B6971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B6971"/>
                </a:solidFill>
                <a:latin typeface="Arial"/>
                <a:ea typeface="Arial"/>
                <a:cs typeface="Arial"/>
              </a:rPr>
              <a:t>Workflow reliability before outcome claims.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D337E-6908-44FA-80D4-3B31C928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981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8"/>
          </a:solidFill>
          <a:ln xmlns:a="http://schemas.openxmlformats.org/drawingml/2006/main" w="19050">
            <a:solidFill>
              <a:srgbClr val="009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44773-E038-4ADA-9352-6426F3AB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DISCUSSION DECK</a:t>
            </a:r>
          </a:p>
        </p:txBody>
      </p:sp>
    </p:spTree>
    <p:extLst>
      <p:ext uri="{BB962C8B-B14F-4D97-AF65-F5344CB8AC3E}">
        <p14:creationId xmlns:p14="http://schemas.microsoft.com/office/powerpoint/2010/main" val="1744325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13620-24AF-4DF1-BFB1-7929D51F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OBSERVED VARIABILITY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E630D-F0A3-4CD8-A847-9B0323DC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Friction clusters before docking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398F8-6936-4B19-8D05-C70D5CB5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E1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1AB2F-55CB-4B54-B278-F78C5427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074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47F"/>
                </a:solidFill>
                <a:latin typeface="Arial"/>
                <a:ea typeface="Arial"/>
                <a:cs typeface="Arial"/>
              </a:rPr>
              <a:t>HELIO-SX EVIDENCE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B78E1-8430-4626-B720-DEA4F4CC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1477E-8DFF-4C24-9D61-57A91D7C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22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08CBD-5BE1-4A9B-AAEB-FE971791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4747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7C"/>
                </a:solidFill>
                <a:latin typeface="Arial"/>
                <a:ea typeface="Arial"/>
                <a:cs typeface="Arial"/>
              </a:rPr>
              <a:t>median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86E7D-DBE3-411B-AC99-817629F9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907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31%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FE7C6-19C5-45D8-83C1-BA0E026E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38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4747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7C"/>
                </a:solidFill>
                <a:latin typeface="Arial"/>
                <a:ea typeface="Arial"/>
                <a:cs typeface="Arial"/>
              </a:rPr>
              <a:t>repeat confirmation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1194B-8465-45B2-855D-CC708880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18%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7A272-051A-41E7-9F8E-1CA01C7E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64747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4747C"/>
                </a:solidFill>
                <a:latin typeface="Arial"/>
                <a:ea typeface="Arial"/>
                <a:cs typeface="Arial"/>
              </a:rPr>
              <a:t>handoff gap</a:t>
            </a:r>
          </a:p>
        </p:txBody>
      </p:sp>
      <p:sp>
        <p:nvSpPr>
          <p:cNvPr id="12" name="14">
            <a:extLst xmlns:a="http://schemas.openxmlformats.org/drawingml/2006/main">
              <a:ext uri="{FF2B5EF4-FFF2-40B4-BE49-F238E27FC236}">
                <a16:creationId xmlns:a16="http://schemas.microsoft.com/office/drawing/2014/main" id="{A20A3401-8EDC-49EA-9838-71C98BDF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58102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1F6F8"/>
          </a:solidFill>
          <a:ln xmlns:a="http://schemas.openxmlformats.org/drawingml/2006/main" w="9525">
            <a:solidFill>
              <a:srgbClr val="D4E1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6F1B4-FF02-4972-AE2A-54CBB65F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16324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63244"/>
                </a:solidFill>
                <a:latin typeface="Arial"/>
                <a:ea typeface="Arial"/>
                <a:cs typeface="Arial"/>
              </a:rPr>
              <a:t>WORKFLOW FRICTION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F3425-9582-43DD-A66F-16CE9F1A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50292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000"/>
              </a:lnSpc>
              <a:buNone/>
              <a:defRPr sz="1500" b="0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• Repeated docking confirmation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500" b="0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• Setup variation obscures learning</a:t>
            </a:r>
          </a:p>
          <a:p xmlns:a="http://schemas.openxmlformats.org/drawingml/2006/main">
            <a:pPr algn="l">
              <a:lnSpc>
                <a:spcPct val="134000"/>
              </a:lnSpc>
              <a:buNone/>
              <a:defRPr sz="1500" b="0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• Handoffs are inconsistently captured</a:t>
            </a:r>
          </a:p>
        </p:txBody>
      </p:sp>
      <p:sp>
        <p:nvSpPr>
          <p:cNvPr id="15" name="14">
            <a:extLst xmlns:a="http://schemas.openxmlformats.org/drawingml/2006/main">
              <a:ext uri="{FF2B5EF4-FFF2-40B4-BE49-F238E27FC236}">
                <a16:creationId xmlns:a16="http://schemas.microsoft.com/office/drawing/2014/main" id="{DBBD973F-28A9-43FB-8234-EC5ECEF1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00450"/>
            <a:ext cx="493395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9F6FA"/>
          </a:solidFill>
          <a:ln xmlns:a="http://schemas.openxmlformats.org/drawingml/2006/main" w="19050">
            <a:solidFill>
              <a:srgbClr val="0099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17933-55DF-4419-98BF-FD86268C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67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4F92E-5509-46E3-ACFA-071B641E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24350"/>
            <a:ext cx="4133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 i="0">
                <a:solidFill>
                  <a:srgbClr val="16324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63244"/>
                </a:solidFill>
                <a:latin typeface="Arial"/>
                <a:ea typeface="Arial"/>
                <a:cs typeface="Arial"/>
              </a:rPr>
              <a:t>Variation appears pre-incision. Review team choreography and device readiness separately.</a:t>
            </a:r>
          </a:p>
        </p:txBody>
      </p:sp>
    </p:spTree>
    <p:extLst>
      <p:ext uri="{BB962C8B-B14F-4D97-AF65-F5344CB8AC3E}">
        <p14:creationId xmlns:p14="http://schemas.microsoft.com/office/powerpoint/2010/main" val="542637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32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971D3-4C59-4E7A-B102-86976C87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LEARNING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A61FE-243F-40A2-B063-AAC19F1A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628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 the system,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 just the surgeon.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12B47-5D6D-49EE-BB12-78651A54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8B25C-FD51-4A50-BDAD-1F5E2BCA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6FD07-B01D-4E28-9B53-D255DD01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09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BFD1D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FD1D9"/>
                </a:solidFill>
                <a:latin typeface="Arial"/>
                <a:ea typeface="Arial"/>
                <a:cs typeface="Arial"/>
              </a:rPr>
              <a:t>role choreography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854253-3E8F-4072-8367-99F02834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46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9C005-FFD8-4AD9-A254-E7BBAF1D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6FB05-3308-4B2C-AD04-9B05D168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76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804AF-338B-4F32-B7BE-26E9363D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BFD1D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FD1D9"/>
                </a:solidFill>
                <a:latin typeface="Arial"/>
                <a:ea typeface="Arial"/>
                <a:cs typeface="Arial"/>
              </a:rPr>
              <a:t>readiness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A7C53-13DE-46C4-840C-814C349D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576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4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5F29C-1646-490F-9A02-19EED18D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6E52D-CFA7-486D-ADFA-27FB1C6B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92A76-FC0B-4A12-8B10-2D4D33F4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43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BFD1D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FD1D9"/>
                </a:solidFill>
                <a:latin typeface="Arial"/>
                <a:ea typeface="Arial"/>
                <a:cs typeface="Arial"/>
              </a:rPr>
              <a:t>local protocol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F7F57-F38E-4DD0-893F-50C4F403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4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F41C8-24D3-462B-B2E1-62B71F1F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911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DCB26-B9B9-4EC6-B3D5-3F0DB4CF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01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F4B9E-8A13-45A3-898D-9EB6E35A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BFD1D9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FD1D9"/>
                </a:solidFill>
                <a:latin typeface="Arial"/>
                <a:ea typeface="Arial"/>
                <a:cs typeface="Arial"/>
              </a:rPr>
              <a:t>clinical complexity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4E2B0-5BB0-483D-A9AC-9036F7AF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514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46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6CD02C-B011-482A-A2BD-2C0808C1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763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4359"/>
          </a:solidFill>
          <a:ln xmlns:a="http://schemas.openxmlformats.org/drawingml/2006/main" w="38100">
            <a:solidFill>
              <a:srgbClr val="0099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F64750-33C1-4B80-9D14-A54D182B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05050"/>
            <a:ext cx="314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8156EA-1F4C-404B-B8C7-9BB52849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57500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9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DA0A86-83B4-4CA1-BE1A-C92C0F52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8575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99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BDB14-802A-49A7-A3C3-3F436F38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074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47F"/>
                </a:solidFill>
                <a:latin typeface="Arial"/>
                <a:ea typeface="Arial"/>
                <a:cs typeface="Arial"/>
              </a:rPr>
              <a:t>HELIO-SX EVIDENCE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33ED6-5CB5-410F-B171-91913494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</p:spTree>
    <p:extLst>
      <p:ext uri="{BB962C8B-B14F-4D97-AF65-F5344CB8AC3E}">
        <p14:creationId xmlns:p14="http://schemas.microsoft.com/office/powerpoint/2010/main" val="124052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98C2D-2AFC-43C2-B820-F1028136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PROSPECTIVE COHORT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DEC1E-EE00-4FF1-8BD9-025700B4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Capture design answers four review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A4573-313B-4AA9-869C-53649F42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E1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8442E-D601-4B00-8D10-B05F55F3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074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47F"/>
                </a:solidFill>
                <a:latin typeface="Arial"/>
                <a:ea typeface="Arial"/>
                <a:cs typeface="Arial"/>
              </a:rPr>
              <a:t>HELIO-SX EVIDENCE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7B378-BC72-40D3-A97D-A37C6A4D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2247900"/>
          <a:ext xmlns:a="http://schemas.openxmlformats.org/drawingml/2006/main" cx="110871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333500"/>
                <a:gridCol w="1809750"/>
                <a:gridCol w="2667000"/>
                <a:gridCol w="3467100"/>
              </a:tblGrid>
              <a:tr h="56007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Element</a:t>
                      </a:r>
                    </a:p>
                  </a:txBody>
                  <a:tcPr marL="133350" marR="95250" marT="76200" marB="57150">
                    <a:solidFill>
                      <a:srgbClr val="16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 marL="133350" marR="95250" marT="76200" marB="57150">
                    <a:solidFill>
                      <a:srgbClr val="16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 marL="133350" marR="95250" marT="76200" marB="57150">
                    <a:solidFill>
                      <a:srgbClr val="16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Capture method</a:t>
                      </a:r>
                    </a:p>
                  </a:txBody>
                  <a:tcPr marL="133350" marR="95250" marT="76200" marB="57150">
                    <a:solidFill>
                      <a:srgbClr val="163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Review purpose</a:t>
                      </a:r>
                    </a:p>
                  </a:txBody>
                  <a:tcPr marL="133350" marR="95250" marT="76200" marB="57150">
                    <a:solidFill>
                      <a:srgbClr val="163244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Cases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99C8"/>
                          </a:solidFill>
                        </a:rPr>
                        <a:t>64</a:t>
                      </a:r>
                    </a:p>
                  </a:txBody>
                  <a:tcPr marL="133350" marR="95250" marT="76200" marB="57150">
                    <a:solidFill>
                      <a:srgbClr val="EA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procedures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site log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feasibility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Sites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99C8"/>
                          </a:solidFill>
                        </a:rPr>
                        <a:t>4</a:t>
                      </a:r>
                    </a:p>
                  </a:txBody>
                  <a:tcPr marL="133350" marR="95250" marT="76200" marB="57150">
                    <a:solidFill>
                      <a:srgbClr val="EA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hospitals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protocol file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generalizability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Run-in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99C8"/>
                          </a:solidFill>
                        </a:rPr>
                        <a:t>8</a:t>
                      </a:r>
                    </a:p>
                  </a:txBody>
                  <a:tcPr marL="133350" marR="95250" marT="76200" marB="57150">
                    <a:solidFill>
                      <a:srgbClr val="EA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cases / site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training log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learning effect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Follow-up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99C8"/>
                          </a:solidFill>
                        </a:rPr>
                        <a:t>30</a:t>
                      </a:r>
                    </a:p>
                  </a:txBody>
                  <a:tcPr marL="133350" marR="95250" marT="76200" marB="57150">
                    <a:solidFill>
                      <a:srgbClr val="EA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days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chart review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42A30"/>
                          </a:solidFill>
                        </a:rPr>
                        <a:t>safety screen</a:t>
                      </a:r>
                    </a:p>
                  </a:txBody>
                  <a:tcPr marL="133350" marR="95250" marT="76200" marB="57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16C57-A6BC-48BE-B92A-0CEE3D34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 i="0">
                <a:solidFill>
                  <a:srgbClr val="64747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4747C"/>
                </a:solidFill>
                <a:latin typeface="Arial"/>
                <a:ea typeface="Arial"/>
                <a:cs typeface="Arial"/>
              </a:rPr>
              <a:t>All entries are fictional demonstration data for template layout only.</a:t>
            </a:r>
          </a:p>
        </p:txBody>
      </p:sp>
    </p:spTree>
    <p:extLst>
      <p:ext uri="{BB962C8B-B14F-4D97-AF65-F5344CB8AC3E}">
        <p14:creationId xmlns:p14="http://schemas.microsoft.com/office/powerpoint/2010/main" val="486324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9DBC3-F652-4ABB-A3C0-606D4D34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SETUP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A233A-7C4F-49AE-955F-A6C6FE9E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Experience compresses docking variability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0E0FE-6624-4B8E-BEC6-C2764788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E1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8AEA45-25B9-450D-BB82-3099D602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074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47F"/>
                </a:solidFill>
                <a:latin typeface="Arial"/>
                <a:ea typeface="Arial"/>
                <a:cs typeface="Arial"/>
              </a:rPr>
              <a:t>HELIO-SX EVIDENCE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CE093-46F1-48BB-A396-12565232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2152650"/>
          <a:ext xmlns:a="http://schemas.openxmlformats.org/drawingml/2006/main" cx="74295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0b4c4ea71e4157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835B9-F484-4B96-B430-B12F3FB7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 i="0">
                <a:solidFill>
                  <a:srgbClr val="F06D5E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06D5E"/>
                </a:solidFill>
                <a:latin typeface="Arial"/>
                <a:ea typeface="Arial"/>
                <a:cs typeface="Arial"/>
              </a:rPr>
              <a:t>22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F88A2-22AB-467F-A08F-8E835BD5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243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500" b="0" i="0">
                <a:solidFill>
                  <a:srgbClr val="16324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63244"/>
                </a:solidFill>
                <a:latin typeface="Arial"/>
                <a:ea typeface="Arial"/>
                <a:cs typeface="Arial"/>
              </a:rPr>
              <a:t>illustrative independent-phase median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FB6E3-0716-40B1-B74B-1682B705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51485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06D5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0287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32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81594-B9BC-418C-858B-1293F794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LEARNING CURVE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861A7-9DFD-4DD3-A32D-7C801EF7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curve flattens; the review question changes.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590550" y="2076450"/>
          <a:ext xmlns:a="http://schemas.openxmlformats.org/drawingml/2006/main" cx="7239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1127cabe094a3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07670-2781-44A6-B532-E0D6E07F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38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AFTER CASE 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4B801-9CC4-4EDD-BEC7-29322BB8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48000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7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Shift from speed to consistency, evidence completeness, and escalation discipline.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E173C-4D34-4710-8C31-B401006A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074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47F"/>
                </a:solidFill>
                <a:latin typeface="Arial"/>
                <a:ea typeface="Arial"/>
                <a:cs typeface="Arial"/>
              </a:rPr>
              <a:t>HELIO-SX EVIDENCE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12753-1119-4BC4-BE18-1B761049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</p:spTree>
    <p:extLst>
      <p:ext uri="{BB962C8B-B14F-4D97-AF65-F5344CB8AC3E}">
        <p14:creationId xmlns:p14="http://schemas.microsoft.com/office/powerpoint/2010/main" val="1871763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2F8FDE-12C9-44ED-98D5-4B311BFB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SAFETY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770D0-1D92-4887-849D-60D9A23B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Adjudicate signals before attributing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F0D61-FB2D-4E36-BE45-10A27E37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E1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6253F-3044-4EED-AF1D-C877B944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074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47F"/>
                </a:solidFill>
                <a:latin typeface="Arial"/>
                <a:ea typeface="Arial"/>
                <a:cs typeface="Arial"/>
              </a:rPr>
              <a:t>HELIO-SX EVIDENCE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570EE-E960-42B9-BACE-530D2461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3AA813-045C-4BE8-B492-06C26DA1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099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FF908-4CC6-4435-B266-B65A7C67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2EB70-0DB8-4719-9DD1-382CA3DD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CONVERSIONS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8727F-B956-459D-8DF0-14050973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33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66777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77F"/>
                </a:solidFill>
                <a:latin typeface="Arial"/>
                <a:ea typeface="Arial"/>
                <a:cs typeface="Arial"/>
              </a:rPr>
              <a:t>not attributed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F3255-C53D-4E9E-B49D-C1B03BAC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099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091AE-E01E-4AF1-AD9F-3C392DAF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765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B7C87A-660E-43D5-95F7-4D0FF1F5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95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READMISSIONS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A5782-C0B0-4E6B-A785-AC68C6AB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33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66777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77F"/>
                </a:solidFill>
                <a:latin typeface="Arial"/>
                <a:ea typeface="Arial"/>
                <a:cs typeface="Arial"/>
              </a:rPr>
              <a:t>30-day window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845B2-EB6C-4B22-A6DA-3FA64AED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06D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0CE9C7-9211-46B6-B351-5BFAE388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F06D5E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06D5E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71767-F8CA-4D66-A36B-9F0D53EE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DEVICE PAUSES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2D10F-CDBA-453B-9194-A1726171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33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66777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77F"/>
                </a:solidFill>
                <a:latin typeface="Arial"/>
                <a:ea typeface="Arial"/>
                <a:cs typeface="Arial"/>
              </a:rPr>
              <a:t>intraoperative log</a:t>
            </a:r>
          </a:p>
        </p:txBody>
      </p:sp>
      <p:sp>
        <p:nvSpPr>
          <p:cNvPr id="18" name="14">
            <a:extLst xmlns:a="http://schemas.openxmlformats.org/drawingml/2006/main">
              <a:ext uri="{FF2B5EF4-FFF2-40B4-BE49-F238E27FC236}">
                <a16:creationId xmlns:a16="http://schemas.microsoft.com/office/drawing/2014/main" id="{205DA45B-C5DE-4BE2-9A26-594777EE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10871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D4E1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F7466-D50B-4EB2-9736-62021272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2C394-6854-44FC-8275-CACB9296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05375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6324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63244"/>
                </a:solidFill>
                <a:latin typeface="Arial"/>
                <a:ea typeface="Arial"/>
                <a:cs typeface="Arial"/>
              </a:rPr>
              <a:t>Review pause events separately from patient outcomes; use blinded adjudication for all three signals.</a:t>
            </a:r>
          </a:p>
        </p:txBody>
      </p:sp>
    </p:spTree>
    <p:extLst>
      <p:ext uri="{BB962C8B-B14F-4D97-AF65-F5344CB8AC3E}">
        <p14:creationId xmlns:p14="http://schemas.microsoft.com/office/powerpoint/2010/main" val="10779805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A50963-4C2F-40C4-86D2-ABD142E7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AUDITABLE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6E188-B72D-4C16-AFE7-7133C1FD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Evidence follows the handoff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1352D-96E3-42EB-A794-7F07CDF5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E1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50057-02DB-49D8-9DEE-B1A0CC0C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074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47F"/>
                </a:solidFill>
                <a:latin typeface="Arial"/>
                <a:ea typeface="Arial"/>
                <a:cs typeface="Arial"/>
              </a:rPr>
              <a:t>HELIO-SX EVIDENCE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0F8249-8CD8-49EE-AAD7-076737CE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C7E7A-AE82-40AE-873E-B94160B8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99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15537-7F13-423F-A4B4-A1A3C576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99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CE9B8-1468-40DF-8635-04BAD5B1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E8293-0256-4F7C-9DDA-C522863B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9433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ROOM 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B17E8-FF15-4DD5-A14C-F03B9710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067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99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8CF7B-AD97-4C90-A924-BBB08D46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20992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FCCA00-DFE4-4004-9846-05807908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9433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DOCKING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08ABA-4F6B-47FF-9CF8-9C536209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67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99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1DBFB-81CF-4A8A-9847-E6394389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20992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366A3-395F-4F60-8D9A-DC2A71EE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433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CONSOLE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97375-EB16-4CF5-91E2-F2ED3421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67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99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4E128-7DDD-425E-AF49-1EBE80EA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20992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3DA4C-F081-406F-BFE9-2D3B5906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433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EXCHANGE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66DA5-E8F2-4D2C-A21E-28C4E50A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67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D5E"/>
          </a:solidFill>
          <a:ln xmlns:a="http://schemas.openxmlformats.org/drawingml/2006/main" w="38100">
            <a:solidFill>
              <a:srgbClr val="F06D5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1946A-3B5D-4664-A007-ED993CD0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9925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8B90B-1D5C-4B22-9BFE-D2483027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433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UNDOCK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4B0EB-1F75-4791-AF6C-B9084B73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CAPTURE LAYER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9AAF31-3223-4FEE-AC5B-79486EE3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149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6324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63244"/>
                </a:solidFill>
                <a:latin typeface="Arial"/>
                <a:ea typeface="Arial"/>
                <a:cs typeface="Arial"/>
              </a:rPr>
              <a:t>Time stamps  ·  pause reasons  ·  instrument exchanges  ·  handoff owner</a:t>
            </a:r>
          </a:p>
        </p:txBody>
      </p:sp>
    </p:spTree>
    <p:extLst>
      <p:ext uri="{BB962C8B-B14F-4D97-AF65-F5344CB8AC3E}">
        <p14:creationId xmlns:p14="http://schemas.microsoft.com/office/powerpoint/2010/main" val="6842150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32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E91FC-4903-4977-95B0-9217A165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VALIDATION FRAME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BCA34-64E7-45E7-897E-512ED185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questions. Three evidence lanes.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7B270-8814-4068-A4F1-2397BE33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AB6C86-48E2-44D8-90CD-4F6331C3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05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WORKFLOW RELIABILITY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894D3-8C54-461D-B1AE-40E23BD2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05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C2D4D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C2D4DC"/>
                </a:solidFill>
                <a:latin typeface="Arial"/>
                <a:ea typeface="Arial"/>
                <a:cs typeface="Arial"/>
              </a:rPr>
              <a:t>Are roles and states consistent?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EDC7E-4108-47B1-AE54-4FA4F843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575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5B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223E8D-A60D-4F66-8FAA-1DB7AC81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9090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B29FF-EE52-49B7-BB19-C8482008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29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 EFFECT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2DBC1-399B-46D8-94BE-A553D223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290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C2D4D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C2D4DC"/>
                </a:solidFill>
                <a:latin typeface="Arial"/>
                <a:ea typeface="Arial"/>
                <a:cs typeface="Arial"/>
              </a:rPr>
              <a:t>Does performance stabilize by phase?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5ECFB-5855-4086-8E26-7CBDCD69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814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5B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9A7BC-B0DD-4714-BA73-BAA53917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838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06D5E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06D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1092B-4844-4191-8DD4-AAFD19CB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529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2F33F-877A-4348-A7EA-99FA9375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52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C2D4DC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C2D4DC"/>
                </a:solidFill>
                <a:latin typeface="Arial"/>
                <a:ea typeface="Arial"/>
                <a:cs typeface="Arial"/>
              </a:rPr>
              <a:t>Are signals independently adjudicated?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D5402-C369-4953-B7A8-B8433285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054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5B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12C303-0C72-47A9-B89C-1BB7956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074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47F"/>
                </a:solidFill>
                <a:latin typeface="Arial"/>
                <a:ea typeface="Arial"/>
                <a:cs typeface="Arial"/>
              </a:rPr>
              <a:t>HELIO-SX EVIDENCE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4AA17-4370-4362-A95D-290AD7D4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</p:spTree>
    <p:extLst>
      <p:ext uri="{BB962C8B-B14F-4D97-AF65-F5344CB8AC3E}">
        <p14:creationId xmlns:p14="http://schemas.microsoft.com/office/powerpoint/2010/main" val="665655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0B5B5-7D0B-453F-8D80-00CAA50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F8329F-E5D7-4325-89CE-A4AD3C3F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85D09-1DEB-494A-BAD8-E9DBDE6B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52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200" b="1" i="0">
                <a:solidFill>
                  <a:srgbClr val="242A30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242A30"/>
                </a:solidFill>
                <a:latin typeface="Arial"/>
                <a:ea typeface="Arial"/>
                <a:cs typeface="Arial"/>
              </a:rPr>
              <a:t>Treat HELIO-SX evidence as a workflow study first.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D786D-FEFF-43A6-B0DC-AC4D963D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23D43-7CC0-4926-B20B-B630E742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6324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3244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57F82-FC89-4B95-BF3F-E6136A96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6172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1727A"/>
                </a:solidFill>
                <a:latin typeface="Arial"/>
                <a:ea typeface="Arial"/>
                <a:cs typeface="Arial"/>
              </a:rPr>
              <a:t>discussion around workflow states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BE9AC-D141-49D3-A93A-84CA907A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00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76630F-A790-45D2-9D2E-F0E69A3D4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0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6324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3244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E19B5-BFDE-4AFE-B7D2-3B96D1B2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67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6172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1727A"/>
                </a:solidFill>
                <a:latin typeface="Arial"/>
                <a:ea typeface="Arial"/>
                <a:cs typeface="Arial"/>
              </a:rPr>
              <a:t>missing or inconsistent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0B07D-396D-4B85-B6CF-E6198D20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00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F06D5E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06D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54E15-D511-4611-8AB5-2724A37C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10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16324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63244"/>
                </a:solidFill>
                <a:latin typeface="Arial"/>
                <a:ea typeface="Arial"/>
                <a:cs typeface="Arial"/>
              </a:rPr>
              <a:t>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C1523-17FE-4926-899C-08A20526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672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 i="0">
                <a:solidFill>
                  <a:srgbClr val="6172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1727A"/>
                </a:solidFill>
                <a:latin typeface="Arial"/>
                <a:ea typeface="Arial"/>
                <a:cs typeface="Arial"/>
              </a:rPr>
              <a:t>the next protocol and review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92BFB-B063-4B9A-BAAA-DDD79D91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 i="0">
                <a:solidFill>
                  <a:srgbClr val="60747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0747F"/>
                </a:solidFill>
                <a:latin typeface="Arial"/>
                <a:ea typeface="Arial"/>
                <a:cs typeface="Arial"/>
              </a:rPr>
              <a:t>HELIO-SX EVIDENCE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5246E-C0B5-4148-AC32-CA577837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2865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 i="0">
                <a:solidFill>
                  <a:srgbClr val="0099C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0099C8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678818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2026-08-11T11:26:15.8980000Z</dcterms:created>
  <dcterms:modified xsi:type="dcterms:W3CDTF">2026-08-11T11:26:15.8980000Z</dcterms:modified>
</coreProperties>
</file>