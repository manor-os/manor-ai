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85d78f8e04b3e" /><Relationship Type="http://schemas.openxmlformats.org/officeDocument/2006/relationships/extended-properties" Target="/docProps/app.xml" Id="R5ca5038423df4ef1" /><Relationship Type="http://schemas.openxmlformats.org/officeDocument/2006/relationships/officeDocument" Target="/ppt/presentation.xml" Id="R95d609a321af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110852f6c84f89"/>
  </p:sldMasterIdLst>
  <p:notesMasterIdLst>
    <p:notesMasterId xmlns:r="http://schemas.openxmlformats.org/officeDocument/2006/relationships" r:id="R10ecce6897514ec1"/>
  </p:notesMasterIdLst>
  <p:sldIdLst>
    <p:sldId xmlns:r="http://schemas.openxmlformats.org/officeDocument/2006/relationships" id="256" r:id="R421b0efde9fa46a5"/>
    <p:sldId xmlns:r="http://schemas.openxmlformats.org/officeDocument/2006/relationships" id="257" r:id="R2555c4e1dd95497e"/>
    <p:sldId xmlns:r="http://schemas.openxmlformats.org/officeDocument/2006/relationships" id="258" r:id="R8e62770850e74d96"/>
    <p:sldId xmlns:r="http://schemas.openxmlformats.org/officeDocument/2006/relationships" id="259" r:id="Rc4c35214034a4ebc"/>
    <p:sldId xmlns:r="http://schemas.openxmlformats.org/officeDocument/2006/relationships" id="260" r:id="R59bb981a26734d38"/>
    <p:sldId xmlns:r="http://schemas.openxmlformats.org/officeDocument/2006/relationships" id="261" r:id="R0727344a85f049cb"/>
    <p:sldId xmlns:r="http://schemas.openxmlformats.org/officeDocument/2006/relationships" id="262" r:id="R5726487bae5847c4"/>
    <p:sldId xmlns:r="http://schemas.openxmlformats.org/officeDocument/2006/relationships" id="263" r:id="Rd305e49b80934f0a"/>
    <p:sldId xmlns:r="http://schemas.openxmlformats.org/officeDocument/2006/relationships" id="264" r:id="Rf3c61977304b4e62"/>
    <p:sldId xmlns:r="http://schemas.openxmlformats.org/officeDocument/2006/relationships" id="265" r:id="R2fc5ede327d541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92dbcd295c4a58" /><Relationship Type="http://schemas.openxmlformats.org/officeDocument/2006/relationships/slideMaster" Target="/ppt/slideMasters/slideMaster1.xml" Id="Rbf110852f6c84f89" /><Relationship Type="http://schemas.openxmlformats.org/officeDocument/2006/relationships/notesMaster" Target="/ppt/notesMasters/notesMaster1.xml" Id="R10ecce6897514ec1" /><Relationship Type="http://schemas.openxmlformats.org/officeDocument/2006/relationships/presProps" Target="/ppt/presProps.xml" Id="Rf1bd491befb147e1" /><Relationship Type="http://schemas.openxmlformats.org/officeDocument/2006/relationships/tableStyles" Target="/ppt/tableStyles.xml" Id="Rdc8088e447034a11" /><Relationship Type="http://schemas.openxmlformats.org/officeDocument/2006/relationships/slide" Target="/ppt/slides/slide1.xml" Id="R421b0efde9fa46a5" /><Relationship Type="http://schemas.openxmlformats.org/officeDocument/2006/relationships/slide" Target="/ppt/slides/slide2.xml" Id="R2555c4e1dd95497e" /><Relationship Type="http://schemas.openxmlformats.org/officeDocument/2006/relationships/slide" Target="/ppt/slides/slide3.xml" Id="R8e62770850e74d96" /><Relationship Type="http://schemas.openxmlformats.org/officeDocument/2006/relationships/slide" Target="/ppt/slides/slide4.xml" Id="Rc4c35214034a4ebc" /><Relationship Type="http://schemas.openxmlformats.org/officeDocument/2006/relationships/slide" Target="/ppt/slides/slide5.xml" Id="R59bb981a26734d38" /><Relationship Type="http://schemas.openxmlformats.org/officeDocument/2006/relationships/slide" Target="/ppt/slides/slide6.xml" Id="R0727344a85f049cb" /><Relationship Type="http://schemas.openxmlformats.org/officeDocument/2006/relationships/slide" Target="/ppt/slides/slide7.xml" Id="R5726487bae5847c4" /><Relationship Type="http://schemas.openxmlformats.org/officeDocument/2006/relationships/slide" Target="/ppt/slides/slide8.xml" Id="Rd305e49b80934f0a" /><Relationship Type="http://schemas.openxmlformats.org/officeDocument/2006/relationships/slide" Target="/ppt/slides/slide9.xml" Id="Rf3c61977304b4e62" /><Relationship Type="http://schemas.openxmlformats.org/officeDocument/2006/relationships/slide" Target="/ppt/slides/slide10.xml" Id="R2fc5ede327d541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cc79d49b5c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407c3aa6d143ea" /><Relationship Type="http://schemas.openxmlformats.org/officeDocument/2006/relationships/notesMaster" Target="/ppt/notesMasters/notesMaster1.xml" Id="R574a3f0be0af4a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6974bddee41df" /><Relationship Type="http://schemas.openxmlformats.org/officeDocument/2006/relationships/notesMaster" Target="/ppt/notesMasters/notesMaster1.xml" Id="R6f5b5b1f053a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00be9f91384a9b" /><Relationship Type="http://schemas.openxmlformats.org/officeDocument/2006/relationships/notesMaster" Target="/ppt/notesMasters/notesMaster1.xml" Id="R15775574515149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c5f05957de41e0" /><Relationship Type="http://schemas.openxmlformats.org/officeDocument/2006/relationships/notesMaster" Target="/ppt/notesMasters/notesMaster1.xml" Id="Rb3e18e1ab5cb4d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cf123dc970416b" /><Relationship Type="http://schemas.openxmlformats.org/officeDocument/2006/relationships/notesMaster" Target="/ppt/notesMasters/notesMaster1.xml" Id="R302f27637bc5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b4f61f382742c9" /><Relationship Type="http://schemas.openxmlformats.org/officeDocument/2006/relationships/notesMaster" Target="/ppt/notesMasters/notesMaster1.xml" Id="Rbe10f864ae8c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ace7f4de7245da" /><Relationship Type="http://schemas.openxmlformats.org/officeDocument/2006/relationships/notesMaster" Target="/ppt/notesMasters/notesMaster1.xml" Id="Rcf80acc162234e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8c39a19e3b4cbe" /><Relationship Type="http://schemas.openxmlformats.org/officeDocument/2006/relationships/notesMaster" Target="/ppt/notesMasters/notesMaster1.xml" Id="R574c643ce6a94b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6a16b339b14232" /><Relationship Type="http://schemas.openxmlformats.org/officeDocument/2006/relationships/notesMaster" Target="/ppt/notesMasters/notesMaster1.xml" Id="R38f59fc76b094b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035bfc29d04c1f" /><Relationship Type="http://schemas.openxmlformats.org/officeDocument/2006/relationships/notesMaster" Target="/ppt/notesMasters/notesMaster1.xml" Id="Re38be55cf0c7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  <a:p xmlns:a="http://schemas.openxmlformats.org/drawingml/2006/main">
            <a:r>
              <a:t>- Exterior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  <a:p xmlns:a="http://schemas.openxmlformats.org/drawingml/2006/main">
            <a:r>
              <a:t>- Exterior approach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  <a:p xmlns:a="http://schemas.openxmlformats.org/drawingml/2006/main">
            <a:r>
              <a:t>- Detail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  <a:p xmlns:a="http://schemas.openxmlformats.org/drawingml/2006/main">
            <a:r>
              <a:t>- Interior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  <a:p xmlns:a="http://schemas.openxmlformats.org/drawingml/2006/main">
            <a:r>
              <a:t>- Dusk exterior photograph reused from the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MONOLITH HOUSE — Architecture Monograph.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ea996c66343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e2ef681d8a4b7e" /><Relationship Type="http://schemas.openxmlformats.org/officeDocument/2006/relationships/slideLayout" Target="/ppt/slideLayouts/slideLayout1.xml" Id="Rd342353fc4f9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42353fc4f9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a55d5fe084f84" /><Relationship Type="http://schemas.openxmlformats.org/officeDocument/2006/relationships/image" Target="/ppt/media/image.png" Id="Rcb6b4407338c4dff" /><Relationship Type="http://schemas.openxmlformats.org/officeDocument/2006/relationships/notesSlide" Target="/ppt/notesSlides/notesSlide1.xml" Id="R931474b9b7ba4f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c5b4475434a0e" /><Relationship Type="http://schemas.openxmlformats.org/officeDocument/2006/relationships/notesSlide" Target="/ppt/notesSlides/notesSlide2.xml" Id="R251aee49e94443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580bd8cd246df" /><Relationship Type="http://schemas.openxmlformats.org/officeDocument/2006/relationships/image" Target="/ppt/media/image2.png" Id="R1b1e3c747b384c5b" /><Relationship Type="http://schemas.openxmlformats.org/officeDocument/2006/relationships/notesSlide" Target="/ppt/notesSlides/notesSlide3.xml" Id="R30634a991a5141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b47d1e4e3499e" /><Relationship Type="http://schemas.openxmlformats.org/officeDocument/2006/relationships/notesSlide" Target="/ppt/notesSlides/notesSlide4.xml" Id="Raa358d79eb394b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468a056f8451d" /><Relationship Type="http://schemas.openxmlformats.org/officeDocument/2006/relationships/image" Target="/ppt/media/image3.png" Id="R7165213056a74183" /><Relationship Type="http://schemas.openxmlformats.org/officeDocument/2006/relationships/notesSlide" Target="/ppt/notesSlides/notesSlide5.xml" Id="R018827aad16b4f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070214ae94b7a" /><Relationship Type="http://schemas.openxmlformats.org/officeDocument/2006/relationships/image" Target="/ppt/media/image4.png" Id="R96f826ad0eeb48a1" /><Relationship Type="http://schemas.openxmlformats.org/officeDocument/2006/relationships/notesSlide" Target="/ppt/notesSlides/notesSlide6.xml" Id="Rfcdb992140d043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35377273047d9" /><Relationship Type="http://schemas.openxmlformats.org/officeDocument/2006/relationships/notesSlide" Target="/ppt/notesSlides/notesSlide7.xml" Id="R5751bf84114a41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46d6b3a4fb4f7b" /><Relationship Type="http://schemas.openxmlformats.org/officeDocument/2006/relationships/notesSlide" Target="/ppt/notesSlides/notesSlide8.xml" Id="R59fd3cc2df8443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28c52d96a4d4b" /><Relationship Type="http://schemas.openxmlformats.org/officeDocument/2006/relationships/image" Target="/ppt/media/image5.png" Id="R31c1f9c26ceb41b8" /><Relationship Type="http://schemas.openxmlformats.org/officeDocument/2006/relationships/notesSlide" Target="/ppt/notesSlides/notesSlide9.xml" Id="R2cd917d93fc544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0f92f7bb9463e" /><Relationship Type="http://schemas.openxmlformats.org/officeDocument/2006/relationships/notesSlide" Target="/ppt/notesSlides/notesSlide10.xml" Id="R66333fab912143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3161E-107F-4DEB-968C-2FE7F852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07168-0DED-4333-87D2-DE56EC6D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334B-0D75-4D6D-9FD7-BAFEC070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0CC68-8CCF-4CF3-ADB1-B92368B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D1B27-A934-4DFD-A692-8826869D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4667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51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51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7B2083-09E3-4C2A-ABF4-A1D5F076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ARCHITECTURE MONOGRAPH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8AE15-33EC-4DCA-B447-082DB386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4191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9000"/>
              </a:lnSpc>
              <a:buNone/>
              <a:defRPr sz="18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rPr>
              <a:t>A fictional desert residence composed as one low mass — calibrated for shade, silence, and thermal delay.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b4407338c4dff"/>
          <a:srcRect xmlns:a="http://schemas.openxmlformats.org/drawingml/2006/main" l="15970" t="0" r="159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895350"/>
            <a:ext cx="4953000" cy="4095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1F1EE-C892-4A29-8A16-771E285E0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52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3979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1930BD-29AE-47DA-984F-1793F083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7BA30-39B5-4870-9BDF-B64E48B2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8E41AC-998C-45A6-AD07-D7D9A090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SITE AND CLIMATE PREMISE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2CF70-E20A-450C-9B28-2B00850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BA66E-19D8-4CC1-8A66-6D414C2C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The house is a thermal instrument.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91817-7722-4E14-9199-DF8834BF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32FA02-BA3A-4F73-B502-CF617253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5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0FA3-6A30-4787-90C5-9428BEA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852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A8008-FECE-4021-9D60-743C9E72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LONG 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A866AF-FCF6-4112-A5F1-EFB76C8C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77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777168"/>
                </a:solidFill>
                <a:latin typeface="Helvetica Neue"/>
                <a:ea typeface="Helvetica Neue"/>
                <a:cs typeface="Helvetica Neue"/>
              </a:rPr>
              <a:t>WEST EXPOSURE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86109-AD61-4050-8F7C-F68EB952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PREMISE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6FA23-4A76-44D0-AB6B-F82B3398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rPr>
              <a:t>Compact mass reduces exposed surface area.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A0DBC-4826-44A9-BAE7-061ADA4A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CLIMATE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7226F-A2A9-4190-AD86-06C99E0D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rPr>
              <a:t>Thermal lag and night purge shape use.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E02DF-F1A6-4666-B0B0-A960AEE2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ORIENTATION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1F051-47D0-4D1B-BA9A-E508B854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34332F"/>
                </a:solidFill>
                <a:latin typeface="Helvetica Neue"/>
                <a:ea typeface="Helvetica Neue"/>
                <a:cs typeface="Helvetica Neue"/>
              </a:rPr>
              <a:t>Long face avoids west exposure.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E721A-196D-47B9-8318-A6E14DBA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310 m² · one level · dry-wash frontage</a:t>
            </a:r>
          </a:p>
        </p:txBody>
      </p:sp>
    </p:spTree>
    <p:extLst>
      <p:ext uri="{BB962C8B-B14F-4D97-AF65-F5344CB8AC3E}">
        <p14:creationId xmlns:p14="http://schemas.microsoft.com/office/powerpoint/2010/main" val="2146434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e3c747b384c5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C23F6-249B-443B-8DAF-CC5B912F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1254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7FA5C-AF80-44EA-832E-F6464DD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LOW MASS / LONG SHADOW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696C6-FA59-4081-9636-0153361A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619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The roofline disappears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9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into the basin.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47C0C-61B2-4F10-B744-5A7FF4D7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C6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E8948-60C3-497F-A1A6-BC634951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72BD3-525C-4B6D-BFBC-3DE4423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EXTERIOR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A769D-882F-4DE9-946E-9F1EA029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</p:spTree>
    <p:extLst>
      <p:ext uri="{BB962C8B-B14F-4D97-AF65-F5344CB8AC3E}">
        <p14:creationId xmlns:p14="http://schemas.microsoft.com/office/powerpoint/2010/main" val="121811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C5F4EB-F600-4177-9EAD-9941339F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68001-0DFB-428A-982D-B5D2FB7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D1641-9FAF-4BA8-9E3B-EFDCB87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PLAN AND CIRCULATION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333831-80BB-4063-B8C3-0458F353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EB4EF-1AE2-47F7-9F8C-A6858F4D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Circulation is a single controlled 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CDEF1-9DAA-470B-878E-070596EC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A8B81-6CE4-4465-B97D-47526BBB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STUDIO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3A6A9F-32AB-4FC9-8887-6EB80944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3EC39-C2DF-43DE-AC41-6E65A605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3365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SLEEPING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5E61A-F728-4453-9D96-D6340E8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C5348-346E-4B69-857A-89CC4FEA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336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LIVING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AACCE2-208B-4FBB-95EB-D3ABDC02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43300"/>
            <a:ext cx="2095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7C8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263C83-A5E7-4F00-8B1A-123E2F89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957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COURT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7D4C1-B117-48C3-B1C0-5BCC8E33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361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96D3C5-BD47-4B59-9D36-C9AB2F62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THERMAL MASS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30989C-DAEE-43E1-8DA5-7FB92C08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1524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ED3"/>
          </a:solidFill>
          <a:ln xmlns:a="http://schemas.openxmlformats.org/drawingml/2006/main" w="9525">
            <a:solidFill>
              <a:srgbClr val="AFA79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ADF90-7774-409B-B047-CF3DD7E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131E8-58C8-4236-AAD8-99CEA1B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657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22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8BF0D-AF4B-482C-B4D7-E2835AE1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527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ENTRY → COURT → LIVING → SLEEPING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7982E-9109-4EC0-B0F6-90E415DB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9095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5F5A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5A53"/>
                </a:solidFill>
                <a:latin typeface="Helvetica Neue"/>
                <a:ea typeface="Helvetica Neue"/>
                <a:cs typeface="Helvetica Neue"/>
              </a:rPr>
              <a:t>A compressed entrance opens toward protected winter light.</a:t>
            </a:r>
          </a:p>
        </p:txBody>
      </p:sp>
    </p:spTree>
    <p:extLst>
      <p:ext uri="{BB962C8B-B14F-4D97-AF65-F5344CB8AC3E}">
        <p14:creationId xmlns:p14="http://schemas.microsoft.com/office/powerpoint/2010/main" val="1003968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203D2F-51BD-4688-A6C2-B472EC5A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BB377-C436-44BC-BF26-F2B378B9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3B320-8530-42B1-8C60-614C058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MATERIAL PALETTE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3ACCC-EAEA-4386-84BD-B29F6134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F7C8-8FF3-4FF2-8761-A5CBF00A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The palette is deliberately narrow.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B1567-07E9-4F1A-BD22-03D056B9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809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B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B3D10-D4D2-49DA-842D-98C36260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CONCRETE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0DFCF-DF50-460C-B3F5-3CB0889F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rPr>
              <a:t>fine vertical grain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7AE08-7C10-4E88-90EF-AF1BD6D5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66950"/>
            <a:ext cx="1809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1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FF642-62A1-42D1-A32E-66726E3C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CHARCOAL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526E6-2EEC-4EF0-8B2E-65392C29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31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rPr>
              <a:t>solar frames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0BFFC-5F58-4397-9C63-F6B2EBF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66950"/>
            <a:ext cx="1809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5FFD3-8254-4B4D-AA91-E7955544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PLASTER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78954-3206-49B3-B373-6DC86D1A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31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rPr>
              <a:t>light wash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855A3C-8F2E-4EB5-84AD-7759593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66950"/>
            <a:ext cx="1809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185A4-C617-43AD-9F57-DCAFEF62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530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RUST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7A50EC-3F81-4622-A861-F1596E87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B655E"/>
                </a:solidFill>
                <a:latin typeface="Helvetica Neue"/>
                <a:ea typeface="Helvetica Neue"/>
                <a:cs typeface="Helvetica Neue"/>
              </a:rPr>
              <a:t>operable shade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5213056a74183"/>
          <a:srcRect xmlns:a="http://schemas.openxmlformats.org/drawingml/2006/main" l="34611" t="0" r="346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2266950"/>
            <a:ext cx="1333500" cy="24384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A3608-495A-43F8-A51E-3FDE7269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53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STUDY</a:t>
            </a:r>
          </a:p>
        </p:txBody>
      </p:sp>
    </p:spTree>
    <p:extLst>
      <p:ext uri="{BB962C8B-B14F-4D97-AF65-F5344CB8AC3E}">
        <p14:creationId xmlns:p14="http://schemas.microsoft.com/office/powerpoint/2010/main" val="8503698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f826ad0eeb48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8C342-CC8F-4DFE-9AD0-EF5C2239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A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E9444-AAE5-44FF-95BE-66F6D79C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2381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SHADE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BECOMES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A ROOM.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4D4D6-5412-4FC3-ACDC-E708BEDE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2286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 i="0">
                <a:solidFill>
                  <a:srgbClr val="DED6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DED6CA"/>
                </a:solidFill>
                <a:latin typeface="Helvetica Neue"/>
                <a:ea typeface="Helvetica Neue"/>
                <a:cs typeface="Helvetica Neue"/>
              </a:rPr>
              <a:t>Perforated rust screens turn noon into a measured interior light.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1B8F6-86C8-41F9-8D09-0BC0D43C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C6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E4F76-932E-4D34-800B-74F7C9C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6CF1CF-89DC-4631-AC43-DB0F5834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INTERIOR 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9DB32-F321-476E-8D07-8674F3A5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</p:spTree>
    <p:extLst>
      <p:ext uri="{BB962C8B-B14F-4D97-AF65-F5344CB8AC3E}">
        <p14:creationId xmlns:p14="http://schemas.microsoft.com/office/powerpoint/2010/main" val="66429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61994-FCBB-4F31-88B9-435CEA4C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3EE74-A9FE-4E27-A984-446DCF9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78A45-7070-4724-9B27-56EC71F2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SECTION AND THERMAL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B299C-3823-4301-A772-010A8152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32A71-CC47-4346-9AE7-E3717F3D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Section turns heat into delay.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EFDB3-15CD-48D3-8D15-3053F84E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75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22A3C-8B21-4DA0-B491-7FA18B65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52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228A9-3E17-4E5B-AA74-B9AF5DBA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337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522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ADFA7-FC49-4FBE-9A61-CA3ADC10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33750"/>
            <a:ext cx="4191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8CA"/>
          </a:solidFill>
          <a:ln xmlns:a="http://schemas.openxmlformats.org/drawingml/2006/main" w="9525">
            <a:solidFill>
              <a:srgbClr val="9C938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32C39-811D-4D16-A2FD-E3823266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29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3BDFF-6942-42C0-AF99-5F4BC560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1295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2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2580B-0D12-491C-A91A-C9145075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SUN DEFLECTED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66717-D0F6-4CA7-9E5C-4678A39A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MASS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AE567-404F-45C7-86CF-C3BF9857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Stores night coolth.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593CC-CB12-4186-93B6-186656C0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SHADE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D46B7-7318-4A67-ADA1-9DB40B10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Slows afternoon gain.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47AF73-E6EE-411C-91E0-FB49B4CA8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PURGE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3F5B0-6D99-490A-919D-5DEC981E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387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Releases heat after sunset.</a:t>
            </a:r>
          </a:p>
        </p:txBody>
      </p:sp>
    </p:spTree>
    <p:extLst>
      <p:ext uri="{BB962C8B-B14F-4D97-AF65-F5344CB8AC3E}">
        <p14:creationId xmlns:p14="http://schemas.microsoft.com/office/powerpoint/2010/main" val="65135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13CC05-64A9-4EEE-8790-1A838E1F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CEE56-3F2C-4222-9324-F477C148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C4FE8-C618-457A-A704-95B58A43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CONSTRUCTION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1E504-1BEC-46DA-8804-F3C857BD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A72194-0E32-4663-8EF4-B15B87ED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Details reduce the house to joints.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068061-A803-4EB7-B166-95A0E10B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EA355-45E6-4923-A2D6-4105D867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2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C5D8D-67EC-4BA2-A7A1-C9B60C7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SHADOW REVEAL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6979CD-2625-4457-B05E-64C44A9B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rPr>
              <a:t>A deep line keeps plaster from reading as trim.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1C7C7-5937-4247-BEB6-93BD7BBE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B29A0-02F0-4A35-9E78-A98FFAD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2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92F4E-2319-4DD1-86D0-141EDEF7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7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SCREEN ANCHOR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28724-C600-4981-85B7-B321D9AB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433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rPr>
              <a:t>Rust steel stands proud of the concrete mass.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BE69E-33E1-42A4-BA1B-D16F41DF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76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E272A-2ACB-4067-9E89-904AE081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2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7FCE51-DE5C-4205-B46E-5EE04414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718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ROOF EDGE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F4780-C751-4090-87F5-A5E716C9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9554F"/>
                </a:solidFill>
                <a:latin typeface="Helvetica Neue"/>
                <a:ea typeface="Helvetica Neue"/>
                <a:cs typeface="Helvetica Neue"/>
              </a:rPr>
              <a:t>A thin cap finishes the long horizontal 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EC8B65-969C-4D06-823F-6E78E3BF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7771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777168"/>
                </a:solidFill>
                <a:latin typeface="Helvetica Neue"/>
                <a:ea typeface="Helvetica Neue"/>
                <a:cs typeface="Helvetica Neue"/>
              </a:rPr>
              <a:t>All dimensions and assemblies are fictional.</a:t>
            </a:r>
          </a:p>
        </p:txBody>
      </p:sp>
    </p:spTree>
    <p:extLst>
      <p:ext uri="{BB962C8B-B14F-4D97-AF65-F5344CB8AC3E}">
        <p14:creationId xmlns:p14="http://schemas.microsoft.com/office/powerpoint/2010/main" val="1821135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1f9c26ceb41b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0A243-0354-4E8E-B8AF-9BF0713B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CDA0C-4F9D-4237-A710-562D570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At dusk, the monolith becomes an ember 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9DE1B-675A-4FCC-BC1C-D87F9E03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8522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15B50-4282-466F-9F75-6F803C3F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769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QUIET OCCUPANCY / SHIELDED GLAZING / WARM CONCRETE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522C6-97AE-459B-8768-137FC9A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C67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5F645-A12B-44C7-AE83-AFF4A182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A5FB5-D6AF-4467-9DBD-99C7658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DUSK 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6D3F1-E766-4D9B-B9AF-5E257491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F3EEE4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</p:spTree>
    <p:extLst>
      <p:ext uri="{BB962C8B-B14F-4D97-AF65-F5344CB8AC3E}">
        <p14:creationId xmlns:p14="http://schemas.microsoft.com/office/powerpoint/2010/main" val="20730178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11618-BBA8-4B62-9A76-6C52CBD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0B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AD3EC-C700-4684-B763-F8DFFF83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627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8DFFF-2CB9-422F-9D98-819144E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3627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CREDITS AND CLOSING STATEMENT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F7AC3-BACE-4A33-9F11-AC57437C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3627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7B6FE-0C04-4661-B660-D83554B2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33450"/>
            <a:ext cx="590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MONOLITH HOUSE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4456A-31A8-4C5A-9D5F-4041F29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A subtraction from desert light.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2CA02-5703-4AA5-B9AF-C45D71C1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5A55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 i="0">
                <a:solidFill>
                  <a:srgbClr val="5A554F"/>
                </a:solidFill>
                <a:latin typeface="Helvetica Neue"/>
                <a:ea typeface="Helvetica Neue"/>
                <a:cs typeface="Helvetica Neue"/>
              </a:rPr>
              <a:t>Compact, shaded, and materially calm.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35564-A064-40BC-B554-9F606FAC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8522C"/>
                </a:solidFill>
                <a:latin typeface="Helvetica Neue"/>
                <a:ea typeface="Helvetica Neue"/>
                <a:cs typeface="Helvetica Neue"/>
              </a:rPr>
              <a:t>PROJECT CREDITS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B06DE-29CE-4DB2-BAAE-BDFB6BC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ARCHITECT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DC955-179B-4DCA-950A-8887C8C8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North Basin Studio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99063-776F-431A-BDB2-E078D796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LANDSCAPE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BA964-7B66-41BD-AD69-A5C4C58B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Dry Wash Atelier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2E71E-7269-4DCD-A879-0000C38F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D46BA-4DB8-4FF9-B97B-85F46279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Mass + Frame Lab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C9EE9C-6F48-4D11-991E-48B46B73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6AAF1-1C04-49C6-A598-C06565DE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Desert basin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F2B15-4F63-470F-856F-951D1DB6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81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6D675F"/>
                </a:solidFill>
                <a:latin typeface="Helvetica Neue"/>
                <a:ea typeface="Helvetica Neue"/>
                <a:cs typeface="Helvetica Neue"/>
              </a:rPr>
              <a:t>YEAR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185A2-762A-43FD-9E91-C7EDF5C6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2028 concept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98A4D1-4D5C-494E-93E2-AAAECA4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245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52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9405A-135E-4912-A26E-4D6E3C38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531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71817"/>
                </a:solidFill>
                <a:latin typeface="Helvetica Neue"/>
                <a:ea typeface="Helvetica Neue"/>
                <a:cs typeface="Helvetica Neue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930163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2026-08-11T11:26:16.4150000Z</dcterms:created>
  <dcterms:modified xsi:type="dcterms:W3CDTF">2026-08-11T11:26:16.4150000Z</dcterms:modified>
</coreProperties>
</file>