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2aa6fe55db40c6" /><Relationship Type="http://schemas.openxmlformats.org/officeDocument/2006/relationships/extended-properties" Target="/docProps/app.xml" Id="Rd694247449b6442e" /><Relationship Type="http://schemas.openxmlformats.org/officeDocument/2006/relationships/officeDocument" Target="/ppt/presentation.xml" Id="R92aac753a7d24b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3b5b5c41e248c2"/>
  </p:sldMasterIdLst>
  <p:notesMasterIdLst>
    <p:notesMasterId xmlns:r="http://schemas.openxmlformats.org/officeDocument/2006/relationships" r:id="R9e341289df4d4924"/>
  </p:notesMasterIdLst>
  <p:sldIdLst>
    <p:sldId xmlns:r="http://schemas.openxmlformats.org/officeDocument/2006/relationships" id="256" r:id="R790f2c3eb7764e64"/>
    <p:sldId xmlns:r="http://schemas.openxmlformats.org/officeDocument/2006/relationships" id="257" r:id="R856707ef546649b1"/>
    <p:sldId xmlns:r="http://schemas.openxmlformats.org/officeDocument/2006/relationships" id="258" r:id="R036eca39b5d848f3"/>
    <p:sldId xmlns:r="http://schemas.openxmlformats.org/officeDocument/2006/relationships" id="259" r:id="R50e4a2a4af344ca6"/>
    <p:sldId xmlns:r="http://schemas.openxmlformats.org/officeDocument/2006/relationships" id="260" r:id="R16b2b79f618c4e9d"/>
    <p:sldId xmlns:r="http://schemas.openxmlformats.org/officeDocument/2006/relationships" id="261" r:id="R5341111353984733"/>
    <p:sldId xmlns:r="http://schemas.openxmlformats.org/officeDocument/2006/relationships" id="262" r:id="R663bb1fe1ec14163"/>
    <p:sldId xmlns:r="http://schemas.openxmlformats.org/officeDocument/2006/relationships" id="263" r:id="R2b42f25ca1a74a55"/>
    <p:sldId xmlns:r="http://schemas.openxmlformats.org/officeDocument/2006/relationships" id="264" r:id="R609410b8a2994ea8"/>
    <p:sldId xmlns:r="http://schemas.openxmlformats.org/officeDocument/2006/relationships" id="265" r:id="R8dfc1195fe3c40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41628f7e8e4b3a" /><Relationship Type="http://schemas.openxmlformats.org/officeDocument/2006/relationships/slideMaster" Target="/ppt/slideMasters/slideMaster1.xml" Id="R9c3b5b5c41e248c2" /><Relationship Type="http://schemas.openxmlformats.org/officeDocument/2006/relationships/notesMaster" Target="/ppt/notesMasters/notesMaster1.xml" Id="R9e341289df4d4924" /><Relationship Type="http://schemas.openxmlformats.org/officeDocument/2006/relationships/presProps" Target="/ppt/presProps.xml" Id="R93f84fb59064480d" /><Relationship Type="http://schemas.openxmlformats.org/officeDocument/2006/relationships/tableStyles" Target="/ppt/tableStyles.xml" Id="R57dbc41fb89e4dc1" /><Relationship Type="http://schemas.openxmlformats.org/officeDocument/2006/relationships/slide" Target="/ppt/slides/slide1.xml" Id="R790f2c3eb7764e64" /><Relationship Type="http://schemas.openxmlformats.org/officeDocument/2006/relationships/slide" Target="/ppt/slides/slide2.xml" Id="R856707ef546649b1" /><Relationship Type="http://schemas.openxmlformats.org/officeDocument/2006/relationships/slide" Target="/ppt/slides/slide3.xml" Id="R036eca39b5d848f3" /><Relationship Type="http://schemas.openxmlformats.org/officeDocument/2006/relationships/slide" Target="/ppt/slides/slide4.xml" Id="R50e4a2a4af344ca6" /><Relationship Type="http://schemas.openxmlformats.org/officeDocument/2006/relationships/slide" Target="/ppt/slides/slide5.xml" Id="R16b2b79f618c4e9d" /><Relationship Type="http://schemas.openxmlformats.org/officeDocument/2006/relationships/slide" Target="/ppt/slides/slide6.xml" Id="R5341111353984733" /><Relationship Type="http://schemas.openxmlformats.org/officeDocument/2006/relationships/slide" Target="/ppt/slides/slide7.xml" Id="R663bb1fe1ec14163" /><Relationship Type="http://schemas.openxmlformats.org/officeDocument/2006/relationships/slide" Target="/ppt/slides/slide8.xml" Id="R2b42f25ca1a74a55" /><Relationship Type="http://schemas.openxmlformats.org/officeDocument/2006/relationships/slide" Target="/ppt/slides/slide9.xml" Id="R609410b8a2994ea8" /><Relationship Type="http://schemas.openxmlformats.org/officeDocument/2006/relationships/slide" Target="/ppt/slides/slide10.xml" Id="R8dfc1195fe3c40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bdedf669bd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2d2c5003a84a14" /><Relationship Type="http://schemas.openxmlformats.org/officeDocument/2006/relationships/notesMaster" Target="/ppt/notesMasters/notesMaster1.xml" Id="R4d1582b124e048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5512c57f09414e" /><Relationship Type="http://schemas.openxmlformats.org/officeDocument/2006/relationships/notesMaster" Target="/ppt/notesMasters/notesMaster1.xml" Id="R4d81e332c79b4a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ccec3639b4703" /><Relationship Type="http://schemas.openxmlformats.org/officeDocument/2006/relationships/notesMaster" Target="/ppt/notesMasters/notesMaster1.xml" Id="Rd5476f5e311049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8098311b11479d" /><Relationship Type="http://schemas.openxmlformats.org/officeDocument/2006/relationships/notesMaster" Target="/ppt/notesMasters/notesMaster1.xml" Id="R5fcf4760992640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5243eba05d4eed" /><Relationship Type="http://schemas.openxmlformats.org/officeDocument/2006/relationships/notesMaster" Target="/ppt/notesMasters/notesMaster1.xml" Id="Rf3fe4592c42940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6f338efb874529" /><Relationship Type="http://schemas.openxmlformats.org/officeDocument/2006/relationships/notesMaster" Target="/ppt/notesMasters/notesMaster1.xml" Id="R35288d1fbf6342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0f1d425378491a" /><Relationship Type="http://schemas.openxmlformats.org/officeDocument/2006/relationships/notesMaster" Target="/ppt/notesMasters/notesMaster1.xml" Id="Rff2ceda1f0264c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89d7f936bf497c" /><Relationship Type="http://schemas.openxmlformats.org/officeDocument/2006/relationships/notesMaster" Target="/ppt/notesMasters/notesMaster1.xml" Id="R33e0599841e14c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ef67ef752c475b" /><Relationship Type="http://schemas.openxmlformats.org/officeDocument/2006/relationships/notesMaster" Target="/ppt/notesMasters/notesMaster1.xml" Id="R5f480313672e48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d3d3c8ec824d47" /><Relationship Type="http://schemas.openxmlformats.org/officeDocument/2006/relationships/notesMaster" Target="/ppt/notesMasters/notesMaster1.xml" Id="Rb31b66755a2848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Hero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Full-bleed landscape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Aerial image reused from the source deck; route copy adapted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Lodge image and service details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Aurora lodge image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Landscape and geothermal images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Dining image and program copy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Panoramic image and inclusion list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Minimal winter landscape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AURELIA — The Far North.</a:t>
            </a:r>
          </a:p>
          <a:p xmlns:a="http://schemas.openxmlformats.org/drawingml/2006/main">
            <a:r>
              <a:t>- Closing landscape reused from the source deck; contact details retained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eeb6668f4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4475453f02456f" /><Relationship Type="http://schemas.openxmlformats.org/officeDocument/2006/relationships/slideLayout" Target="/ppt/slideLayouts/slideLayout1.xml" Id="R16381084d6c24f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81084d6c24f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b836d485d48c6" /><Relationship Type="http://schemas.openxmlformats.org/officeDocument/2006/relationships/image" Target="/ppt/media/image.png" Id="Rbb87464ff7064213" /><Relationship Type="http://schemas.openxmlformats.org/officeDocument/2006/relationships/notesSlide" Target="/ppt/notesSlides/notesSlide1.xml" Id="R94149a70c17b48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cc51afeb5499c" /><Relationship Type="http://schemas.openxmlformats.org/officeDocument/2006/relationships/image" Target="/ppt/media/image2.png" Id="Rc25a6006a0c14299" /><Relationship Type="http://schemas.openxmlformats.org/officeDocument/2006/relationships/notesSlide" Target="/ppt/notesSlides/notesSlide2.xml" Id="Rdd5f482a584247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5dfe0e40e4847" /><Relationship Type="http://schemas.openxmlformats.org/officeDocument/2006/relationships/image" Target="/ppt/media/image3.png" Id="R2b73e85e44e443e6" /><Relationship Type="http://schemas.openxmlformats.org/officeDocument/2006/relationships/notesSlide" Target="/ppt/notesSlides/notesSlide3.xml" Id="Rda51ab0d671346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0fa906adc420e" /><Relationship Type="http://schemas.openxmlformats.org/officeDocument/2006/relationships/image" Target="/ppt/media/image4.png" Id="Ra34ff7889316434a" /><Relationship Type="http://schemas.openxmlformats.org/officeDocument/2006/relationships/notesSlide" Target="/ppt/notesSlides/notesSlide4.xml" Id="Rfb3a42cd656346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5766275754821" /><Relationship Type="http://schemas.openxmlformats.org/officeDocument/2006/relationships/image" Target="/ppt/media/image5.png" Id="R9dfb78651b514669" /><Relationship Type="http://schemas.openxmlformats.org/officeDocument/2006/relationships/notesSlide" Target="/ppt/notesSlides/notesSlide5.xml" Id="R63deb4057ef544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962f3c9fe4505" /><Relationship Type="http://schemas.openxmlformats.org/officeDocument/2006/relationships/image" Target="/ppt/media/image6.png" Id="Racd5f7ce37404700" /><Relationship Type="http://schemas.openxmlformats.org/officeDocument/2006/relationships/image" Target="/ppt/media/image7.png" Id="Rfd3c50d0db2744c7" /><Relationship Type="http://schemas.openxmlformats.org/officeDocument/2006/relationships/notesSlide" Target="/ppt/notesSlides/notesSlide6.xml" Id="R1592757d44a345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24c23e70b4835" /><Relationship Type="http://schemas.openxmlformats.org/officeDocument/2006/relationships/image" Target="/ppt/media/image8.png" Id="R2f4db828107f467d" /><Relationship Type="http://schemas.openxmlformats.org/officeDocument/2006/relationships/notesSlide" Target="/ppt/notesSlides/notesSlide7.xml" Id="Rb6f377495ce04b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40fd7c9304e7f" /><Relationship Type="http://schemas.openxmlformats.org/officeDocument/2006/relationships/image" Target="/ppt/media/image9.png" Id="R5c88125086764fab" /><Relationship Type="http://schemas.openxmlformats.org/officeDocument/2006/relationships/notesSlide" Target="/ppt/notesSlides/notesSlide8.xml" Id="R49752c26cdb448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53b2b9d0045a5" /><Relationship Type="http://schemas.openxmlformats.org/officeDocument/2006/relationships/image" Target="/ppt/media/image10.png" Id="Rc22256937ac14cc7" /><Relationship Type="http://schemas.openxmlformats.org/officeDocument/2006/relationships/notesSlide" Target="/ppt/notesSlides/notesSlide9.xml" Id="R57438e87c1714f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b668581b543ac" /><Relationship Type="http://schemas.openxmlformats.org/officeDocument/2006/relationships/image" Target="/ppt/media/image11.png" Id="R5ff0cc62bbcd422c" /><Relationship Type="http://schemas.openxmlformats.org/officeDocument/2006/relationships/notesSlide" Target="/ppt/notesSlides/notesSlide10.xml" Id="R75b3f1378c8c48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7464ff7064213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26AFA-BC14-41BC-9CA3-6EACAC6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C9DD8-CD08-4E32-BEBF-3D72C684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91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CD883-2386-4389-88B1-F8FBBA80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40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540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AURELIA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3DF61-5657-4803-840A-2A5B78BA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 i="1">
                <a:solidFill>
                  <a:srgbClr val="EEE5DA"/>
                </a:solidFill>
                <a:latin typeface="Georgia"/>
                <a:ea typeface="Georgia"/>
                <a:cs typeface="Georgia"/>
              </a:defRPr>
            </a:pPr>
            <a:r>
              <a:rPr sz="2325" b="0" i="1">
                <a:solidFill>
                  <a:srgbClr val="EEE5DA"/>
                </a:solidFill>
                <a:latin typeface="Georgia"/>
                <a:ea typeface="Georgia"/>
                <a:cs typeface="Georgia"/>
              </a:rPr>
              <a:t>The Far North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FE170-B526-4FC8-9201-D8F7C89B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ICELAND  ·  PRIVATE EXPEDITION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4B230-4454-4AA5-93E2-B3DB6CE2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C9C4B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9C4BD"/>
                </a:solidFill>
                <a:latin typeface="Arial"/>
                <a:ea typeface="Arial"/>
                <a:cs typeface="Arial"/>
              </a:rPr>
              <a:t>Seven days shaped by basalt, geothermal heat, and northern light.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D05EC-212B-4792-8AC0-274744AA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9F9A9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F9A94"/>
                </a:solidFill>
                <a:latin typeface="Arial"/>
                <a:ea typeface="Arial"/>
                <a:cs typeface="Arial"/>
              </a:rPr>
              <a:t>PRIVATE HELICOPTER  /  AURORA LODGE</a:t>
            </a:r>
          </a:p>
        </p:txBody>
      </p:sp>
    </p:spTree>
    <p:extLst>
      <p:ext uri="{BB962C8B-B14F-4D97-AF65-F5344CB8AC3E}">
        <p14:creationId xmlns:p14="http://schemas.microsoft.com/office/powerpoint/2010/main" val="1494773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a6006a0c1429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462C9-2C35-4AA1-B1B0-7A34FD5A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E2081-1754-4306-BD8A-24ABF16D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THE EDGE OF WEATHER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6E070-5197-421F-985C-2B8D381F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50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Land becomes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50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50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a private horizon.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8B0F7-03EC-4AAB-853D-E5C788F4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E8E0D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E8E0D7"/>
                </a:solidFill>
                <a:latin typeface="Arial"/>
                <a:ea typeface="Arial"/>
                <a:cs typeface="Arial"/>
              </a:rPr>
              <a:t>Basalt. Wind. A route with no ordinary arrival.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141E4-BE7D-45E7-B1DF-D7335E3A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</p:spTree>
    <p:extLst>
      <p:ext uri="{BB962C8B-B14F-4D97-AF65-F5344CB8AC3E}">
        <p14:creationId xmlns:p14="http://schemas.microsoft.com/office/powerpoint/2010/main" val="1639088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3e85e44e443e6"/>
          <a:srcRect xmlns:a="http://schemas.openxmlformats.org/drawingml/2006/main" l="9158" t="0" r="91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7BD5-CE9B-4156-937C-FBC73C3B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SEVEN-DAY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03FFA-B700-41FB-948B-6E6A0F8F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91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B3177-649E-4A7A-B53F-C2408FC7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3238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45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A route paced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45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345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by light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9C3E5-1F8D-4850-88EE-7EAC0BB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47127-C8B7-452E-ADD3-21497BA6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1049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D39162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D3916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4392B-21EC-4232-973B-567E2B13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23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Reykjavík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F4D3E-1982-4BEE-8E75-61BBF9FD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66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ABA7A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BA7A1"/>
                </a:solidFill>
                <a:latin typeface="Arial"/>
                <a:ea typeface="Arial"/>
                <a:cs typeface="Arial"/>
              </a:rPr>
              <a:t>Arrival and private briefing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F2083-F0BC-480C-8450-C70A0914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573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AADE2-C6AD-442C-93BF-E3F5F67F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2C2A3-F06E-4F7A-9360-3F816BC1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Glacial lagoon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A5224-D321-4284-BCC9-6BFF5B3D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ABA7A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BA7A1"/>
                </a:solidFill>
                <a:latin typeface="Arial"/>
                <a:ea typeface="Arial"/>
                <a:cs typeface="Arial"/>
              </a:rPr>
              <a:t>Ice float and black-sand crossing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D5297-C5FD-4EBE-BC68-2773618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6FAA9-090A-4C3C-88F7-46EDAC69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99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D39162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D3916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2BB91-69D3-4A0C-AE0C-A2B49FAF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28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Mountain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A2A4E-EA5A-4DCB-8D18-308E005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ABA7A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BA7A1"/>
                </a:solidFill>
                <a:latin typeface="Arial"/>
                <a:ea typeface="Arial"/>
                <a:cs typeface="Arial"/>
              </a:rPr>
              <a:t>Highland traverse by 4×4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1DA6B-47B6-4384-862E-61120930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9AA0E-3289-4AF8-9A22-18952BF4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624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96302-8863-4DEF-9B5A-CF598714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81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Geothermal zone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DDA7E-FC00-46BB-BA01-051D5462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ABA7A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BA7A1"/>
                </a:solidFill>
                <a:latin typeface="Arial"/>
                <a:ea typeface="Arial"/>
                <a:cs typeface="Arial"/>
              </a:rPr>
              <a:t>Ridge walk and thermal immersion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F96A1C-5BAF-407A-88F2-D165B903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14875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43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5E96A9-006B-4A56-8A1B-E1A1460F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14900"/>
            <a:ext cx="62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 i="0">
                <a:solidFill>
                  <a:srgbClr val="D39162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D3916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A0C02-27AC-4F9B-8E86-CB0B6E35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33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Aurora lodge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C80D4-9281-4F3B-B52F-4ED3CB0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768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ABA7A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BA7A1"/>
                </a:solidFill>
                <a:latin typeface="Arial"/>
                <a:ea typeface="Arial"/>
                <a:cs typeface="Arial"/>
              </a:rPr>
              <a:t>Observatory night and final descent</a:t>
            </a:r>
          </a:p>
        </p:txBody>
      </p:sp>
    </p:spTree>
    <p:extLst>
      <p:ext uri="{BB962C8B-B14F-4D97-AF65-F5344CB8AC3E}">
        <p14:creationId xmlns:p14="http://schemas.microsoft.com/office/powerpoint/2010/main" val="1160838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ff7889316434a"/>
          <a:srcRect xmlns:a="http://schemas.openxmlformats.org/drawingml/2006/main" l="4863" t="0" r="48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AA042-C2ED-4C3D-B330-BCEFB408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ACCOMMODATION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07A2A-2483-4FB9-87F8-10333B82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91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CA4A4-C2B6-4874-9CB9-7C22663E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Aurora Lodge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D01CE-4CF3-41F1-AE6B-D81F6FC8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710B1-1253-45D6-8D72-FBF6D5A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 i="1">
                <a:solidFill>
                  <a:srgbClr val="DED6CB"/>
                </a:solidFill>
                <a:latin typeface="Georgia"/>
                <a:ea typeface="Georgia"/>
                <a:cs typeface="Georgia"/>
              </a:defRPr>
            </a:pPr>
            <a:r>
              <a:rPr sz="2100" b="0" i="1">
                <a:solidFill>
                  <a:srgbClr val="DED6CB"/>
                </a:solidFill>
                <a:latin typeface="Georgia"/>
                <a:ea typeface="Georgia"/>
                <a:cs typeface="Georgia"/>
              </a:rPr>
              <a:t>“Where northern light meets the earth’s warmth.”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7B09F-03EC-42FB-8811-BB45CA9F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91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5F9A89-3208-46B7-B117-1D5751E7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B8B2A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8B2AA"/>
                </a:solidFill>
                <a:latin typeface="Arial"/>
                <a:ea typeface="Arial"/>
                <a:cs typeface="Arial"/>
              </a:rPr>
              <a:t>Private geothermal pools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855F2-97B4-43F1-BDEB-AA8DC6E6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916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24896-A37C-4488-95DA-F0618550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B8B2A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8B2AA"/>
                </a:solidFill>
                <a:latin typeface="Arial"/>
                <a:ea typeface="Arial"/>
                <a:cs typeface="Arial"/>
              </a:rPr>
              <a:t>Observatory dome and aurora guide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1D550-5954-410D-A1ED-8895A77C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91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84E17-2C35-4B31-8A28-F6AE88EC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B8B2A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B8B2AA"/>
                </a:solidFill>
                <a:latin typeface="Arial"/>
                <a:ea typeface="Arial"/>
                <a:cs typeface="Arial"/>
              </a:rPr>
              <a:t>Wellness spa and farm-to-table dining</a:t>
            </a:r>
          </a:p>
        </p:txBody>
      </p:sp>
    </p:spTree>
    <p:extLst>
      <p:ext uri="{BB962C8B-B14F-4D97-AF65-F5344CB8AC3E}">
        <p14:creationId xmlns:p14="http://schemas.microsoft.com/office/powerpoint/2010/main" val="2096297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b78651b5146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81341-D833-4E72-8D4B-61B07B3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8CFED-8849-4A43-B5BB-23F52DF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AURORA NIGHT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46914-807A-4096-8211-CCF06B2F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714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20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The sky is the final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8E134-1B95-4523-B441-32F8EBA7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E7DFD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E7DFD6"/>
                </a:solidFill>
                <a:latin typeface="Arial"/>
                <a:ea typeface="Arial"/>
                <a:cs typeface="Arial"/>
              </a:rPr>
              <a:t>Private observatory session · weather-led timing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775EE-50DB-4CAE-9CC4-5584B12D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</p:spTree>
    <p:extLst>
      <p:ext uri="{BB962C8B-B14F-4D97-AF65-F5344CB8AC3E}">
        <p14:creationId xmlns:p14="http://schemas.microsoft.com/office/powerpoint/2010/main" val="509786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5f7ce37404700"/>
          <a:srcRect xmlns:a="http://schemas.openxmlformats.org/drawingml/2006/main" l="23803" t="0" r="238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3429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c50d0db2744c7"/>
          <a:srcRect xmlns:a="http://schemas.openxmlformats.org/drawingml/2006/main" l="0" t="2377" r="0" b="2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3429000"/>
            <a:ext cx="5810250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C1689-66C6-45FA-BAA9-3447B999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DAY FIVE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73D95-FC1F-4201-BFFA-2779EE52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91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8627-1290-42F8-B92A-C813440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Heat beneath the snow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C7FD2-EF36-4F2D-B344-0A3872B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rPr>
              <a:t>06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EDE80-DB0D-4D93-AB9F-739939C0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06:00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2F947-9BB7-4021-99CE-31DC98D7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7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Pre-dawn geothermal walk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78D08-DC99-4414-B00E-7557DA3A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3F413-EA17-447E-953B-1FBEAC64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19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Hot spring immersion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4E8040-8FA7-47D5-82DD-36C87A3C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12:00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8A163-8B8A-45DC-BBB4-9419587D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Thermal geology briefing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90ACD-D41F-429C-A312-8896E9DB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15:30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24FD4-53C2-4B76-AE9F-C405EDAC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148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Crater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FEE2B-617D-4D2C-8DD5-68ED27E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19:00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06C6B-94F6-426C-8D2E-1A83DA11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Lodge dinner preparation</a:t>
            </a:r>
          </a:p>
        </p:txBody>
      </p:sp>
    </p:spTree>
    <p:extLst>
      <p:ext uri="{BB962C8B-B14F-4D97-AF65-F5344CB8AC3E}">
        <p14:creationId xmlns:p14="http://schemas.microsoft.com/office/powerpoint/2010/main" val="69898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db828107f467d"/>
          <a:srcRect xmlns:a="http://schemas.openxmlformats.org/drawingml/2006/main" l="2062" t="0" r="20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6CA68-6C7E-4021-9083-D4696F5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CUISINE AND WELLNESS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12781-FA67-4D48-8E01-052E5AA8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91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1589F-0E7D-4BC9-8547-29C57BAC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Rest is part of the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D535D-D7B6-4723-9163-21498176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74096-6101-4B53-BDFA-5205783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352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 i="0">
                <a:solidFill>
                  <a:srgbClr val="D7D0C7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D7D0C7"/>
                </a:solidFill>
                <a:latin typeface="Georgia"/>
                <a:ea typeface="Georgia"/>
                <a:cs typeface="Georgia"/>
              </a:rPr>
              <a:t>Geothermal-heated cuisine, valley ingredients, and time to recover before the next crossing.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B7246-7513-4100-840C-78A4410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91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0D617-76F2-4B85-9E43-EF0DB8C6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005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DAILY WELLNESS  ·  SPA ACCESS  ·  PRIVATE DINING</a:t>
            </a:r>
          </a:p>
        </p:txBody>
      </p:sp>
    </p:spTree>
    <p:extLst>
      <p:ext uri="{BB962C8B-B14F-4D97-AF65-F5344CB8AC3E}">
        <p14:creationId xmlns:p14="http://schemas.microsoft.com/office/powerpoint/2010/main" val="1668771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8125086764fab"/>
          <a:srcRect xmlns:a="http://schemas.openxmlformats.org/drawingml/2006/main" l="0" t="11785" r="0" b="11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9E987-0493-4778-93E0-E2B848C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912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EDF7A-29EA-4A92-9C10-5988056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EVERY DETAIL ARRANGED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36D1E-36B8-4856-B23F-C1A9E8FB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91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3510B-D437-4BB9-90CB-7D29EF74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What the expedition includes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41C88-2416-48EC-BF77-551E3778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rPr>
              <a:t>08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692C2-99D9-4DE9-AC89-99A72FA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9DC19-9882-4BEB-B1F2-B5510E8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4AA5F-DE30-4744-B0B1-5619CE48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Private helicopter transfers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6599E-F037-43CF-A116-E732499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115DE-D1F5-4FC9-A5B5-DFB3342C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Expedition-grade 4×4 fleet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EF024-0ED8-4CFA-99CC-5E8B25C6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D9BEB-01A7-4734-81D0-080B1A6A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All ground logistics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14EC9D-1890-4D78-AD3C-5FC4EF77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STAY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2108B-92D9-440B-B7AD-8B72B3A3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4F4AE-CBAD-4237-8645-3073B9CC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43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Aurora Lodge — four nights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A7B54-52EB-4165-BE73-3BA5EB17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97EF2-2A83-4EE0-8220-9C792443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43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Luxury base-camp nights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B4C52-AB47-4AD9-8D25-A67D0A3F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ED5D6-1CD0-409E-91BD-69B7419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43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All meals and beverages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6744B-131B-4381-A069-A784589D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9714E-DDDA-4721-96CF-BF3C6EF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B4389-1471-4376-AF94-2DC9CE7E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Aurora photography sessions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D964D-B2C1-4FDB-A8FF-86EAB8CC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4E24C-8331-4E1F-8F79-4A11936F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Expert glacier guides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5552D-F83A-4FD5-9833-A06B595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62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FFD76-384A-4999-BE68-3C535CA8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Geothermal wellness access</a:t>
            </a:r>
          </a:p>
        </p:txBody>
      </p:sp>
    </p:spTree>
    <p:extLst>
      <p:ext uri="{BB962C8B-B14F-4D97-AF65-F5344CB8AC3E}">
        <p14:creationId xmlns:p14="http://schemas.microsoft.com/office/powerpoint/2010/main" val="758326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256937ac14cc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3EC02-D655-4001-9943-FF05B72A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B0B0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B0B0A"/>
                </a:solidFill>
                <a:latin typeface="Arial"/>
                <a:ea typeface="Arial"/>
                <a:cs typeface="Arial"/>
              </a:rPr>
              <a:t>STILLNESS, RESERVED.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6F07-DB27-4E27-A988-2A1903A7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 i="0">
                <a:solidFill>
                  <a:srgbClr val="0B0B0A"/>
                </a:solidFill>
                <a:latin typeface="Georgia"/>
                <a:ea typeface="Georgia"/>
                <a:cs typeface="Georgia"/>
              </a:defRPr>
            </a:pPr>
            <a:r>
              <a:rPr sz="3900" b="1" i="0">
                <a:solidFill>
                  <a:srgbClr val="0B0B0A"/>
                </a:solidFill>
                <a:latin typeface="Georgia"/>
                <a:ea typeface="Georgia"/>
                <a:cs typeface="Georgia"/>
              </a:rPr>
              <a:t>Space is the luxury.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0CBE8-ABB3-4543-AAB0-17B061AE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0B0B0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0B0A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477370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0cc62bbcd422c"/>
          <a:srcRect xmlns:a="http://schemas.openxmlformats.org/drawingml/2006/main" l="29677" t="0" r="29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B476D-1084-486B-A762-1D9F0906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32561-FD07-489C-9080-57570B10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BEGIN YOUR EXPEDITION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360A4-CC24-428C-BBCC-2C88426D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391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C2BB2-9BDD-4806-A6BC-1AD0345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95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F3EEE4"/>
                </a:solidFill>
                <a:latin typeface="Georgia"/>
                <a:ea typeface="Georgia"/>
                <a:cs typeface="Georgia"/>
              </a:rPr>
              <a:t>Ready for the far north?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AC67A-9AF0-410A-B76A-CDEE14E8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B7B2AA"/>
                </a:solidFill>
                <a:latin typeface="Georgia"/>
                <a:ea typeface="Georgia"/>
                <a:cs typeface="Georgia"/>
              </a:rPr>
              <a:t>10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16863-9115-43CD-B778-FE11DDE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 i="0">
                <a:solidFill>
                  <a:srgbClr val="C8C1B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8C1B8"/>
                </a:solidFill>
                <a:latin typeface="Arial"/>
                <a:ea typeface="Arial"/>
                <a:cs typeface="Arial"/>
              </a:rPr>
              <a:t>Schedule a private consultation with an expedition planner.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E26CD-042E-4F35-BDEF-6C067C19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391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FBEBC-1D96-4700-B46D-A3EE8512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52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3EEE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3EEE4"/>
                </a:solidFill>
                <a:latin typeface="Arial"/>
                <a:ea typeface="Arial"/>
                <a:cs typeface="Arial"/>
              </a:rPr>
              <a:t>hello@aurelia-expeditions.com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88BFF-2AAE-4DD8-AA73-4D02D06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91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D3916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39162"/>
                </a:solidFill>
                <a:latin typeface="Arial"/>
                <a:ea typeface="Arial"/>
                <a:cs typeface="Arial"/>
              </a:rPr>
              <a:t>+354 555 0100</a:t>
            </a:r>
          </a:p>
        </p:txBody>
      </p:sp>
    </p:spTree>
    <p:extLst>
      <p:ext uri="{BB962C8B-B14F-4D97-AF65-F5344CB8AC3E}">
        <p14:creationId xmlns:p14="http://schemas.microsoft.com/office/powerpoint/2010/main" val="474782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2026-08-11T11:26:16.7820000Z</dcterms:created>
  <dcterms:modified xsi:type="dcterms:W3CDTF">2026-08-11T11:26:16.7820000Z</dcterms:modified>
</coreProperties>
</file>