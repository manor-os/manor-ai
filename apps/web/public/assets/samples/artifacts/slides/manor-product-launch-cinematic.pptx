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Slides/_rels/notesSlide1.xml.rels><?xml version="1.0" encoding="UTF-8" standalone="yes"?>
<Relationships xmlns="http://schemas.openxmlformats.org/package/2006/relationships"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2" Type="http://schemas.openxmlformats.org/officeDocument/2006/relationships/slide" Target="../slides/slide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[Sources]</a:t>
            </a:r>
          </a:p>
          <a:p>
            <a:r>
              <a:rPr lang="zh-CN" dirty="0"/>
              <a:t>No external sources used; content is original illustrative template copy.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[Sources]</a:t>
            </a:r>
          </a:p>
          <a:p>
            <a:r>
              <a:rPr lang="zh-CN" dirty="0"/>
              <a:t>No external sources used; content is original illustrative template copy.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[Sources]</a:t>
            </a:r>
          </a:p>
          <a:p>
            <a:r>
              <a:rPr lang="zh-CN" dirty="0"/>
              <a:t>No external sources used; content is original illustrative template copy.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[Sources]</a:t>
            </a:r>
          </a:p>
          <a:p>
            <a:r>
              <a:rPr lang="zh-CN" dirty="0"/>
              <a:t>No external sources used; content is original illustrative template copy.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[Sources]</a:t>
            </a:r>
          </a:p>
          <a:p>
            <a:r>
              <a:rPr lang="zh-CN" dirty="0"/>
              <a:t>No external sources used; content is original illustrative template copy.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6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E68A">
                  <a:alpha val="34000"/>
                </a:srgbClr>
              </a:gs>
              <a:gs pos="42000">
                <a:srgbClr val="0B1110">
                  <a:alpha val="18000"/>
                </a:srgbClr>
              </a:gs>
              <a:gs pos="100000">
                <a:srgbClr val="05070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A7FFD6">
                  <a:alpha val="14000"/>
                </a:srgbClr>
              </a:gs>
              <a:gs pos="100000">
                <a:srgbClr val="05070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8096250" y="-762000"/>
            <a:ext cx="4000500" cy="4000500"/>
          </a:xfrm>
          <a:prstGeom prst="ellipse">
            <a:avLst/>
          </a:prstGeom>
          <a:solidFill>
            <a:srgbClr val="00E68A">
              <a:alpha val="8000"/>
            </a:srgbClr>
          </a:solidFill>
          <a:ln>
            <a:noFill/>
          </a:ln>
          <a:effectLst>
            <a:glow rad="247650">
              <a:srgbClr val="000000">
                <a:alpha val="30000"/>
              </a:srgbClr>
            </a:glow>
          </a:effectLst>
        </p:spPr>
      </p:sp>
      <p:sp>
        <p:nvSpPr>
          <p:cNvPr id="6" name="Ellipse 6"/>
          <p:cNvSpPr/>
          <p:nvPr/>
        </p:nvSpPr>
        <p:spPr>
          <a:xfrm>
            <a:off x="-285750" y="4381500"/>
            <a:ext cx="3619500" cy="3619500"/>
          </a:xfrm>
          <a:prstGeom prst="ellipse">
            <a:avLst/>
          </a:prstGeom>
          <a:solidFill>
            <a:srgbClr val="A7FFD6">
              <a:alpha val="5000"/>
            </a:srgbClr>
          </a:solidFill>
          <a:ln>
            <a:noFill/>
          </a:ln>
          <a:effectLst>
            <a:glow rad="247650">
              <a:srgbClr val="000000">
                <a:alpha val="30000"/>
              </a:srgbClr>
            </a:glow>
          </a:effectLst>
        </p:spPr>
      </p:sp>
      <p:sp>
        <p:nvSpPr>
          <p:cNvPr id="7" name="Freeform 7"/>
          <p:cNvSpPr/>
          <p:nvPr/>
        </p:nvSpPr>
        <p:spPr>
          <a:xfrm>
            <a:off x="7239000" y="0"/>
            <a:ext cx="4953000" cy="6858000"/>
          </a:xfrm>
          <a:custGeom>
            <a:avLst/>
            <a:gdLst/>
            <a:ahLst/>
            <a:cxnLst/>
            <a:rect l="l" t="t" r="r" b="b"/>
            <a:pathLst>
              <a:path w="4953000" h="6858000">
                <a:moveTo>
                  <a:pt x="0" y="0"/>
                </a:moveTo>
                <a:lnTo>
                  <a:pt x="4953000" y="0"/>
                </a:lnTo>
                <a:lnTo>
                  <a:pt x="4953000" y="6858000"/>
                </a:lnTo>
                <a:lnTo>
                  <a:pt x="2095500" y="6858000"/>
                </a:lnTo>
                <a:cubicBezTo>
                  <a:pt x="1428750" y="4953000"/>
                  <a:pt x="1333500" y="3048000"/>
                  <a:pt x="0" y="0"/>
                </a:cubicBezTo>
                <a:close/>
              </a:path>
            </a:pathLst>
          </a:custGeom>
          <a:solidFill>
            <a:srgbClr val="07100D">
              <a:alpha val="85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7810500" y="0"/>
            <a:ext cx="38100" cy="6858000"/>
          </a:xfrm>
          <a:prstGeom prst="rect">
            <a:avLst/>
          </a:prstGeom>
          <a:gradFill>
            <a:gsLst>
              <a:gs pos="0">
                <a:srgbClr val="00E68A">
                  <a:alpha val="0"/>
                </a:srgbClr>
              </a:gs>
              <a:gs pos="50000">
                <a:srgbClr val="00E68A">
                  <a:alpha val="81000"/>
                </a:srgbClr>
              </a:gs>
              <a:gs pos="100000">
                <a:srgbClr val="00E68A">
                  <a:alpha val="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6477000" y="1000125"/>
            <a:ext cx="4381500" cy="4381500"/>
          </a:xfrm>
          <a:prstGeom prst="ellipse">
            <a:avLst/>
          </a:prstGeom>
          <a:noFill/>
          <a:ln w="11430">
            <a:solidFill>
              <a:srgbClr val="00E68A">
                <a:alpha val="30000"/>
              </a:srgbClr>
            </a:solidFill>
          </a:ln>
        </p:spPr>
      </p:sp>
      <p:sp>
        <p:nvSpPr>
          <p:cNvPr id="10" name="Ellipse 10"/>
          <p:cNvSpPr/>
          <p:nvPr/>
        </p:nvSpPr>
        <p:spPr>
          <a:xfrm>
            <a:off x="7286625" y="1809750"/>
            <a:ext cx="2762250" cy="2762250"/>
          </a:xfrm>
          <a:prstGeom prst="ellipse">
            <a:avLst/>
          </a:prstGeom>
          <a:noFill/>
          <a:ln w="7620">
            <a:solidFill>
              <a:srgbClr val="A7FFD6">
                <a:alpha val="22000"/>
              </a:srgbClr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592455" y="540068"/>
            <a:ext cx="9245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A7FFD6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MANOR AI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97205" y="1502092"/>
            <a:ext cx="3210563" cy="1798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850" b="1" dirty="0">
                <a:solidFill>
                  <a:srgbClr val="F4FFF9"/>
                </a:solidFill>
                <a:latin typeface="Arial Black"/>
                <a:ea typeface="Microsoft YaHei"/>
                <a:cs typeface="Arial Black"/>
              </a:rPr>
              <a:t>TURN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7205" y="2721292"/>
            <a:ext cx="4703450" cy="1798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850" b="1" dirty="0">
                <a:solidFill>
                  <a:srgbClr val="F4FFF9"/>
                </a:solidFill>
                <a:latin typeface="Arial Black"/>
                <a:ea typeface="Microsoft YaHei"/>
                <a:cs typeface="Arial Black"/>
              </a:rPr>
              <a:t>AI INTO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97205" y="3940492"/>
            <a:ext cx="3753431" cy="1798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850" b="1" dirty="0">
                <a:solidFill>
                  <a:srgbClr val="00E68A"/>
                </a:solidFill>
                <a:latin typeface="Arial Black"/>
                <a:ea typeface="Microsoft YaHei"/>
                <a:cs typeface="Arial Black"/>
              </a:rPr>
              <a:t>WORK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09600" y="5467350"/>
            <a:ext cx="3429000" cy="19050"/>
          </a:xfrm>
          <a:prstGeom prst="rect">
            <a:avLst/>
          </a:prstGeom>
          <a:solidFill>
            <a:srgbClr val="00E68A">
              <a:alpha val="85000"/>
            </a:srgbClr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84835" y="5752148"/>
            <a:ext cx="6742271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F4FFF9">
                    <a:alphaMod val="86000"/>
                  </a:srgbClr>
                </a:solidFill>
                <a:latin typeface="Arial"/>
                <a:ea typeface="Microsoft YaHei"/>
                <a:cs typeface="Arial"/>
              </a:rPr>
              <a:t>From brief to controlled, reviewable execution.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05962" y="6031706"/>
            <a:ext cx="14001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80908B"/>
                </a:solidFill>
                <a:latin typeface="Arial"/>
                <a:ea typeface="Microsoft YaHei"/>
                <a:cs typeface="Arial"/>
              </a:rPr>
              <a:t>PUBLIC TEMPLATE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6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E68A">
                  <a:alpha val="34000"/>
                </a:srgbClr>
              </a:gs>
              <a:gs pos="42000">
                <a:srgbClr val="0B1110">
                  <a:alpha val="18000"/>
                </a:srgbClr>
              </a:gs>
              <a:gs pos="100000">
                <a:srgbClr val="05070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A7FFD6">
                  <a:alpha val="14000"/>
                </a:srgbClr>
              </a:gs>
              <a:gs pos="100000">
                <a:srgbClr val="05070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8096250" y="-762000"/>
            <a:ext cx="4000500" cy="4000500"/>
          </a:xfrm>
          <a:prstGeom prst="ellipse">
            <a:avLst/>
          </a:prstGeom>
          <a:solidFill>
            <a:srgbClr val="00E68A">
              <a:alpha val="8000"/>
            </a:srgbClr>
          </a:solidFill>
          <a:ln>
            <a:noFill/>
          </a:ln>
          <a:effectLst>
            <a:glow rad="247650">
              <a:srgbClr val="000000">
                <a:alpha val="30000"/>
              </a:srgbClr>
            </a:glow>
          </a:effectLst>
        </p:spPr>
      </p:sp>
      <p:sp>
        <p:nvSpPr>
          <p:cNvPr id="6" name="Ellipse 6"/>
          <p:cNvSpPr/>
          <p:nvPr/>
        </p:nvSpPr>
        <p:spPr>
          <a:xfrm>
            <a:off x="-285750" y="4381500"/>
            <a:ext cx="3619500" cy="3619500"/>
          </a:xfrm>
          <a:prstGeom prst="ellipse">
            <a:avLst/>
          </a:prstGeom>
          <a:solidFill>
            <a:srgbClr val="A7FFD6">
              <a:alpha val="5000"/>
            </a:srgbClr>
          </a:solidFill>
          <a:ln>
            <a:noFill/>
          </a:ln>
          <a:effectLst>
            <a:glow rad="247650">
              <a:srgbClr val="000000">
                <a:alpha val="30000"/>
              </a:srgbClr>
            </a:glow>
          </a:effectLst>
        </p:spPr>
      </p:sp>
      <p:sp>
        <p:nvSpPr>
          <p:cNvPr id="7" name="TextBox 7"/>
          <p:cNvSpPr txBox="1"/>
          <p:nvPr/>
        </p:nvSpPr>
        <p:spPr>
          <a:xfrm>
            <a:off x="569595" y="498158"/>
            <a:ext cx="9161545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4FFF9"/>
                </a:solidFill>
                <a:latin typeface="Arial Black"/>
                <a:ea typeface="Microsoft YaHei"/>
                <a:cs typeface="Arial Black"/>
              </a:rPr>
              <a:t>THE MISSING LAYER IS NOT INTELLIGENCE.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9595" y="917258"/>
            <a:ext cx="6673784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00E68A"/>
                </a:solidFill>
                <a:latin typeface="Arial Black"/>
                <a:ea typeface="Microsoft YaHei"/>
                <a:cs typeface="Arial Black"/>
              </a:rPr>
              <a:t>It is accountable execution.</a:t>
            </a:r>
          </a:p>
        </p:txBody>
      </p:sp>
      <p:sp>
        <p:nvSpPr>
          <p:cNvPr id="9" name="Rectangle 9"/>
          <p:cNvSpPr/>
          <p:nvPr/>
        </p:nvSpPr>
        <p:spPr>
          <a:xfrm>
            <a:off x="800100" y="1924050"/>
            <a:ext cx="4095750" cy="3619500"/>
          </a:xfrm>
          <a:prstGeom prst="roundRect">
            <a:avLst>
              <a:gd name="adj" fmla="val 7368"/>
            </a:avLst>
          </a:prstGeom>
          <a:solidFill>
            <a:srgbClr val="08100E">
              <a:alpha val="95000"/>
            </a:srgbClr>
          </a:solidFill>
          <a:ln w="13335">
            <a:solidFill>
              <a:srgbClr val="20332D">
                <a:alpha val="95000"/>
              </a:srgbClr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39190" y="2244090"/>
            <a:ext cx="88762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80908B"/>
                </a:solidFill>
                <a:latin typeface="Arial"/>
                <a:ea typeface="Microsoft YaHei"/>
                <a:cs typeface="Arial"/>
              </a:rPr>
              <a:t>ASKING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12520" y="2626995"/>
            <a:ext cx="2700685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F4FFF9"/>
                </a:solidFill>
                <a:latin typeface="Arial Black"/>
                <a:ea typeface="Microsoft YaHei"/>
                <a:cs typeface="Arial Black"/>
              </a:rPr>
              <a:t>A prompt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5380" y="3354705"/>
            <a:ext cx="299770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F4FFF9">
                    <a:alphaMod val="78000"/>
                  </a:srgbClr>
                </a:solidFill>
                <a:latin typeface="Arial"/>
                <a:ea typeface="Microsoft YaHei"/>
                <a:cs typeface="Arial"/>
              </a:rPr>
              <a:t>creates an answer.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39190" y="4091940"/>
            <a:ext cx="29375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0908B"/>
                </a:solidFill>
                <a:latin typeface="Arial"/>
                <a:ea typeface="Microsoft YaHei"/>
                <a:cs typeface="Arial"/>
              </a:rPr>
              <a:t>But ownership, scope,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39190" y="4425315"/>
            <a:ext cx="266147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0908B"/>
                </a:solidFill>
                <a:latin typeface="Arial"/>
                <a:ea typeface="Microsoft YaHei"/>
                <a:cs typeface="Arial"/>
              </a:rPr>
              <a:t>review, and delivery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39190" y="4758690"/>
            <a:ext cx="231971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0908B"/>
                </a:solidFill>
                <a:latin typeface="Arial"/>
                <a:ea typeface="Microsoft YaHei"/>
                <a:cs typeface="Arial"/>
              </a:rPr>
              <a:t>still sit with you.</a:t>
            </a:r>
          </a:p>
        </p:txBody>
      </p:sp>
      <p:sp>
        <p:nvSpPr>
          <p:cNvPr id="16" name="Line 16"/>
          <p:cNvSpPr/>
          <p:nvPr/>
        </p:nvSpPr>
        <p:spPr>
          <a:xfrm>
            <a:off x="5810250" y="2000250"/>
            <a:ext cx="9525" cy="3571875"/>
          </a:xfrm>
          <a:custGeom>
            <a:avLst/>
            <a:gdLst/>
            <a:ahLst/>
            <a:cxnLst/>
            <a:rect l="l" t="t" r="r" b="b"/>
            <a:pathLst>
              <a:path w="9525" h="3571875">
                <a:moveTo>
                  <a:pt x="0" y="0"/>
                </a:moveTo>
                <a:lnTo>
                  <a:pt x="0" y="3571875"/>
                </a:lnTo>
              </a:path>
            </a:pathLst>
          </a:custGeom>
          <a:noFill/>
          <a:ln w="19050">
            <a:solidFill>
              <a:srgbClr val="00E68A">
                <a:alpha val="75000"/>
              </a:srgbClr>
            </a:solidFill>
          </a:ln>
        </p:spPr>
      </p:sp>
      <p:sp>
        <p:nvSpPr>
          <p:cNvPr id="17" name="Ellipse 17"/>
          <p:cNvSpPr/>
          <p:nvPr/>
        </p:nvSpPr>
        <p:spPr>
          <a:xfrm>
            <a:off x="5410200" y="3371850"/>
            <a:ext cx="800100" cy="800100"/>
          </a:xfrm>
          <a:prstGeom prst="ellipse">
            <a:avLst/>
          </a:prstGeom>
          <a:solidFill>
            <a:srgbClr val="08100E"/>
          </a:solidFill>
          <a:ln w="19050">
            <a:solidFill>
              <a:srgbClr val="00E68A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580544" y="3698558"/>
            <a:ext cx="4594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00E68A"/>
                </a:solidFill>
                <a:latin typeface="Arial"/>
                <a:ea typeface="Microsoft YaHei"/>
                <a:cs typeface="Arial"/>
              </a:rPr>
              <a:t>GAP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724650" y="1924050"/>
            <a:ext cx="4667250" cy="3619500"/>
          </a:xfrm>
          <a:prstGeom prst="roundRect">
            <a:avLst>
              <a:gd name="adj" fmla="val 7368"/>
            </a:avLst>
          </a:prstGeom>
          <a:solidFill>
            <a:srgbClr val="07120F">
              <a:alpha val="95000"/>
            </a:srgbClr>
          </a:solidFill>
          <a:ln w="15240">
            <a:solidFill>
              <a:srgbClr val="00E68A">
                <a:alpha val="95000"/>
              </a:srgbClr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7082790" y="2244090"/>
            <a:ext cx="134308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A7FFD6"/>
                </a:solidFill>
                <a:latin typeface="Arial"/>
                <a:ea typeface="Microsoft YaHei"/>
                <a:cs typeface="Arial"/>
              </a:rPr>
              <a:t>EXECUTING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56120" y="2626995"/>
            <a:ext cx="1444728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F4FFF9"/>
                </a:solidFill>
                <a:latin typeface="Arial Black"/>
                <a:ea typeface="Microsoft YaHei"/>
                <a:cs typeface="Arial Black"/>
              </a:rPr>
              <a:t>A job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078980" y="3354705"/>
            <a:ext cx="276767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F4FFF9">
                    <a:alphaMod val="82000"/>
                  </a:srgbClr>
                </a:solidFill>
                <a:latin typeface="Arial"/>
                <a:ea typeface="Microsoft YaHei"/>
                <a:cs typeface="Arial"/>
              </a:rPr>
              <a:t>creates evidence.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082790" y="4091940"/>
            <a:ext cx="231971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A7FFD6"/>
                </a:solidFill>
                <a:latin typeface="Arial"/>
                <a:ea typeface="Microsoft YaHei"/>
                <a:cs typeface="Arial"/>
              </a:rPr>
              <a:t>Steps are visible.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082790" y="4425315"/>
            <a:ext cx="347643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A7FFD6"/>
                </a:solidFill>
                <a:latin typeface="Arial"/>
                <a:ea typeface="Microsoft YaHei"/>
                <a:cs typeface="Arial"/>
              </a:rPr>
              <a:t>Artifacts are inspectable.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082790" y="4758690"/>
            <a:ext cx="341071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A7FFD6"/>
                </a:solidFill>
                <a:latin typeface="Arial"/>
                <a:ea typeface="Microsoft YaHei"/>
                <a:cs typeface="Arial"/>
              </a:rPr>
              <a:t>Approvals stay in control.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6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E68A">
                  <a:alpha val="34000"/>
                </a:srgbClr>
              </a:gs>
              <a:gs pos="42000">
                <a:srgbClr val="0B1110">
                  <a:alpha val="18000"/>
                </a:srgbClr>
              </a:gs>
              <a:gs pos="100000">
                <a:srgbClr val="05070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A7FFD6">
                  <a:alpha val="14000"/>
                </a:srgbClr>
              </a:gs>
              <a:gs pos="100000">
                <a:srgbClr val="05070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8096250" y="-762000"/>
            <a:ext cx="4000500" cy="4000500"/>
          </a:xfrm>
          <a:prstGeom prst="ellipse">
            <a:avLst/>
          </a:prstGeom>
          <a:solidFill>
            <a:srgbClr val="00E68A">
              <a:alpha val="8000"/>
            </a:srgbClr>
          </a:solidFill>
          <a:ln>
            <a:noFill/>
          </a:ln>
          <a:effectLst>
            <a:glow rad="247650">
              <a:srgbClr val="000000">
                <a:alpha val="30000"/>
              </a:srgbClr>
            </a:glow>
          </a:effectLst>
        </p:spPr>
      </p:sp>
      <p:sp>
        <p:nvSpPr>
          <p:cNvPr id="6" name="Ellipse 6"/>
          <p:cNvSpPr/>
          <p:nvPr/>
        </p:nvSpPr>
        <p:spPr>
          <a:xfrm>
            <a:off x="-285750" y="4381500"/>
            <a:ext cx="3619500" cy="3619500"/>
          </a:xfrm>
          <a:prstGeom prst="ellipse">
            <a:avLst/>
          </a:prstGeom>
          <a:solidFill>
            <a:srgbClr val="A7FFD6">
              <a:alpha val="5000"/>
            </a:srgbClr>
          </a:solidFill>
          <a:ln>
            <a:noFill/>
          </a:ln>
          <a:effectLst>
            <a:glow rad="247650">
              <a:srgbClr val="000000">
                <a:alpha val="30000"/>
              </a:srgbClr>
            </a:glow>
          </a:effectLst>
        </p:spPr>
      </p:sp>
      <p:sp>
        <p:nvSpPr>
          <p:cNvPr id="7" name="TextBox 7"/>
          <p:cNvSpPr txBox="1"/>
          <p:nvPr/>
        </p:nvSpPr>
        <p:spPr>
          <a:xfrm>
            <a:off x="512445" y="441008"/>
            <a:ext cx="10006901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4FFF9"/>
                </a:solidFill>
                <a:latin typeface="Arial Black"/>
                <a:ea typeface="Microsoft YaHei"/>
                <a:cs typeface="Arial Black"/>
              </a:rPr>
              <a:t>A BRIEF BECOMES A REVIEWABLE WORKFLOW.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29590" y="986790"/>
            <a:ext cx="795870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0908B"/>
                </a:solidFill>
                <a:latin typeface="Arial"/>
                <a:ea typeface="Microsoft YaHei"/>
                <a:cs typeface="Arial"/>
              </a:rPr>
              <a:t>Manor makes the work path visible before the artifact lands.</a:t>
            </a:r>
          </a:p>
        </p:txBody>
      </p:sp>
      <p:sp>
        <p:nvSpPr>
          <p:cNvPr id="9" name="Freeform 9"/>
          <p:cNvSpPr/>
          <p:nvPr/>
        </p:nvSpPr>
        <p:spPr>
          <a:xfrm>
            <a:off x="1047750" y="2095500"/>
            <a:ext cx="9429750" cy="2476500"/>
          </a:xfrm>
          <a:custGeom>
            <a:avLst/>
            <a:gdLst/>
            <a:ahLst/>
            <a:cxnLst/>
            <a:rect l="l" t="t" r="r" b="b"/>
            <a:pathLst>
              <a:path w="9429750" h="2476500">
                <a:moveTo>
                  <a:pt x="0" y="1333500"/>
                </a:moveTo>
                <a:cubicBezTo>
                  <a:pt x="1524000" y="142875"/>
                  <a:pt x="2952750" y="2476500"/>
                  <a:pt x="4476750" y="1238250"/>
                </a:cubicBezTo>
                <a:cubicBezTo>
                  <a:pt x="6000750" y="0"/>
                  <a:pt x="7524750" y="238125"/>
                  <a:pt x="9429750" y="1333500"/>
                </a:cubicBezTo>
              </a:path>
            </a:pathLst>
          </a:custGeom>
          <a:noFill/>
          <a:ln w="28575">
            <a:solidFill>
              <a:srgbClr val="00E68A">
                <a:alpha val="55000"/>
              </a:srgbClr>
            </a:solidFill>
          </a:ln>
        </p:spPr>
      </p:sp>
      <p:sp>
        <p:nvSpPr>
          <p:cNvPr id="10" name="Freeform 10"/>
          <p:cNvSpPr/>
          <p:nvPr/>
        </p:nvSpPr>
        <p:spPr>
          <a:xfrm>
            <a:off x="10144125" y="3257550"/>
            <a:ext cx="285750" cy="342900"/>
          </a:xfrm>
          <a:custGeom>
            <a:avLst/>
            <a:gdLst/>
            <a:ahLst/>
            <a:cxnLst/>
            <a:rect l="l" t="t" r="r" b="b"/>
            <a:pathLst>
              <a:path w="285750" h="342900">
                <a:moveTo>
                  <a:pt x="285750" y="171450"/>
                </a:moveTo>
                <a:lnTo>
                  <a:pt x="0" y="0"/>
                </a:lnTo>
                <a:lnTo>
                  <a:pt x="19050" y="342900"/>
                </a:lnTo>
                <a:close/>
              </a:path>
            </a:pathLst>
          </a:custGeom>
          <a:solidFill>
            <a:srgbClr val="00E68A">
              <a:alpha val="85000"/>
            </a:srgbClr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495300" y="2838450"/>
            <a:ext cx="1104900" cy="1104900"/>
          </a:xfrm>
          <a:prstGeom prst="ellipse">
            <a:avLst/>
          </a:prstGeom>
          <a:solidFill>
            <a:srgbClr val="08120F">
              <a:alpha val="98000"/>
            </a:srgbClr>
          </a:solidFill>
          <a:ln w="15240">
            <a:solidFill>
              <a:srgbClr val="00E68A">
                <a:alpha val="98000"/>
              </a:srgbClr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930938" y="3152775"/>
            <a:ext cx="23362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0E68A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6493" y="3465671"/>
            <a:ext cx="582513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F4FFF9"/>
                </a:solidFill>
                <a:latin typeface="Arial"/>
                <a:ea typeface="Microsoft YaHei"/>
                <a:cs typeface="Arial"/>
              </a:rPr>
              <a:t>BRIEF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-302323" y="4075271"/>
            <a:ext cx="2700147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dirty="0">
                <a:solidFill>
                  <a:srgbClr val="80908B"/>
                </a:solidFill>
                <a:latin typeface="Arial"/>
                <a:ea typeface="Microsoft YaHei"/>
                <a:cs typeface="Arial"/>
              </a:rPr>
              <a:t>Intent, files, constraints</a:t>
            </a:r>
          </a:p>
        </p:txBody>
      </p:sp>
      <p:sp>
        <p:nvSpPr>
          <p:cNvPr id="15" name="Ellipse 15"/>
          <p:cNvSpPr/>
          <p:nvPr/>
        </p:nvSpPr>
        <p:spPr>
          <a:xfrm>
            <a:off x="2686050" y="2162175"/>
            <a:ext cx="1104900" cy="1104900"/>
          </a:xfrm>
          <a:prstGeom prst="ellipse">
            <a:avLst/>
          </a:prstGeom>
          <a:solidFill>
            <a:srgbClr val="08120F">
              <a:alpha val="98000"/>
            </a:srgbClr>
          </a:solidFill>
          <a:ln w="15240">
            <a:solidFill>
              <a:srgbClr val="00E68A">
                <a:alpha val="98000"/>
              </a:srgbClr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3092934" y="2476500"/>
            <a:ext cx="29113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0E68A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018265" y="2789396"/>
            <a:ext cx="440471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F4FFF9"/>
                </a:solidFill>
                <a:latin typeface="Arial"/>
                <a:ea typeface="Microsoft YaHei"/>
                <a:cs typeface="Arial"/>
              </a:rPr>
              <a:t>JOB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247436" y="3398996"/>
            <a:ext cx="1982129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dirty="0">
                <a:solidFill>
                  <a:srgbClr val="80908B"/>
                </a:solidFill>
                <a:latin typeface="Arial"/>
                <a:ea typeface="Microsoft YaHei"/>
                <a:cs typeface="Arial"/>
              </a:rPr>
              <a:t>Scope, plan, owner</a:t>
            </a:r>
          </a:p>
        </p:txBody>
      </p:sp>
      <p:sp>
        <p:nvSpPr>
          <p:cNvPr id="19" name="Ellipse 19"/>
          <p:cNvSpPr/>
          <p:nvPr/>
        </p:nvSpPr>
        <p:spPr>
          <a:xfrm>
            <a:off x="4972050" y="3209925"/>
            <a:ext cx="1104900" cy="1104900"/>
          </a:xfrm>
          <a:prstGeom prst="ellipse">
            <a:avLst/>
          </a:prstGeom>
          <a:solidFill>
            <a:srgbClr val="08120F">
              <a:alpha val="98000"/>
            </a:srgbClr>
          </a:solidFill>
          <a:ln w="15240">
            <a:solidFill>
              <a:srgbClr val="00E68A">
                <a:alpha val="98000"/>
              </a:srgbClr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5378934" y="3524250"/>
            <a:ext cx="29113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0E68A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205927" y="3837146"/>
            <a:ext cx="63714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F4FFF9"/>
                </a:solidFill>
                <a:latin typeface="Arial"/>
                <a:ea typeface="Microsoft YaHei"/>
                <a:cs typeface="Arial"/>
              </a:rPr>
              <a:t>STEPS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502217" y="4446746"/>
            <a:ext cx="204456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dirty="0">
                <a:solidFill>
                  <a:srgbClr val="80908B"/>
                </a:solidFill>
                <a:latin typeface="Arial"/>
                <a:ea typeface="Microsoft YaHei"/>
                <a:cs typeface="Arial"/>
              </a:rPr>
              <a:t>Traceable tool work</a:t>
            </a:r>
          </a:p>
        </p:txBody>
      </p:sp>
      <p:sp>
        <p:nvSpPr>
          <p:cNvPr id="23" name="Ellipse 23"/>
          <p:cNvSpPr/>
          <p:nvPr/>
        </p:nvSpPr>
        <p:spPr>
          <a:xfrm>
            <a:off x="7210425" y="2162175"/>
            <a:ext cx="1104900" cy="1104900"/>
          </a:xfrm>
          <a:prstGeom prst="ellipse">
            <a:avLst/>
          </a:prstGeom>
          <a:solidFill>
            <a:srgbClr val="08120F">
              <a:alpha val="98000"/>
            </a:srgbClr>
          </a:solidFill>
          <a:ln w="15240">
            <a:solidFill>
              <a:srgbClr val="00E68A">
                <a:alpha val="98000"/>
              </a:srgbClr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7617309" y="2476500"/>
            <a:ext cx="29113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0E68A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389671" y="2789396"/>
            <a:ext cx="746409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F4FFF9"/>
                </a:solidFill>
                <a:latin typeface="Arial"/>
                <a:ea typeface="Microsoft YaHei"/>
                <a:cs typeface="Arial"/>
              </a:rPr>
              <a:t>REVIEW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803029" y="3398996"/>
            <a:ext cx="1919692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dirty="0">
                <a:solidFill>
                  <a:srgbClr val="80908B"/>
                </a:solidFill>
                <a:latin typeface="Arial"/>
                <a:ea typeface="Microsoft YaHei"/>
                <a:cs typeface="Arial"/>
              </a:rPr>
              <a:t>Human checkpoints</a:t>
            </a:r>
          </a:p>
        </p:txBody>
      </p:sp>
      <p:sp>
        <p:nvSpPr>
          <p:cNvPr id="27" name="Ellipse 27"/>
          <p:cNvSpPr/>
          <p:nvPr/>
        </p:nvSpPr>
        <p:spPr>
          <a:xfrm>
            <a:off x="9544050" y="2838450"/>
            <a:ext cx="1104900" cy="1104900"/>
          </a:xfrm>
          <a:prstGeom prst="ellipse">
            <a:avLst/>
          </a:prstGeom>
          <a:solidFill>
            <a:srgbClr val="08120F">
              <a:alpha val="98000"/>
            </a:srgbClr>
          </a:solidFill>
          <a:ln w="15240">
            <a:solidFill>
              <a:srgbClr val="00E68A">
                <a:alpha val="98000"/>
              </a:srgbClr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9950934" y="3152775"/>
            <a:ext cx="29113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0E68A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624958" y="3465671"/>
            <a:ext cx="943083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F4FFF9"/>
                </a:solidFill>
                <a:latin typeface="Arial"/>
                <a:ea typeface="Microsoft YaHei"/>
                <a:cs typeface="Arial"/>
              </a:rPr>
              <a:t>ARTIFACT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297948" y="4075271"/>
            <a:ext cx="159710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dirty="0">
                <a:solidFill>
                  <a:srgbClr val="80908B"/>
                </a:solidFill>
                <a:latin typeface="Arial"/>
                <a:ea typeface="Microsoft YaHei"/>
                <a:cs typeface="Arial"/>
              </a:rPr>
              <a:t>Editable output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333875" y="5219700"/>
            <a:ext cx="1162050" cy="342900"/>
          </a:xfrm>
          <a:prstGeom prst="roundRect">
            <a:avLst>
              <a:gd name="adj" fmla="val 50000"/>
            </a:avLst>
          </a:prstGeom>
          <a:solidFill>
            <a:srgbClr val="07100D">
              <a:alpha val="75000"/>
            </a:srgbClr>
          </a:solidFill>
          <a:ln w="9525">
            <a:solidFill>
              <a:srgbClr val="A7FFD6">
                <a:alpha val="75000"/>
              </a:srgbClr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4438632" y="5334952"/>
            <a:ext cx="9525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A7FFD6"/>
                </a:solidFill>
                <a:latin typeface="Arial"/>
                <a:ea typeface="Microsoft YaHei"/>
                <a:cs typeface="Arial"/>
              </a:rPr>
              <a:t>review gate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619875" y="5219700"/>
            <a:ext cx="1162050" cy="342900"/>
          </a:xfrm>
          <a:prstGeom prst="roundRect">
            <a:avLst>
              <a:gd name="adj" fmla="val 50000"/>
            </a:avLst>
          </a:prstGeom>
          <a:solidFill>
            <a:srgbClr val="07100D">
              <a:alpha val="75000"/>
            </a:srgbClr>
          </a:solidFill>
          <a:ln w="9525">
            <a:solidFill>
              <a:srgbClr val="A7FFD6">
                <a:alpha val="75000"/>
              </a:srgbClr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6724632" y="5334952"/>
            <a:ext cx="9525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A7FFD6"/>
                </a:solidFill>
                <a:latin typeface="Arial"/>
                <a:ea typeface="Microsoft YaHei"/>
                <a:cs typeface="Arial"/>
              </a:rPr>
              <a:t>review gate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905875" y="5219700"/>
            <a:ext cx="1162050" cy="342900"/>
          </a:xfrm>
          <a:prstGeom prst="roundRect">
            <a:avLst>
              <a:gd name="adj" fmla="val 50000"/>
            </a:avLst>
          </a:prstGeom>
          <a:solidFill>
            <a:srgbClr val="07100D">
              <a:alpha val="75000"/>
            </a:srgbClr>
          </a:solidFill>
          <a:ln w="9525">
            <a:solidFill>
              <a:srgbClr val="A7FFD6">
                <a:alpha val="75000"/>
              </a:srgbClr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9010632" y="5334952"/>
            <a:ext cx="9525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A7FFD6"/>
                </a:solidFill>
                <a:latin typeface="Arial"/>
                <a:ea typeface="Microsoft YaHei"/>
                <a:cs typeface="Arial"/>
              </a:rPr>
              <a:t>review gate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31495" y="6032182"/>
            <a:ext cx="784974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4FFF9">
                    <a:alphaMod val="82000"/>
                  </a:srgbClr>
                </a:solidFill>
                <a:latin typeface="Arial"/>
                <a:ea typeface="Microsoft YaHei"/>
                <a:cs typeface="Arial"/>
              </a:rPr>
              <a:t>Controlled AI work is not a black box. It is a chain you can inspect.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6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E68A">
                  <a:alpha val="34000"/>
                </a:srgbClr>
              </a:gs>
              <a:gs pos="42000">
                <a:srgbClr val="0B1110">
                  <a:alpha val="18000"/>
                </a:srgbClr>
              </a:gs>
              <a:gs pos="100000">
                <a:srgbClr val="05070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A7FFD6">
                  <a:alpha val="14000"/>
                </a:srgbClr>
              </a:gs>
              <a:gs pos="100000">
                <a:srgbClr val="05070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8096250" y="-762000"/>
            <a:ext cx="4000500" cy="4000500"/>
          </a:xfrm>
          <a:prstGeom prst="ellipse">
            <a:avLst/>
          </a:prstGeom>
          <a:solidFill>
            <a:srgbClr val="00E68A">
              <a:alpha val="8000"/>
            </a:srgbClr>
          </a:solidFill>
          <a:ln>
            <a:noFill/>
          </a:ln>
          <a:effectLst>
            <a:glow rad="247650">
              <a:srgbClr val="000000">
                <a:alpha val="30000"/>
              </a:srgbClr>
            </a:glow>
          </a:effectLst>
        </p:spPr>
      </p:sp>
      <p:sp>
        <p:nvSpPr>
          <p:cNvPr id="6" name="Ellipse 6"/>
          <p:cNvSpPr/>
          <p:nvPr/>
        </p:nvSpPr>
        <p:spPr>
          <a:xfrm>
            <a:off x="-285750" y="4381500"/>
            <a:ext cx="3619500" cy="3619500"/>
          </a:xfrm>
          <a:prstGeom prst="ellipse">
            <a:avLst/>
          </a:prstGeom>
          <a:solidFill>
            <a:srgbClr val="A7FFD6">
              <a:alpha val="5000"/>
            </a:srgbClr>
          </a:solidFill>
          <a:ln>
            <a:noFill/>
          </a:ln>
          <a:effectLst>
            <a:glow rad="247650">
              <a:srgbClr val="000000">
                <a:alpha val="30000"/>
              </a:srgbClr>
            </a:glow>
          </a:effectLst>
        </p:spPr>
      </p:sp>
      <p:sp>
        <p:nvSpPr>
          <p:cNvPr id="7" name="TextBox 7"/>
          <p:cNvSpPr txBox="1"/>
          <p:nvPr/>
        </p:nvSpPr>
        <p:spPr>
          <a:xfrm>
            <a:off x="569595" y="402908"/>
            <a:ext cx="8678485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4FFF9"/>
                </a:solidFill>
                <a:latin typeface="Arial Black"/>
                <a:ea typeface="Microsoft YaHei"/>
                <a:cs typeface="Arial Black"/>
              </a:rPr>
              <a:t>OPERATORS NEED SIGNALS, NOT VIBES.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87692" y="937736"/>
            <a:ext cx="7904226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80908B"/>
                </a:solidFill>
                <a:latin typeface="Arial"/>
                <a:ea typeface="Microsoft YaHei"/>
                <a:cs typeface="Arial"/>
              </a:rPr>
              <a:t>Illustrative dashboard metrics for a controlled-work template.</a:t>
            </a:r>
          </a:p>
        </p:txBody>
      </p:sp>
      <p:sp>
        <p:nvSpPr>
          <p:cNvPr id="9" name="Rectangle 9"/>
          <p:cNvSpPr/>
          <p:nvPr/>
        </p:nvSpPr>
        <p:spPr>
          <a:xfrm>
            <a:off x="609600" y="1428750"/>
            <a:ext cx="3238500" cy="457200"/>
          </a:xfrm>
          <a:prstGeom prst="roundRect">
            <a:avLst>
              <a:gd name="adj" fmla="val 50000"/>
            </a:avLst>
          </a:prstGeom>
          <a:solidFill>
            <a:srgbClr val="092017">
              <a:alpha val="92000"/>
            </a:srgbClr>
          </a:solidFill>
          <a:ln w="11430">
            <a:solidFill>
              <a:srgbClr val="00E68A">
                <a:alpha val="92000"/>
              </a:srgbClr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802005" y="1587818"/>
            <a:ext cx="34916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E68A"/>
                </a:solidFill>
                <a:latin typeface="Arial"/>
                <a:ea typeface="Microsoft YaHei"/>
                <a:cs typeface="Arial"/>
              </a:rPr>
              <a:t>ILLUSTRATIVE — NOT CUSTOMER DATA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09600" y="2333625"/>
            <a:ext cx="2400300" cy="2667000"/>
          </a:xfrm>
          <a:prstGeom prst="roundRect">
            <a:avLst>
              <a:gd name="adj" fmla="val 10317"/>
            </a:avLst>
          </a:prstGeom>
          <a:solidFill>
            <a:srgbClr val="07100D"/>
          </a:solidFill>
          <a:ln w="11430">
            <a:solidFill>
              <a:srgbClr val="1B342B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81050" y="2505075"/>
            <a:ext cx="666750" cy="57150"/>
          </a:xfrm>
          <a:prstGeom prst="roundRect">
            <a:avLst>
              <a:gd name="adj" fmla="val 50000"/>
            </a:avLst>
          </a:prstGeom>
          <a:solidFill>
            <a:srgbClr val="00E68A">
              <a:alpha val="90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96290" y="2882265"/>
            <a:ext cx="1336472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00E68A"/>
                </a:solidFill>
                <a:latin typeface="Arial Black"/>
                <a:ea typeface="Microsoft YaHei"/>
                <a:cs typeface="Arial Black"/>
              </a:rPr>
              <a:t>92%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3438" y="3636169"/>
            <a:ext cx="1815971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F4FFF9"/>
                </a:solidFill>
                <a:latin typeface="Arial"/>
                <a:ea typeface="Microsoft YaHei"/>
                <a:cs typeface="Arial"/>
              </a:rPr>
              <a:t>steps visible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0105" y="4188142"/>
            <a:ext cx="24693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0908B"/>
                </a:solidFill>
                <a:latin typeface="Arial"/>
                <a:ea typeface="Microsoft YaHei"/>
                <a:cs typeface="Arial"/>
              </a:rPr>
              <a:t>Track where work is, not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0105" y="4454842"/>
            <a:ext cx="17792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0908B"/>
                </a:solidFill>
                <a:latin typeface="Arial"/>
                <a:ea typeface="Microsoft YaHei"/>
                <a:cs typeface="Arial"/>
              </a:rPr>
              <a:t>just what it says.</a:t>
            </a:r>
          </a:p>
        </p:txBody>
      </p:sp>
      <p:sp>
        <p:nvSpPr>
          <p:cNvPr id="17" name="Rectangle 17"/>
          <p:cNvSpPr/>
          <p:nvPr/>
        </p:nvSpPr>
        <p:spPr>
          <a:xfrm>
            <a:off x="3429000" y="2333625"/>
            <a:ext cx="2400300" cy="2667000"/>
          </a:xfrm>
          <a:prstGeom prst="roundRect">
            <a:avLst>
              <a:gd name="adj" fmla="val 10317"/>
            </a:avLst>
          </a:prstGeom>
          <a:solidFill>
            <a:srgbClr val="07100D"/>
          </a:solidFill>
          <a:ln w="11430">
            <a:solidFill>
              <a:srgbClr val="1B342B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3600450" y="2505075"/>
            <a:ext cx="666750" cy="57150"/>
          </a:xfrm>
          <a:prstGeom prst="roundRect">
            <a:avLst>
              <a:gd name="adj" fmla="val 50000"/>
            </a:avLst>
          </a:prstGeom>
          <a:solidFill>
            <a:srgbClr val="00E68A">
              <a:alpha val="90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3615690" y="2882265"/>
            <a:ext cx="931621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00E68A"/>
                </a:solidFill>
                <a:latin typeface="Arial Black"/>
                <a:ea typeface="Microsoft YaHei"/>
                <a:cs typeface="Arial Black"/>
              </a:rPr>
              <a:t>4×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652838" y="3636169"/>
            <a:ext cx="2822347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F4FFF9"/>
                </a:solidFill>
                <a:latin typeface="Arial"/>
                <a:ea typeface="Microsoft YaHei"/>
                <a:cs typeface="Arial"/>
              </a:rPr>
              <a:t>faster review loops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659505" y="4188142"/>
            <a:ext cx="38691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0908B"/>
                </a:solidFill>
                <a:latin typeface="Arial"/>
                <a:ea typeface="Microsoft YaHei"/>
                <a:cs typeface="Arial"/>
              </a:rPr>
              <a:t>Use checkpoints instead of final-output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659505" y="4454842"/>
            <a:ext cx="96097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0908B"/>
                </a:solidFill>
                <a:latin typeface="Arial"/>
                <a:ea typeface="Microsoft YaHei"/>
                <a:cs typeface="Arial"/>
              </a:rPr>
              <a:t>surprise.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248400" y="2333625"/>
            <a:ext cx="2400300" cy="2667000"/>
          </a:xfrm>
          <a:prstGeom prst="roundRect">
            <a:avLst>
              <a:gd name="adj" fmla="val 10317"/>
            </a:avLst>
          </a:prstGeom>
          <a:solidFill>
            <a:srgbClr val="07100D"/>
          </a:solidFill>
          <a:ln w="11430">
            <a:solidFill>
              <a:srgbClr val="1B342B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6419850" y="2505075"/>
            <a:ext cx="666750" cy="57150"/>
          </a:xfrm>
          <a:prstGeom prst="roundRect">
            <a:avLst>
              <a:gd name="adj" fmla="val 50000"/>
            </a:avLst>
          </a:prstGeom>
          <a:solidFill>
            <a:srgbClr val="00E68A">
              <a:alpha val="90000"/>
            </a:srgbClr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435090" y="2882265"/>
            <a:ext cx="526771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00E68A"/>
                </a:solidFill>
                <a:latin typeface="Arial Black"/>
                <a:ea typeface="Microsoft YaHei"/>
                <a:cs typeface="Arial Black"/>
              </a:rPr>
              <a:t>0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472238" y="3636169"/>
            <a:ext cx="2276029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F4FFF9"/>
                </a:solidFill>
                <a:latin typeface="Arial"/>
                <a:ea typeface="Microsoft YaHei"/>
                <a:cs typeface="Arial"/>
              </a:rPr>
              <a:t>hidden handoffs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478905" y="4188142"/>
            <a:ext cx="28242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0908B"/>
                </a:solidFill>
                <a:latin typeface="Arial"/>
                <a:ea typeface="Microsoft YaHei"/>
                <a:cs typeface="Arial"/>
              </a:rPr>
              <a:t>Keep job context attached to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478905" y="4454842"/>
            <a:ext cx="145389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0908B"/>
                </a:solidFill>
                <a:latin typeface="Arial"/>
                <a:ea typeface="Microsoft YaHei"/>
                <a:cs typeface="Arial"/>
              </a:rPr>
              <a:t>each artifact.</a:t>
            </a:r>
          </a:p>
        </p:txBody>
      </p:sp>
      <p:sp>
        <p:nvSpPr>
          <p:cNvPr id="29" name="Rectangle 29"/>
          <p:cNvSpPr/>
          <p:nvPr/>
        </p:nvSpPr>
        <p:spPr>
          <a:xfrm>
            <a:off x="9067800" y="2333625"/>
            <a:ext cx="2400300" cy="2667000"/>
          </a:xfrm>
          <a:prstGeom prst="roundRect">
            <a:avLst>
              <a:gd name="adj" fmla="val 10317"/>
            </a:avLst>
          </a:prstGeom>
          <a:solidFill>
            <a:srgbClr val="07100D"/>
          </a:solidFill>
          <a:ln w="11430">
            <a:solidFill>
              <a:srgbClr val="1B342B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9239250" y="2505075"/>
            <a:ext cx="666750" cy="57150"/>
          </a:xfrm>
          <a:prstGeom prst="roundRect">
            <a:avLst>
              <a:gd name="adj" fmla="val 50000"/>
            </a:avLst>
          </a:prstGeom>
          <a:solidFill>
            <a:srgbClr val="00E68A">
              <a:alpha val="90000"/>
            </a:srgbClr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9254490" y="2882265"/>
            <a:ext cx="342748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00E68A"/>
                </a:solidFill>
                <a:latin typeface="Arial Black"/>
                <a:ea typeface="Microsoft YaHei"/>
                <a:cs typeface="Arial Black"/>
              </a:rPr>
              <a:t>1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291638" y="3636169"/>
            <a:ext cx="2204145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F4FFF9"/>
                </a:solidFill>
                <a:latin typeface="Arial"/>
                <a:ea typeface="Microsoft YaHei"/>
                <a:cs typeface="Arial"/>
              </a:rPr>
              <a:t>brief to output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298305" y="4188142"/>
            <a:ext cx="238058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0908B"/>
                </a:solidFill>
                <a:latin typeface="Arial"/>
                <a:ea typeface="Microsoft YaHei"/>
                <a:cs typeface="Arial"/>
              </a:rPr>
              <a:t>Turn messy intent into a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298305" y="4454842"/>
            <a:ext cx="168063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0908B"/>
                </a:solidFill>
                <a:latin typeface="Arial"/>
                <a:ea typeface="Microsoft YaHei"/>
                <a:cs typeface="Arial"/>
              </a:rPr>
              <a:t>deliverable path.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90550" y="6010275"/>
            <a:ext cx="849439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80908B"/>
                </a:solidFill>
                <a:latin typeface="Arial"/>
                <a:ea typeface="Microsoft YaHei"/>
                <a:cs typeface="Arial"/>
              </a:rPr>
              <a:t>Replace these with your real workflow telemetry when publishing a case study.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706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E68A">
                  <a:alpha val="34000"/>
                </a:srgbClr>
              </a:gs>
              <a:gs pos="42000">
                <a:srgbClr val="0B1110">
                  <a:alpha val="18000"/>
                </a:srgbClr>
              </a:gs>
              <a:gs pos="100000">
                <a:srgbClr val="05070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A7FFD6">
                  <a:alpha val="14000"/>
                </a:srgbClr>
              </a:gs>
              <a:gs pos="100000">
                <a:srgbClr val="05070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8096250" y="-762000"/>
            <a:ext cx="4000500" cy="4000500"/>
          </a:xfrm>
          <a:prstGeom prst="ellipse">
            <a:avLst/>
          </a:prstGeom>
          <a:solidFill>
            <a:srgbClr val="00E68A">
              <a:alpha val="8000"/>
            </a:srgbClr>
          </a:solidFill>
          <a:ln>
            <a:noFill/>
          </a:ln>
          <a:effectLst>
            <a:glow rad="247650">
              <a:srgbClr val="000000">
                <a:alpha val="30000"/>
              </a:srgbClr>
            </a:glow>
          </a:effectLst>
        </p:spPr>
      </p:sp>
      <p:sp>
        <p:nvSpPr>
          <p:cNvPr id="6" name="Ellipse 6"/>
          <p:cNvSpPr/>
          <p:nvPr/>
        </p:nvSpPr>
        <p:spPr>
          <a:xfrm>
            <a:off x="-285750" y="4381500"/>
            <a:ext cx="3619500" cy="3619500"/>
          </a:xfrm>
          <a:prstGeom prst="ellipse">
            <a:avLst/>
          </a:prstGeom>
          <a:solidFill>
            <a:srgbClr val="A7FFD6">
              <a:alpha val="5000"/>
            </a:srgbClr>
          </a:solidFill>
          <a:ln>
            <a:noFill/>
          </a:ln>
          <a:effectLst>
            <a:glow rad="247650">
              <a:srgbClr val="000000">
                <a:alpha val="30000"/>
              </a:srgbClr>
            </a:glow>
          </a:effectLst>
        </p:spPr>
      </p:sp>
      <p:sp>
        <p:nvSpPr>
          <p:cNvPr id="7" name="Ellipse 7"/>
          <p:cNvSpPr/>
          <p:nvPr/>
        </p:nvSpPr>
        <p:spPr>
          <a:xfrm>
            <a:off x="6191250" y="1000125"/>
            <a:ext cx="4857750" cy="4857750"/>
          </a:xfrm>
          <a:prstGeom prst="ellipse">
            <a:avLst/>
          </a:prstGeom>
          <a:noFill/>
          <a:ln w="13335">
            <a:solidFill>
              <a:srgbClr val="00E68A">
                <a:alpha val="30000"/>
              </a:srgbClr>
            </a:solidFill>
          </a:ln>
        </p:spPr>
      </p:sp>
      <p:sp>
        <p:nvSpPr>
          <p:cNvPr id="8" name="Ellipse 8"/>
          <p:cNvSpPr/>
          <p:nvPr/>
        </p:nvSpPr>
        <p:spPr>
          <a:xfrm>
            <a:off x="7000875" y="1809750"/>
            <a:ext cx="3238500" cy="3238500"/>
          </a:xfrm>
          <a:prstGeom prst="ellipse">
            <a:avLst/>
          </a:prstGeom>
          <a:noFill/>
          <a:ln w="9525">
            <a:solidFill>
              <a:srgbClr val="A7FFD6">
                <a:alpha val="22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7743825" y="2552700"/>
            <a:ext cx="1752600" cy="1752600"/>
          </a:xfrm>
          <a:prstGeom prst="ellipse">
            <a:avLst/>
          </a:prstGeom>
          <a:solidFill>
            <a:srgbClr val="00E68A">
              <a:alpha val="10000"/>
            </a:srgbClr>
          </a:solidFill>
          <a:ln>
            <a:noFill/>
          </a:ln>
        </p:spPr>
      </p:sp>
      <p:sp>
        <p:nvSpPr>
          <p:cNvPr id="10" name="Freeform 10"/>
          <p:cNvSpPr/>
          <p:nvPr/>
        </p:nvSpPr>
        <p:spPr>
          <a:xfrm>
            <a:off x="7496175" y="2781300"/>
            <a:ext cx="2247900" cy="1295400"/>
          </a:xfrm>
          <a:custGeom>
            <a:avLst/>
            <a:gdLst/>
            <a:ahLst/>
            <a:cxnLst/>
            <a:rect l="l" t="t" r="r" b="b"/>
            <a:pathLst>
              <a:path w="2247900" h="1295400">
                <a:moveTo>
                  <a:pt x="0" y="647700"/>
                </a:moveTo>
                <a:cubicBezTo>
                  <a:pt x="504825" y="0"/>
                  <a:pt x="1743075" y="0"/>
                  <a:pt x="2247900" y="647700"/>
                </a:cubicBezTo>
                <a:cubicBezTo>
                  <a:pt x="1743075" y="1295400"/>
                  <a:pt x="504825" y="1295400"/>
                  <a:pt x="0" y="647700"/>
                </a:cubicBezTo>
                <a:close/>
              </a:path>
            </a:pathLst>
          </a:custGeom>
          <a:solidFill>
            <a:srgbClr val="07120F">
              <a:alpha val="94000"/>
            </a:srgbClr>
          </a:solidFill>
          <a:ln w="13335">
            <a:solidFill>
              <a:srgbClr val="00E68A">
                <a:alpha val="94000"/>
              </a:srgbClr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560070" y="531495"/>
            <a:ext cx="4764043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F4FFF9"/>
                </a:solidFill>
                <a:latin typeface="Arial Black"/>
                <a:ea typeface="Microsoft YaHei"/>
                <a:cs typeface="Arial Black"/>
              </a:rPr>
              <a:t>BRING THE BRIEF.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0070" y="1141095"/>
            <a:ext cx="7006823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00E68A"/>
                </a:solidFill>
                <a:latin typeface="Arial Black"/>
                <a:ea typeface="Microsoft YaHei"/>
                <a:cs typeface="Arial Black"/>
              </a:rPr>
              <a:t>WATCH IT BECOME WORK.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83882" y="2086451"/>
            <a:ext cx="7829693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dirty="0">
                <a:solidFill>
                  <a:srgbClr val="F4FFF9">
                    <a:alphaMod val="84000"/>
                  </a:srgbClr>
                </a:solidFill>
                <a:latin typeface="Arial"/>
                <a:ea typeface="Microsoft YaHei"/>
                <a:cs typeface="Arial"/>
              </a:rPr>
              <a:t>Manor gives founders and operators a controlled path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83882" y="2448401"/>
            <a:ext cx="7652242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dirty="0">
                <a:solidFill>
                  <a:srgbClr val="F4FFF9">
                    <a:alphaMod val="84000"/>
                  </a:srgbClr>
                </a:solidFill>
                <a:latin typeface="Arial"/>
                <a:ea typeface="Microsoft YaHei"/>
                <a:cs typeface="Arial"/>
              </a:rPr>
              <a:t>from intent to artifact — with review points intact.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09600" y="3314700"/>
            <a:ext cx="2000250" cy="533400"/>
          </a:xfrm>
          <a:prstGeom prst="roundRect">
            <a:avLst>
              <a:gd name="adj" fmla="val 50000"/>
            </a:avLst>
          </a:prstGeom>
          <a:solidFill>
            <a:srgbClr val="00E68A"/>
          </a:solidFill>
          <a:ln w="9525">
            <a:solidFill>
              <a:srgbClr val="00E68A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562626" y="3511868"/>
            <a:ext cx="20941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4100B"/>
                </a:solidFill>
                <a:latin typeface="Arial"/>
                <a:ea typeface="Microsoft YaHei"/>
                <a:cs typeface="Arial"/>
              </a:rPr>
              <a:t>Start with one brief</a:t>
            </a:r>
          </a:p>
        </p:txBody>
      </p:sp>
      <p:sp>
        <p:nvSpPr>
          <p:cNvPr id="17" name="Rectangle 17"/>
          <p:cNvSpPr/>
          <p:nvPr/>
        </p:nvSpPr>
        <p:spPr>
          <a:xfrm>
            <a:off x="2800350" y="3314700"/>
            <a:ext cx="1809750" cy="533400"/>
          </a:xfrm>
          <a:prstGeom prst="roundRect">
            <a:avLst>
              <a:gd name="adj" fmla="val 50000"/>
            </a:avLst>
          </a:prstGeom>
          <a:solidFill>
            <a:srgbClr val="07100D"/>
          </a:solidFill>
          <a:ln w="11430">
            <a:solidFill>
              <a:srgbClr val="A7FFD6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2777166" y="3511868"/>
            <a:ext cx="18561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A7FFD6"/>
                </a:solidFill>
                <a:latin typeface="Arial"/>
                <a:ea typeface="Microsoft YaHei"/>
                <a:cs typeface="Arial"/>
              </a:rPr>
              <a:t>Review every step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800600" y="3314700"/>
            <a:ext cx="1809750" cy="533400"/>
          </a:xfrm>
          <a:prstGeom prst="roundRect">
            <a:avLst>
              <a:gd name="adj" fmla="val 50000"/>
            </a:avLst>
          </a:prstGeom>
          <a:solidFill>
            <a:srgbClr val="07100D"/>
          </a:solidFill>
          <a:ln w="11430">
            <a:solidFill>
              <a:srgbClr val="25473B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4823997" y="3511868"/>
            <a:ext cx="17629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4FFF9"/>
                </a:solidFill>
                <a:latin typeface="Arial"/>
                <a:ea typeface="Microsoft YaHei"/>
                <a:cs typeface="Arial"/>
              </a:rPr>
              <a:t>Ship the artifact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09600" y="5410200"/>
            <a:ext cx="4953000" cy="19050"/>
          </a:xfrm>
          <a:prstGeom prst="rect">
            <a:avLst/>
          </a:prstGeom>
          <a:gradFill>
            <a:gsLst>
              <a:gs pos="0">
                <a:srgbClr val="00E68A">
                  <a:alpha val="0"/>
                </a:srgbClr>
              </a:gs>
              <a:gs pos="50000">
                <a:srgbClr val="00E68A">
                  <a:alpha val="90000"/>
                </a:srgbClr>
              </a:gs>
              <a:gs pos="100000">
                <a:srgbClr val="00E68A">
                  <a:alpha val="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586740" y="5711190"/>
            <a:ext cx="244722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FF9"/>
                </a:solidFill>
                <a:latin typeface="Arial"/>
                <a:ea typeface="Microsoft YaHei"/>
                <a:cs typeface="Arial"/>
              </a:rPr>
              <a:t>TURN AI INTO WORK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90550" y="6057900"/>
            <a:ext cx="98121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80908B"/>
                </a:solidFill>
                <a:latin typeface="Arial"/>
                <a:ea typeface="Microsoft YaHei"/>
                <a:cs typeface="Arial"/>
              </a:rPr>
              <a:t>Manor AI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